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" b="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42000">
                <a:srgbClr val="0B2A6B">
                  <a:alpha val="80000"/>
                </a:srgbClr>
              </a:gs>
              <a:gs pos="72000">
                <a:srgbClr val="1B5FD9">
                  <a:alpha val="28000"/>
                </a:srgbClr>
              </a:gs>
              <a:gs pos="100000">
                <a:srgbClr val="1B5FD9">
                  <a:alpha val="12000"/>
                </a:srgbClr>
              </a:gs>
            </a:gsLst>
            <a:lin ang="600000" scaled="1"/>
          </a:gradFill>
        </p:spPr>
        <p:txBody>
          <a:bodyPr/>
          <a:p/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110" b="110"/>
          <a:stretch>
            <a:fillRect/>
          </a:stretch>
        </p:blipFill>
        <p:spPr>
          <a:xfrm>
            <a:off x="609600" y="419100"/>
            <a:ext cx="1600200" cy="6858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438400" y="571500"/>
            <a:ext cx="9525" cy="381000"/>
          </a:xfrm>
          <a:prstGeom prst="rect">
            <a:avLst/>
          </a:prstGeom>
          <a:solidFill>
            <a:srgbClr val="FFFFFF">
              <a:alpha val="28000"/>
            </a:srgbClr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2676525" y="676275"/>
            <a:ext cx="1228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125" b="1" spc="150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1125" b="1" spc="150">
              <a:solidFill>
                <a:srgbClr val="AD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97" r="97"/>
          <a:stretch>
            <a:fillRect/>
          </a:stretch>
        </p:blipFill>
        <p:spPr>
          <a:xfrm>
            <a:off x="9582150" y="419100"/>
            <a:ext cx="2000250" cy="55245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09600" y="18097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800100" y="1866900"/>
            <a:ext cx="2286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 spc="225">
                <a:solidFill>
                  <a:srgbClr val="8FE3F8"/>
                </a:solidFill>
                <a:latin typeface="微软雅黑" panose="020B0503020204020204" charset="-122"/>
                <a:ea typeface="微软雅黑" panose="020B0503020204020204" charset="-122"/>
              </a:rPr>
              <a:t>美团电商运营</a:t>
            </a:r>
            <a:r>
              <a:rPr lang="en-US" sz="1425" b="1" spc="225">
                <a:solidFill>
                  <a:srgbClr val="8FE3F8"/>
                </a:solidFill>
                <a:latin typeface="微软雅黑" panose="020B0503020204020204" charset="-122"/>
                <a:ea typeface="微软雅黑" panose="020B0503020204020204" charset="-122"/>
              </a:rPr>
              <a:t> · AI </a:t>
            </a:r>
            <a:r>
              <a:rPr lang="zh-CN" sz="1425" b="1" spc="225">
                <a:solidFill>
                  <a:srgbClr val="8FE3F8"/>
                </a:solidFill>
                <a:latin typeface="微软雅黑" panose="020B0503020204020204" charset="-122"/>
                <a:ea typeface="微软雅黑" panose="020B0503020204020204" charset="-122"/>
              </a:rPr>
              <a:t>助手（无</a:t>
            </a:r>
            <a:r>
              <a:rPr lang="en-US" altLang="zh-CN" sz="1425" b="1" spc="225">
                <a:solidFill>
                  <a:srgbClr val="8FE3F8"/>
                </a:solidFill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zh-CN" altLang="en-US" sz="1425" b="1" spc="225">
                <a:solidFill>
                  <a:srgbClr val="8FE3F8"/>
                </a:solidFill>
                <a:latin typeface="微软雅黑" panose="020B0503020204020204" charset="-122"/>
                <a:ea typeface="微软雅黑" panose="020B0503020204020204" charset="-122"/>
              </a:rPr>
              <a:t>接口过渡版</a:t>
            </a:r>
            <a:r>
              <a:rPr lang="zh-CN" sz="1425" b="1" spc="225">
                <a:solidFill>
                  <a:srgbClr val="8FE3F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425" b="1" spc="225">
              <a:solidFill>
                <a:srgbClr val="8FE3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609600" y="2381250"/>
            <a:ext cx="7239000" cy="1638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650" b="1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让门店</a:t>
            </a:r>
            <a:r>
              <a:rPr lang="zh-CN" sz="4650" b="1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美团经营截图</a:t>
            </a:r>
            <a:endParaRPr lang="zh-CN" sz="4650" b="1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lang="zh-CN" sz="4650" b="1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变成集团的经营结论</a:t>
            </a:r>
            <a:endParaRPr lang="zh-CN" sz="4650" b="1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609600" y="4286250"/>
            <a:ext cx="723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8D9F5"/>
                </a:solidFill>
                <a:latin typeface="微软雅黑" panose="020B0503020204020204" charset="-122"/>
                <a:ea typeface="微软雅黑" panose="020B0503020204020204" charset="-122"/>
              </a:rPr>
              <a:t>覆盖美团经营全链路的</a:t>
            </a:r>
            <a:r>
              <a:rPr lang="en-US" sz="1425">
                <a:solidFill>
                  <a:srgbClr val="C8D9F5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425">
                <a:solidFill>
                  <a:srgbClr val="C8D9F5"/>
                </a:solidFill>
                <a:latin typeface="微软雅黑" panose="020B0503020204020204" charset="-122"/>
                <a:ea typeface="微软雅黑" panose="020B0503020204020204" charset="-122"/>
              </a:rPr>
              <a:t>运营工作台</a:t>
            </a:r>
            <a:r>
              <a:rPr lang="en-US" sz="1425">
                <a:solidFill>
                  <a:srgbClr val="C8D9F5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425">
                <a:solidFill>
                  <a:srgbClr val="C8D9F5"/>
                </a:solidFill>
                <a:latin typeface="微软雅黑" panose="020B0503020204020204" charset="-122"/>
                <a:ea typeface="微软雅黑" panose="020B0503020204020204" charset="-122"/>
              </a:rPr>
              <a:t>采集、分析、创作、评价、决策五位一体</a:t>
            </a:r>
            <a:endParaRPr lang="zh-CN" sz="1425">
              <a:solidFill>
                <a:srgbClr val="C8D9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609600" y="5934075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微软雅黑" panose="020B0503020204020204" charset="-122"/>
                <a:ea typeface="微软雅黑" panose="020B0503020204020204" charset="-122"/>
              </a:rPr>
              <a:t>参赛作品</a:t>
            </a:r>
            <a:endParaRPr lang="zh-CN" sz="900" spc="75">
              <a:solidFill>
                <a:srgbClr val="7FA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609600" y="6143625"/>
            <a:ext cx="20097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3057525" y="5934075"/>
            <a:ext cx="2362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微软雅黑" panose="020B0503020204020204" charset="-122"/>
                <a:ea typeface="微软雅黑" panose="020B0503020204020204" charset="-122"/>
              </a:rPr>
              <a:t>汇报单位</a:t>
            </a:r>
            <a:endParaRPr lang="zh-CN" sz="900" spc="75">
              <a:solidFill>
                <a:srgbClr val="7FA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3057525" y="6143625"/>
            <a:ext cx="2362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门诊管理中心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10887075" y="5867400"/>
            <a:ext cx="723900" cy="495300"/>
          </a:xfrm>
          <a:custGeom>
            <a:avLst/>
            <a:gdLst/>
            <a:ahLst/>
            <a:cxnLst/>
            <a:pathLst>
              <a:path w="76" h="52">
                <a:moveTo>
                  <a:pt x="0" y="0"/>
                </a:moveTo>
                <a:lnTo>
                  <a:pt x="3" y="0"/>
                </a:lnTo>
                <a:lnTo>
                  <a:pt x="3" y="52"/>
                </a:lnTo>
                <a:lnTo>
                  <a:pt x="0" y="52"/>
                </a:ln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11125200" y="5867400"/>
            <a:ext cx="457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答辩人</a:t>
            </a:r>
            <a:endParaRPr lang="zh-CN" sz="1200">
              <a:solidFill>
                <a:srgbClr val="AD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11125200" y="6105525"/>
            <a:ext cx="457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王皓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矩形 3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</p:spPr>
        <p:txBody>
          <a:bodyPr/>
          <a:p/>
        </p:txBody>
      </p:sp>
      <p:pic>
        <p:nvPicPr>
          <p:cNvPr id="323" name="图片 322"/>
          <p:cNvPicPr>
            <a:picLocks noChangeAspect="1"/>
          </p:cNvPicPr>
          <p:nvPr/>
        </p:nvPicPr>
        <p:blipFill>
          <a:blip r:embed="rId1"/>
          <a:srcRect l="6954" r="6954"/>
          <a:stretch>
            <a:fillRect/>
          </a:stretch>
        </p:blipFill>
        <p:spPr>
          <a:xfrm>
            <a:off x="0" y="0"/>
            <a:ext cx="12192000" cy="1123950"/>
          </a:xfrm>
          <a:prstGeom prst="rect">
            <a:avLst/>
          </a:prstGeom>
        </p:spPr>
      </p:pic>
      <p:sp>
        <p:nvSpPr>
          <p:cNvPr id="324" name="矩形 323"/>
          <p:cNvSpPr/>
          <p:nvPr/>
        </p:nvSpPr>
        <p:spPr>
          <a:xfrm>
            <a:off x="0" y="0"/>
            <a:ext cx="12192000" cy="112395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60000">
                <a:srgbClr val="1B5FD9">
                  <a:alpha val="82000"/>
                </a:srgbClr>
              </a:gs>
              <a:gs pos="100000">
                <a:srgbClr val="1B5FD9">
                  <a:alpha val="55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25" name="圆角矩形 324"/>
          <p:cNvSpPr/>
          <p:nvPr/>
        </p:nvSpPr>
        <p:spPr>
          <a:xfrm>
            <a:off x="609600" y="4000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819150" y="247650"/>
            <a:ext cx="38862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门诊做美团，卡在三个地方</a:t>
            </a:r>
            <a:endParaRPr lang="zh-CN"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819150" y="762000"/>
            <a:ext cx="3886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数据拿不到</a:t>
            </a:r>
            <a:r>
              <a:rPr lang="en-US" sz="1050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内容做不快</a:t>
            </a:r>
            <a:r>
              <a:rPr lang="en-US" sz="1050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决策靠经验</a:t>
            </a:r>
            <a:endParaRPr lang="zh-CN" sz="1050" spc="75">
              <a:solidFill>
                <a:srgbClr val="AD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8" name="图片 327"/>
          <p:cNvPicPr>
            <a:picLocks noChangeAspect="1"/>
          </p:cNvPicPr>
          <p:nvPr/>
        </p:nvPicPr>
        <p:blipFill>
          <a:blip r:embed="rId2">
            <a:alphaModFix amt="50000"/>
          </a:blip>
          <a:srcRect t="613" b="613"/>
          <a:stretch>
            <a:fillRect/>
          </a:stretch>
        </p:blipFill>
        <p:spPr>
          <a:xfrm>
            <a:off x="10325100" y="285750"/>
            <a:ext cx="1257300" cy="533400"/>
          </a:xfrm>
          <a:prstGeom prst="rect">
            <a:avLst/>
          </a:prstGeom>
        </p:spPr>
      </p:pic>
      <p:sp>
        <p:nvSpPr>
          <p:cNvPr id="329" name="圆角矩形 328"/>
          <p:cNvSpPr/>
          <p:nvPr/>
        </p:nvSpPr>
        <p:spPr>
          <a:xfrm>
            <a:off x="609600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609600" y="1428750"/>
            <a:ext cx="3514725" cy="4705350"/>
          </a:xfrm>
          <a:custGeom>
            <a:avLst/>
            <a:gdLst/>
            <a:ahLst/>
            <a:cxnLst/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331" name="圆角矩形 330"/>
          <p:cNvSpPr/>
          <p:nvPr/>
        </p:nvSpPr>
        <p:spPr>
          <a:xfrm>
            <a:off x="876300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</p:spPr>
        <p:txBody>
          <a:bodyPr/>
          <a:p/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1009650" y="1743075"/>
            <a:ext cx="1143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425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1371600" y="1724025"/>
            <a:ext cx="14001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数据散在门店里</a:t>
            </a:r>
            <a:endParaRPr lang="zh-CN" sz="157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876300" y="2171700"/>
            <a:ext cx="2981325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28</a:t>
            </a:r>
            <a:endParaRPr lang="en-US" sz="480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876300" y="2943225"/>
            <a:ext cx="2981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家辽宁门诊的经营数据，总部拿不到横向对比</a:t>
            </a:r>
            <a:endParaRPr lang="zh-CN" sz="105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876300" y="3257550"/>
            <a:ext cx="2981325" cy="1790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美团「经营参谋」在每家门店的手机里，评分、曝光、转化、评价各自分散。要看全省</a:t>
            </a:r>
            <a:r>
              <a:rPr lang="en-US" sz="1050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 28 </a:t>
            </a:r>
            <a:r>
              <a:rPr lang="zh-CN" sz="1050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家门诊的经营评分，只能一家一家登录截图，再用</a:t>
            </a:r>
            <a:r>
              <a:rPr lang="en-US" sz="1050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 Excel </a:t>
            </a:r>
            <a:r>
              <a:rPr lang="zh-CN" sz="1050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手工拼表——一个周期下来两三天，数据还没法实时。</a:t>
            </a:r>
            <a:endParaRPr lang="zh-CN" sz="1050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圆角矩形 336"/>
          <p:cNvSpPr/>
          <p:nvPr/>
        </p:nvSpPr>
        <p:spPr>
          <a:xfrm>
            <a:off x="904875" y="5162550"/>
            <a:ext cx="2981325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</p:spPr>
        <p:txBody>
          <a:bodyPr/>
          <a:p/>
        </p:txBody>
      </p:sp>
      <p:sp>
        <p:nvSpPr>
          <p:cNvPr id="338" name="任意多边形 337"/>
          <p:cNvSpPr/>
          <p:nvPr/>
        </p:nvSpPr>
        <p:spPr>
          <a:xfrm>
            <a:off x="904875" y="5162550"/>
            <a:ext cx="2981325" cy="666750"/>
          </a:xfrm>
          <a:custGeom>
            <a:avLst/>
            <a:gdLst/>
            <a:ahLst/>
            <a:cxnLst/>
            <a:pathLst>
              <a:path w="313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1038225" y="5257800"/>
            <a:ext cx="268605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微软雅黑" panose="020B0503020204020204" charset="-122"/>
                <a:ea typeface="微软雅黑" panose="020B0503020204020204" charset="-122"/>
              </a:rPr>
              <a:t>后果：总部只能</a:t>
            </a:r>
            <a:r>
              <a:rPr lang="en-US" sz="975">
                <a:solidFill>
                  <a:srgbClr val="B4560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B4560F"/>
                </a:solidFill>
                <a:latin typeface="微软雅黑" panose="020B0503020204020204" charset="-122"/>
                <a:ea typeface="微软雅黑" panose="020B0503020204020204" charset="-122"/>
              </a:rPr>
              <a:t>事后看总分</a:t>
            </a:r>
            <a:r>
              <a:rPr lang="en-US" sz="975">
                <a:solidFill>
                  <a:srgbClr val="B4560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B4560F"/>
                </a:solidFill>
                <a:latin typeface="微软雅黑" panose="020B0503020204020204" charset="-122"/>
                <a:ea typeface="微软雅黑" panose="020B0503020204020204" charset="-122"/>
              </a:rPr>
              <a:t>，发现不了过程问题</a:t>
            </a:r>
            <a:endParaRPr lang="zh-CN" sz="975">
              <a:solidFill>
                <a:srgbClr val="B456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圆角矩形 339"/>
          <p:cNvSpPr/>
          <p:nvPr/>
        </p:nvSpPr>
        <p:spPr>
          <a:xfrm>
            <a:off x="4333875" y="1428750"/>
            <a:ext cx="3524250" cy="470535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1" name="任意多边形 340"/>
          <p:cNvSpPr/>
          <p:nvPr/>
        </p:nvSpPr>
        <p:spPr>
          <a:xfrm>
            <a:off x="4333875" y="1428750"/>
            <a:ext cx="3524250" cy="4705350"/>
          </a:xfrm>
          <a:custGeom>
            <a:avLst/>
            <a:gdLst/>
            <a:ahLst/>
            <a:cxnLst/>
            <a:pathLst>
              <a:path w="370" h="494">
                <a:moveTo>
                  <a:pt x="357" y="0"/>
                </a:moveTo>
                <a:cubicBezTo>
                  <a:pt x="363" y="0"/>
                  <a:pt x="368" y="5"/>
                  <a:pt x="370" y="11"/>
                </a:cubicBezTo>
                <a:cubicBezTo>
                  <a:pt x="368" y="7"/>
                  <a:pt x="364" y="4"/>
                  <a:pt x="360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342" name="圆角矩形 341"/>
          <p:cNvSpPr/>
          <p:nvPr/>
        </p:nvSpPr>
        <p:spPr>
          <a:xfrm>
            <a:off x="46005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</p:spPr>
        <p:txBody>
          <a:bodyPr/>
          <a:p/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4733925" y="1743075"/>
            <a:ext cx="1143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425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5095875" y="1724025"/>
            <a:ext cx="14001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内容产能跟不上</a:t>
            </a:r>
            <a:endParaRPr lang="zh-CN" sz="157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4600575" y="2171700"/>
            <a:ext cx="381000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480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5057775" y="2571750"/>
            <a:ext cx="4191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小时</a:t>
            </a:r>
            <a:endParaRPr lang="zh-CN" sz="165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4600575" y="2943225"/>
            <a:ext cx="2990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写一条美团文案，还要配图、排版、凑满</a:t>
            </a:r>
            <a:r>
              <a:rPr lang="en-US" sz="105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05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张</a:t>
            </a:r>
            <a:endParaRPr lang="zh-CN" sz="105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4600575" y="3257550"/>
            <a:ext cx="2990850" cy="1790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门诊没有专职设计，暑期档、开学季、活动期文案需求集中爆发。写文案、配图、查违禁词、调整主图，一轮下来两小时起。门店没有美术资源，集团统一的品牌视觉也落不了地。</a:t>
            </a:r>
            <a:endParaRPr lang="zh-CN" sz="1050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4629150" y="5162550"/>
            <a:ext cx="2990850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</p:spPr>
        <p:txBody>
          <a:bodyPr/>
          <a:p/>
        </p:txBody>
      </p:sp>
      <p:sp>
        <p:nvSpPr>
          <p:cNvPr id="350" name="任意多边形 349"/>
          <p:cNvSpPr/>
          <p:nvPr/>
        </p:nvSpPr>
        <p:spPr>
          <a:xfrm>
            <a:off x="4629150" y="5162550"/>
            <a:ext cx="2990850" cy="666750"/>
          </a:xfrm>
          <a:custGeom>
            <a:avLst/>
            <a:gdLst/>
            <a:ahLst/>
            <a:cxnLst/>
            <a:pathLst>
              <a:path w="314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4762500" y="5257800"/>
            <a:ext cx="2695575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微软雅黑" panose="020B0503020204020204" charset="-122"/>
                <a:ea typeface="微软雅黑" panose="020B0503020204020204" charset="-122"/>
              </a:rPr>
              <a:t>后果：活动期只能仓促发图，质量与合规都难保证</a:t>
            </a:r>
            <a:endParaRPr lang="zh-CN" sz="975">
              <a:solidFill>
                <a:srgbClr val="B456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8067675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3" name="任意多边形 352"/>
          <p:cNvSpPr/>
          <p:nvPr/>
        </p:nvSpPr>
        <p:spPr>
          <a:xfrm>
            <a:off x="8067675" y="1428750"/>
            <a:ext cx="3514725" cy="4705350"/>
          </a:xfrm>
          <a:custGeom>
            <a:avLst/>
            <a:gdLst/>
            <a:ahLst/>
            <a:cxnLst/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354" name="圆角矩形 353"/>
          <p:cNvSpPr/>
          <p:nvPr/>
        </p:nvSpPr>
        <p:spPr>
          <a:xfrm>
            <a:off x="83343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</p:spPr>
        <p:txBody>
          <a:bodyPr/>
          <a:p/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8467725" y="1743075"/>
            <a:ext cx="1143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425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8829675" y="1724025"/>
            <a:ext cx="1200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判断全凭经验</a:t>
            </a:r>
            <a:endParaRPr lang="zh-CN" sz="157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8334375" y="2171700"/>
            <a:ext cx="752475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60</a:t>
            </a:r>
            <a:endParaRPr lang="en-US" sz="48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9163050" y="2571750"/>
            <a:ext cx="2000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lang="en-US" sz="165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8334375" y="2943225"/>
            <a:ext cx="2981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的近</a:t>
            </a:r>
            <a:r>
              <a:rPr lang="en-US" sz="105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30 </a:t>
            </a:r>
            <a:r>
              <a:rPr lang="zh-CN" sz="105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天差评没被回复（抽样）</a:t>
            </a:r>
            <a:endParaRPr lang="zh-CN" sz="105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8334375" y="3257550"/>
            <a:ext cx="2981325" cy="2028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差评要不要回、怎么回、差评背后是哪类问题；团购定价该定多少、和隔壁哪家比；这月该做哪个活动、拉哪个客——全看店长个人经验。人一走，判断就断档，经验也没法沉淀成集团资产。</a:t>
            </a:r>
            <a:endParaRPr lang="zh-CN" sz="1050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圆角矩形 360"/>
          <p:cNvSpPr/>
          <p:nvPr/>
        </p:nvSpPr>
        <p:spPr>
          <a:xfrm>
            <a:off x="8362950" y="5400675"/>
            <a:ext cx="2981325" cy="428625"/>
          </a:xfrm>
          <a:prstGeom prst="roundRect">
            <a:avLst>
              <a:gd name="adj" fmla="val 8889"/>
            </a:avLst>
          </a:prstGeom>
          <a:solidFill>
            <a:srgbClr val="FF8A3D">
              <a:alpha val="10000"/>
            </a:srgbClr>
          </a:solidFill>
        </p:spPr>
        <p:txBody>
          <a:bodyPr/>
          <a:p/>
        </p:txBody>
      </p:sp>
      <p:sp>
        <p:nvSpPr>
          <p:cNvPr id="362" name="任意多边形 361"/>
          <p:cNvSpPr/>
          <p:nvPr/>
        </p:nvSpPr>
        <p:spPr>
          <a:xfrm>
            <a:off x="8362950" y="5400675"/>
            <a:ext cx="2981325" cy="428625"/>
          </a:xfrm>
          <a:custGeom>
            <a:avLst/>
            <a:gdLst/>
            <a:ahLst/>
            <a:cxnLst/>
            <a:pathLst>
              <a:path w="313" h="4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44"/>
                </a:lnTo>
                <a:cubicBezTo>
                  <a:pt x="3" y="44"/>
                  <a:pt x="3" y="45"/>
                  <a:pt x="4" y="45"/>
                </a:cubicBezTo>
                <a:cubicBezTo>
                  <a:pt x="2" y="45"/>
                  <a:pt x="0" y="43"/>
                  <a:pt x="0" y="4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8496300" y="5495925"/>
            <a:ext cx="26860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微软雅黑" panose="020B0503020204020204" charset="-122"/>
                <a:ea typeface="微软雅黑" panose="020B0503020204020204" charset="-122"/>
              </a:rPr>
              <a:t>后果：好经验留在个人脑子里，集团拿不走</a:t>
            </a:r>
            <a:endParaRPr lang="zh-CN" sz="975">
              <a:solidFill>
                <a:srgbClr val="B456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09600" y="6496050"/>
            <a:ext cx="3076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975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11201400" y="6496050"/>
            <a:ext cx="381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 panose="020B0604020202020204"/>
                <a:ea typeface="Arial" panose="020B0604020202020204"/>
              </a:rPr>
              <a:t>02 / 15</a:t>
            </a:r>
            <a:endParaRPr lang="en-US" sz="975">
              <a:solidFill>
                <a:srgbClr val="8494B4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矩形 3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</p:spPr>
        <p:txBody>
          <a:bodyPr/>
          <a:p/>
        </p:txBody>
      </p:sp>
      <p:sp>
        <p:nvSpPr>
          <p:cNvPr id="368" name="矩形 367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0B2A6B"/>
              </a:gs>
              <a:gs pos="70000">
                <a:srgbClr val="1B5FD9"/>
              </a:gs>
              <a:gs pos="100000">
                <a:srgbClr val="1B5FD9"/>
              </a:gs>
            </a:gsLst>
            <a:lin ang="0" scaled="1"/>
          </a:gradFill>
        </p:spPr>
        <p:txBody>
          <a:bodyPr/>
          <a:p/>
        </p:txBody>
      </p:sp>
      <p:sp>
        <p:nvSpPr>
          <p:cNvPr id="369" name="矩形 368"/>
          <p:cNvSpPr/>
          <p:nvPr/>
        </p:nvSpPr>
        <p:spPr>
          <a:xfrm>
            <a:off x="8191500" y="0"/>
            <a:ext cx="4000500" cy="914400"/>
          </a:xfrm>
          <a:prstGeom prst="rect">
            <a:avLst/>
          </a:prstGeom>
          <a:gradFill>
            <a:gsLst>
              <a:gs pos="0">
                <a:srgbClr val="1B5FD9">
                  <a:alpha val="0"/>
                </a:srgbClr>
              </a:gs>
              <a:gs pos="100000">
                <a:srgbClr val="35C8F0">
                  <a:alpha val="28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70" name="圆角矩形 369"/>
          <p:cNvSpPr/>
          <p:nvPr/>
        </p:nvSpPr>
        <p:spPr>
          <a:xfrm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819150" y="228600"/>
            <a:ext cx="45720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一个工作台，串起美团经营全链路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819150" y="714375"/>
            <a:ext cx="4572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看数据</a:t>
            </a:r>
            <a:r>
              <a:rPr lang="en-US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判问题</a:t>
            </a:r>
            <a:r>
              <a:rPr lang="en-US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产内容</a:t>
            </a:r>
            <a:r>
              <a:rPr lang="en-US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管评价</a:t>
            </a:r>
            <a:r>
              <a:rPr lang="en-US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给建议</a:t>
            </a:r>
            <a:endParaRPr lang="zh-CN" sz="975" spc="75">
              <a:solidFill>
                <a:srgbClr val="AD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4991100" y="114300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4" name="任意多边形 373"/>
          <p:cNvSpPr/>
          <p:nvPr/>
        </p:nvSpPr>
        <p:spPr>
          <a:xfrm>
            <a:off x="4991100" y="1143000"/>
            <a:ext cx="6629400" cy="895350"/>
          </a:xfrm>
          <a:custGeom>
            <a:avLst/>
            <a:gdLst/>
            <a:ahLst/>
            <a:cxnLst/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5162550" y="1438275"/>
            <a:ext cx="4381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01</a:t>
            </a:r>
            <a:endParaRPr lang="en-US" sz="195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5753100" y="1362075"/>
            <a:ext cx="5505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看数据</a:t>
            </a:r>
            <a:endParaRPr lang="zh-CN" sz="127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5753100" y="1590675"/>
            <a:ext cx="5505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经营驾驶舱汇总评分、漏斗、评价、星级四维视图</a:t>
            </a:r>
            <a:endParaRPr lang="zh-CN" sz="9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" name="任意多边形 377"/>
          <p:cNvSpPr/>
          <p:nvPr/>
        </p:nvSpPr>
        <p:spPr>
          <a:xfrm>
            <a:off x="11410950" y="1590675"/>
            <a:ext cx="66675" cy="95250"/>
          </a:xfrm>
          <a:custGeom>
            <a:avLst/>
            <a:gdLst/>
            <a:ahLst/>
            <a:cxnLst/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</p:spPr>
        <p:txBody>
          <a:bodyPr/>
          <a:p/>
        </p:txBody>
      </p:sp>
      <p:sp>
        <p:nvSpPr>
          <p:cNvPr id="379" name="任意多边形 378"/>
          <p:cNvSpPr/>
          <p:nvPr/>
        </p:nvSpPr>
        <p:spPr>
          <a:xfrm>
            <a:off x="11410950" y="1590675"/>
            <a:ext cx="66675" cy="95250"/>
          </a:xfrm>
          <a:custGeom>
            <a:avLst/>
            <a:gdLst/>
            <a:ahLst/>
            <a:cxnLst/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380" name="任意多边形 379"/>
          <p:cNvSpPr/>
          <p:nvPr/>
        </p:nvSpPr>
        <p:spPr>
          <a:xfrm>
            <a:off x="11410950" y="1590675"/>
            <a:ext cx="66675" cy="95250"/>
          </a:xfrm>
          <a:custGeom>
            <a:avLst/>
            <a:gdLst/>
            <a:ahLst/>
            <a:cxnLst/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381" name="圆角矩形 380"/>
          <p:cNvSpPr/>
          <p:nvPr/>
        </p:nvSpPr>
        <p:spPr>
          <a:xfrm>
            <a:off x="4991100" y="2152650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82" name="任意多边形 381"/>
          <p:cNvSpPr/>
          <p:nvPr/>
        </p:nvSpPr>
        <p:spPr>
          <a:xfrm>
            <a:off x="4991100" y="2152650"/>
            <a:ext cx="6629400" cy="904875"/>
          </a:xfrm>
          <a:custGeom>
            <a:avLst/>
            <a:gdLst/>
            <a:ahLst/>
            <a:cxnLst/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5162550" y="2457450"/>
            <a:ext cx="4381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195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5753100" y="2371725"/>
            <a:ext cx="5505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判问题</a:t>
            </a:r>
            <a:endParaRPr lang="zh-CN" sz="127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5753100" y="2600325"/>
            <a:ext cx="5505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竞品比价</a:t>
            </a:r>
            <a:r>
              <a:rPr lang="en-US" sz="9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项目结构分析，定位定价与品类缺口</a:t>
            </a:r>
            <a:endParaRPr lang="zh-CN" sz="9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任意多边形 385"/>
          <p:cNvSpPr/>
          <p:nvPr/>
        </p:nvSpPr>
        <p:spPr>
          <a:xfrm>
            <a:off x="11410950" y="2609850"/>
            <a:ext cx="66675" cy="95250"/>
          </a:xfrm>
          <a:custGeom>
            <a:avLst/>
            <a:gdLst/>
            <a:ahLst/>
            <a:cxnLst/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</p:spPr>
        <p:txBody>
          <a:bodyPr/>
          <a:p/>
        </p:txBody>
      </p:sp>
      <p:sp>
        <p:nvSpPr>
          <p:cNvPr id="387" name="任意多边形 386"/>
          <p:cNvSpPr/>
          <p:nvPr/>
        </p:nvSpPr>
        <p:spPr>
          <a:xfrm>
            <a:off x="11410950" y="2609850"/>
            <a:ext cx="66675" cy="95250"/>
          </a:xfrm>
          <a:custGeom>
            <a:avLst/>
            <a:gdLst/>
            <a:ahLst/>
            <a:cxnLst/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388" name="任意多边形 387"/>
          <p:cNvSpPr/>
          <p:nvPr/>
        </p:nvSpPr>
        <p:spPr>
          <a:xfrm>
            <a:off x="11410950" y="2609850"/>
            <a:ext cx="66675" cy="95250"/>
          </a:xfrm>
          <a:custGeom>
            <a:avLst/>
            <a:gdLst/>
            <a:ahLst/>
            <a:cxnLst/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389" name="圆角矩形 388"/>
          <p:cNvSpPr/>
          <p:nvPr/>
        </p:nvSpPr>
        <p:spPr>
          <a:xfrm>
            <a:off x="4991100" y="3171825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90" name="任意多边形 389"/>
          <p:cNvSpPr/>
          <p:nvPr/>
        </p:nvSpPr>
        <p:spPr>
          <a:xfrm>
            <a:off x="4991100" y="3171825"/>
            <a:ext cx="6629400" cy="895350"/>
          </a:xfrm>
          <a:custGeom>
            <a:avLst/>
            <a:gdLst/>
            <a:ahLst/>
            <a:cxnLst/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5162550" y="3467100"/>
            <a:ext cx="4381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1950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5753100" y="3390900"/>
            <a:ext cx="5505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产内容</a:t>
            </a:r>
            <a:endParaRPr lang="zh-CN" sz="127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5753100" y="3619500"/>
            <a:ext cx="5505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文案生成、套图生成、主图诊断、话术建议</a:t>
            </a:r>
            <a:endParaRPr lang="zh-CN" sz="9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任意多边形 393"/>
          <p:cNvSpPr/>
          <p:nvPr/>
        </p:nvSpPr>
        <p:spPr>
          <a:xfrm>
            <a:off x="11410950" y="3619500"/>
            <a:ext cx="66675" cy="95250"/>
          </a:xfrm>
          <a:custGeom>
            <a:avLst/>
            <a:gdLst/>
            <a:ahLst/>
            <a:cxnLst/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</p:spPr>
        <p:txBody>
          <a:bodyPr/>
          <a:p/>
        </p:txBody>
      </p:sp>
      <p:sp>
        <p:nvSpPr>
          <p:cNvPr id="395" name="任意多边形 394"/>
          <p:cNvSpPr/>
          <p:nvPr/>
        </p:nvSpPr>
        <p:spPr>
          <a:xfrm>
            <a:off x="11410950" y="3619500"/>
            <a:ext cx="66675" cy="95250"/>
          </a:xfrm>
          <a:custGeom>
            <a:avLst/>
            <a:gdLst/>
            <a:ahLst/>
            <a:cxnLst/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396" name="任意多边形 395"/>
          <p:cNvSpPr/>
          <p:nvPr/>
        </p:nvSpPr>
        <p:spPr>
          <a:xfrm>
            <a:off x="11410950" y="3619500"/>
            <a:ext cx="66675" cy="95250"/>
          </a:xfrm>
          <a:custGeom>
            <a:avLst/>
            <a:gdLst/>
            <a:ahLst/>
            <a:cxnLst/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397" name="圆角矩形 396"/>
          <p:cNvSpPr/>
          <p:nvPr/>
        </p:nvSpPr>
        <p:spPr>
          <a:xfrm>
            <a:off x="4991100" y="4181475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98" name="任意多边形 397"/>
          <p:cNvSpPr/>
          <p:nvPr/>
        </p:nvSpPr>
        <p:spPr>
          <a:xfrm>
            <a:off x="4991100" y="4181475"/>
            <a:ext cx="6629400" cy="904875"/>
          </a:xfrm>
          <a:custGeom>
            <a:avLst/>
            <a:gdLst/>
            <a:ahLst/>
            <a:cxnLst/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5162550" y="4486275"/>
            <a:ext cx="4381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04</a:t>
            </a:r>
            <a:endParaRPr lang="en-US" sz="1950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5753100" y="4400550"/>
            <a:ext cx="5505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管评价</a:t>
            </a:r>
            <a:endParaRPr lang="zh-CN" sz="127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5753100" y="4629150"/>
            <a:ext cx="5505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差评智能分析</a:t>
            </a:r>
            <a:r>
              <a:rPr lang="en-US" sz="9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分级回复建议，不漏一条</a:t>
            </a:r>
            <a:endParaRPr lang="zh-CN" sz="9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2" name="任意多边形 401"/>
          <p:cNvSpPr/>
          <p:nvPr/>
        </p:nvSpPr>
        <p:spPr>
          <a:xfrm>
            <a:off x="11410950" y="4638675"/>
            <a:ext cx="66675" cy="95250"/>
          </a:xfrm>
          <a:custGeom>
            <a:avLst/>
            <a:gdLst/>
            <a:ahLst/>
            <a:cxnLst/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</p:spPr>
        <p:txBody>
          <a:bodyPr/>
          <a:p/>
        </p:txBody>
      </p:sp>
      <p:sp>
        <p:nvSpPr>
          <p:cNvPr id="403" name="任意多边形 402"/>
          <p:cNvSpPr/>
          <p:nvPr/>
        </p:nvSpPr>
        <p:spPr>
          <a:xfrm>
            <a:off x="11410950" y="4638675"/>
            <a:ext cx="66675" cy="95250"/>
          </a:xfrm>
          <a:custGeom>
            <a:avLst/>
            <a:gdLst/>
            <a:ahLst/>
            <a:cxnLst/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404" name="任意多边形 403"/>
          <p:cNvSpPr/>
          <p:nvPr/>
        </p:nvSpPr>
        <p:spPr>
          <a:xfrm>
            <a:off x="11410950" y="4638675"/>
            <a:ext cx="66675" cy="95250"/>
          </a:xfrm>
          <a:custGeom>
            <a:avLst/>
            <a:gdLst/>
            <a:ahLst/>
            <a:cxnLst/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405" name="圆角矩形 404"/>
          <p:cNvSpPr/>
          <p:nvPr/>
        </p:nvSpPr>
        <p:spPr>
          <a:xfrm>
            <a:off x="4991100" y="520065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06" name="任意多边形 405"/>
          <p:cNvSpPr/>
          <p:nvPr/>
        </p:nvSpPr>
        <p:spPr>
          <a:xfrm>
            <a:off x="4991100" y="5200650"/>
            <a:ext cx="6629400" cy="895350"/>
          </a:xfrm>
          <a:custGeom>
            <a:avLst/>
            <a:gdLst/>
            <a:ahLst/>
            <a:cxnLst/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5162550" y="5495925"/>
            <a:ext cx="4381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8A3D"/>
                </a:solidFill>
                <a:latin typeface="Arial" panose="020B0604020202020204"/>
                <a:ea typeface="Arial" panose="020B0604020202020204"/>
              </a:rPr>
              <a:t>05</a:t>
            </a:r>
            <a:endParaRPr lang="en-US" sz="1950" b="1">
              <a:solidFill>
                <a:srgbClr val="FF8A3D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5753100" y="5419725"/>
            <a:ext cx="5657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给建议</a:t>
            </a:r>
            <a:endParaRPr lang="zh-CN" sz="127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5753100" y="5648325"/>
            <a:ext cx="56578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五维运营诊断</a:t>
            </a:r>
            <a:r>
              <a:rPr lang="en-US" sz="9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+ P0/P1 </a:t>
            </a:r>
            <a:r>
              <a:rPr lang="zh-CN" sz="9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优先级行动项</a:t>
            </a:r>
            <a:endParaRPr lang="zh-CN" sz="9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0" name="圆角矩形 409"/>
          <p:cNvSpPr/>
          <p:nvPr/>
        </p:nvSpPr>
        <p:spPr>
          <a:xfrm>
            <a:off x="609600" y="1143000"/>
            <a:ext cx="4095750" cy="4953000"/>
          </a:xfrm>
          <a:prstGeom prst="roundRect">
            <a:avLst>
              <a:gd name="adj" fmla="val 3721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4200000" scaled="1"/>
          </a:gradFill>
        </p:spPr>
        <p:txBody>
          <a:bodyPr/>
          <a:p/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857250" y="1390650"/>
            <a:ext cx="36004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经营闭环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857250" y="1647825"/>
            <a:ext cx="36004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数据进来</a:t>
            </a:r>
            <a:r>
              <a:rPr lang="en-US" sz="900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00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结论出去</a:t>
            </a:r>
            <a:r>
              <a:rPr lang="en-US" sz="900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00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动作落地</a:t>
            </a:r>
            <a:endParaRPr lang="zh-CN" sz="900">
              <a:solidFill>
                <a:srgbClr val="8FC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3" name="圆角矩形 412"/>
          <p:cNvSpPr/>
          <p:nvPr/>
        </p:nvSpPr>
        <p:spPr>
          <a:xfrm>
            <a:off x="857250" y="5219700"/>
            <a:ext cx="3600450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414" name="圆角矩形 413"/>
          <p:cNvSpPr/>
          <p:nvPr/>
        </p:nvSpPr>
        <p:spPr>
          <a:xfrm>
            <a:off x="990600" y="55054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1133475" y="5324475"/>
            <a:ext cx="3190875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D6E8FF"/>
                </a:solidFill>
                <a:latin typeface="微软雅黑" panose="020B0503020204020204" charset="-122"/>
                <a:ea typeface="微软雅黑" panose="020B0503020204020204" charset="-122"/>
              </a:rPr>
              <a:t>全部数据来自门店真实经营参谋截图，分析结论可回溯到具体数字</a:t>
            </a:r>
            <a:endParaRPr lang="zh-CN" sz="900">
              <a:solidFill>
                <a:srgbClr val="D6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6" name="图片 4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076450"/>
            <a:ext cx="3028950" cy="3028950"/>
          </a:xfrm>
          <a:prstGeom prst="rect">
            <a:avLst/>
          </a:prstGeom>
        </p:spPr>
      </p:pic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609600" y="6515100"/>
            <a:ext cx="3076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975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11201400" y="6515100"/>
            <a:ext cx="381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 panose="020B0604020202020204"/>
                <a:ea typeface="Arial" panose="020B0604020202020204"/>
              </a:rPr>
              <a:t>03 / 15</a:t>
            </a:r>
            <a:endParaRPr lang="en-US" sz="975">
              <a:solidFill>
                <a:srgbClr val="8494B4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9" name="" descr="&lt;Slide style={{&#13;&#10;    width: 1280, height: 720,&#13;&#10;    position: 'relative',&#13;&#10;    background: '#0B2A6B',&#13;&#10;    fontFamily: &quot;'Microsoft YaHei', '微软雅黑', sans-serif&quot;,&#13;&#10;    overflow: 'hidden',&#13;&#10;}}&gt;&#13;&#10;    {/* 背景装饰网格 */}&#13;&#10;    &lt;Box style={{&#13;&#10;        position: 'absolute', top: 0, right: 0, width: 520, height: 720,&#13;&#10;        background: 'linear-gradient(200deg, rgba(53,200,240,0.16) 0%, rgba(53,200,240,0) 60%)',&#13;&#10;    }} /&gt;&#13;&#10;&#13;&#10;    {/* A 标题块 */}&#13;&#10;    &lt;Box style={{ position: 'absolute', top: 30, left: 64, flexDirection: 'row', alignItems: 'center', gap: 16 }}&gt;&#13;&#10;        &lt;Box style={{ width: 6, height: 38, background: '#35C8F0', borderRadius: 3 }} /&gt;&#13;&#10;        &lt;Box&gt;&#13;&#10;            &lt;Text style={{ fontSize: 32, fontWeight: 'bold', color: '#FFFFFF', lineHeight: 1.2 }}&gt;技术架构：轻量、可控、不中断&lt;/Text&gt;&#13;&#10;            &lt;Text style={{ fontSize: 13, color: '#8FC4F8', marginTop: 4, letterSpacing: 1 }}&gt;单文件前端 + 轻量后端 + 国产大模型&lt;/Text&gt;&#13;&#10;        &lt;/Box&gt;&#13;&#10;    &lt;/Box&gt;&#13;&#10;    &lt;Image src=&quot;assets/logo_2026.png&quot; style={{&#13;&#10;        position: 'absolute', top: 32, right: 64,&#13;&#10;        width: 128, height: 54, objectFit: 'contain', opacity: 0.4,&#13;&#10;    }} /&gt;&#13;&#10;&#13;&#10;    {/* B 内容区：三层堆叠 */}&#13;&#10;    &lt;Box style={{&#13;&#10;        position: 'absolute', top: 122, left: 64, right: 64, height: 486,&#13;&#10;        flexDirection: 'column', gap: 12,&#13;&#10;    }}&gt;&#13;&#10;        {/* L1 用户层 */}&#13;&#10;        &lt;Box style={{&#13;&#10;            flex: 1,&#13;&#10;            background: 'rgba(255,255,255,0.07)',&#13;&#10;            borderRadius: 12,&#13;&#10;            borderLeft: '4px solid #35C8F0',&#13;&#10;            paddingLeft: 24, paddingRight: 24, paddingTop: 16, paddingBottom: 16,&#13;&#10;            flexDirection: 'row', alignItems: 'center', gap: 22,&#13;&#10;        }}&gt;&#13;&#10;            &lt;Box style={{ width: 92 }}&gt;&#13;&#10;                &lt;Text style={{ fontSize: 12, color: '#8FC4F8', letterSpacing: 1, marginBottom: 4 }}&gt;接入层&lt;/Text&gt;&#13;&#10;                &lt;Text style={{ fontSize: 20, fontWeight: 'bold', color: '#FFFFFF' }}&gt;门店用户&lt;/Text&gt;&#13;&#10;            &lt;/Box&gt;&#13;&#10;            &lt;Box style={{ flex: 1, flexDirection: 'row', gap: 10 }}&gt;&#13;&#10;                {['经营驾驶舱', '门诊采集', '竞品分析', '文案生成', '套图生成', '主图诊断', '文案优化', '评价管理', '运营诊断', '话术建议'].map((m, i) =&gt; (&#13;&#10;                    &lt;Box key={m} style={{&#13;&#10;                        background: i % 3 === 0 ? '#35C8F0' : 'rgba(255,255,255,0.14)',&#13;&#10;                        borderRadius: 6, padding: '9px 7px',&#13;&#10;                        alignItems: 'center', justifyContent: 'center',&#13;&#10;                    }}&gt;&#13;&#10;                        &lt;Text style={{&#13;&#10;                            fontSize: 12,&#13;&#10;                            color: i % 3 === 0 ? '#0B2A6B' : '#D6E8FF',&#13;&#10;                            fontWeight: i % 3 === 0 ? 'bold' : 'normal',&#13;&#10;                            textAlign: 'center', lineHeight: 1.3,&#13;&#10;                        }}&gt;{m}&lt;/Text&gt;&#13;&#10;                    &lt;/Box&gt;&#13;&#10;                ))}&#13;&#10;            &lt;/Box&gt;&#13;&#10;        &lt;/Box&gt;&#13;&#10;&#13;&#10;        {/* L2 应用层 */}&#13;&#10;        &lt;Box style={{&#13;&#10;            flex: 1,&#13;&#10;            background: 'rgba(255,255,255,0.07)',&#13;&#10;            borderRadius: 12,&#13;&#10;            borderLeft: '4px solid #35C8F0',&#13;&#10;            paddingLeft: 24, paddingRight: 24, paddingTop: 16, paddingBottom: 16,&#13;&#10;            flexDirection: 'row', alignItems: 'center', gap: 22,&#13;&#10;        }}&gt;&#13;&#10;            &lt;Box style={{ width: 92 }}&gt;&#13;&#10;                &lt;Text style={{ fontSize: 12, color: '#8FC4F8', letterSpacing: 1, marginBottom: 4 }}&gt;应用层&lt;/Text&gt;&#13;&#10;                &lt;Text style={{ fontSize: 20, fontWeight: 'bold', color: '#FFFFFF' }}&gt;单文件 SPA&lt;/Text&gt;&#13;&#10;            &lt;/Box&gt;&#13;&#10;            &lt;Box style={{ flex: 1, flexDirection: 'row', gap: 12 }}&gt;&#13;&#10;                &lt;Box style={{&#13;&#10;                    flex: 1, background: 'rgba(53,200,240,0.16)',&#13;&#10;                    borderRadius: 8, padding: 14,&#13;&#10;                    border: '1px solid rgba(53,200,240,0.35)',&#13;&#10;                }}&gt;&#13;&#10;                    &lt;Text style={{ fontSize: 15, fontWeight: 'bold', color: '#ADE8FF', marginBottom: 6 }}&gt;前端 meituan-agent.html&lt;/Text&gt;&#13;&#10;                    &lt;Text style={{ fontSize: 12, color: '#B8D6F5', lineHeight: 1.6 }}&gt;&#13;&#10;                        单文件 HTML + 原生 JS，零框架依赖，10 个功能页面 + 移动端自适应（414px 视口可直接拍照上传）&#13;&#10;                    &lt;/Text&gt;&#13;&#10;                &lt;/Box&gt;&#13;&#10;                &lt;Box style={{&#13;&#10;                    flex: 1, background: 'rgba(53,200,240,0.16)',&#13;&#10;                    borderRadius: 8, padding: 14,&#13;&#10;                    border: '1px solid rgba(53,200,240,0.35)',&#13;&#10;                }}&gt;&#13;&#10;                    &lt;Text style={{ fontSize: 15, fontWeight: 'bold', color: '#ADE8FF', marginBottom: 6 }}&gt;后端 server.js&lt;/Text&gt;&#13;&#10;                    &lt;Text style={{ fontSize: 12, color: '#B8D6F5', lineHeight: 1.6 }}&gt;&#13;&#10;                        Node.js + Express，9 个业务 API 端点，负责模型编排、数据清洗与降级兜底&#13;&#10;                    &lt;/Text&gt;&#13;&#10;                &lt;/Box&gt;&#13;&#10;            &lt;/Box&gt;&#13;&#10;        &lt;/Box&gt;&#13;&#10;&#13;&#10;        {/* L3 模型层 */}&#13;&#10;        &lt;Box style={{&#13;&#10;            flex: 1,&#13;&#10;            background: 'linear-gradient(90deg, rgba(53,200,240,0.24) 0%, rgba(53,200,240,0.10) 100%)',&#13;&#10;            borderRadius: 12,&#13;&#10;            borderLeft: '4px solid #FF8A3D',&#13;&#10;            paddingLeft: 24, paddingRight: 24, paddingTop: 16, paddingBottom: 16,&#13;&#10;            flexDirection: 'row', alignItems: 'center', gap: 22,&#13;&#10;        }}&gt;&#13;&#10;            &lt;Box style={{ width: 92 }}&gt;&#13;&#10;                &lt;Text style={{ fontSize: 12, color: '#8FC4F8', letterSpacing: 1, marginBottom: 4 }}&gt;模型层&lt;/Text&gt;&#13;&#10;                &lt;Text style={{ fontSize: 20, fontWeight: 'bold', color: '#FFFFFF' }}&gt;火山引擎&lt;/Text&gt;&#13;&#10;            &lt;/Box&gt;&#13;&#10;            &lt;Box style={{ flex: 1, flexDirection: 'row', gap: 12 }}&gt;&#13;&#10;                &lt;Box style={{ flex: 1, background: 'rgba(11,42,107,0.45)', borderRadius: 8, padding: 14 }}&gt;&#13;&#10;                    &lt;Box style={{ flexDirection: 'row', alignItems: 'center', gap: 8, marginBottom: 6 }}&gt;&#13;&#10;                        &lt;Box style={{ width: 7, height: 7, borderRadius: 4, background: '#35C8F0' }} /&gt;&#13;&#10;                        &lt;Text style={{ fontSize: 15, fontWeight: 'bold', color: '#FFFFFF' }}&gt;Seedream 图像生成&lt;/Text&gt;&#13;&#10;                    &lt;/Box&gt;&#13;&#10;                    &lt;Text style={{ fontSize: 12, color: '#B8D6F5', lineHeight: 1.6 }}&gt;&#13;&#10;                        套图批量生成 · 主图质量诊断 · 门店实景素材，2028×2028 出图已实测可用&#13;&#10;                    &lt;/Text&gt;&#13;&#10;                &lt;/Box&gt;&#13;&#10;                &lt;Box style={{ flex: 1, background: 'rgba(11,42,107,0.45)', borderRadius: 8, padding: 14 }}&gt;&#13;&#10;                    &lt;Box style={{ flexDirection: 'row', alignItems: 'center', gap: 8, marginBottom: 6 }}&gt;&#13;&#10;                        &lt;Box style={{ width: 7, height: 7, borderRadius: 4, background: '#FF8A3D' }} /&gt;&#13;&#10;                        &lt;Text style={{ fontSize: 15, fontWeight: 'bold', color: '#FFFFFF' }}&gt;豆包视觉模型 OCR&lt;/Text&gt;&#13;&#10;                    &lt;/Box&gt;&#13;&#10;                    &lt;Text style={{ fontSize: 12, color: '#B8D6F5', lineHeight: 1.6 }}&gt;&#13;&#10;                        经营参谋截图识别 · 5 个端点自动探测降级 · 权限开通即启用&#13;&#10;                    &lt;/Text&gt;&#13;&#10;                &lt;/Box&gt;&#13;&#10;            &lt;/Box&gt;&#13;&#10;        &lt;/Box&gt;&#13;&#10;    &lt;/Box&gt;&#13;&#10;&#13;&#10;    {/* C 页脚条 */}&#13;&#10;    &lt;Box style={{&#13;&#10;        position: 'absolute', left: 64, right: 64, bottom: 20,&#13;&#10;        flexDirection: 'row', alignItems: 'center', justifyContent: 'space-between',&#13;&#10;    }}&gt;&#13;&#10;        &lt;Text style={{ fontSize: 13, color: '#6E93C8' }}&gt;美团电商眼科运营AI助手 · 爱尔眼科集团AI创新应用大赛&lt;/Text&gt;&#13;&#10;        &lt;Text style={{ fontSize: 13, color: '#6E93C8', fontFamily: 'Arial, sans-serif' }}&gt;04 / 15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矩形 4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</p:spPr>
        <p:txBody>
          <a:bodyPr/>
          <a:p/>
        </p:txBody>
      </p:sp>
      <p:sp>
        <p:nvSpPr>
          <p:cNvPr id="421" name="矩形 420"/>
          <p:cNvSpPr/>
          <p:nvPr/>
        </p:nvSpPr>
        <p:spPr>
          <a:xfrm>
            <a:off x="7239000" y="0"/>
            <a:ext cx="4953000" cy="6858000"/>
          </a:xfrm>
          <a:prstGeom prst="rect">
            <a:avLst/>
          </a:prstGeom>
          <a:gradFill>
            <a:gsLst>
              <a:gs pos="0">
                <a:srgbClr val="35C8F0">
                  <a:alpha val="16000"/>
                </a:srgbClr>
              </a:gs>
              <a:gs pos="60000">
                <a:srgbClr val="35C8F0">
                  <a:alpha val="0"/>
                </a:srgbClr>
              </a:gs>
            </a:gsLst>
            <a:lin ang="6600000" scaled="1"/>
          </a:gradFill>
        </p:spPr>
        <p:txBody>
          <a:bodyPr/>
          <a:p/>
        </p:txBody>
      </p:sp>
      <p:sp>
        <p:nvSpPr>
          <p:cNvPr id="422" name="圆角矩形 421"/>
          <p:cNvSpPr/>
          <p:nvPr/>
        </p:nvSpPr>
        <p:spPr>
          <a:xfrm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819150" y="285750"/>
            <a:ext cx="42672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技术架构：轻量、可控、不中断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819150" y="771525"/>
            <a:ext cx="4267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单文件前端</a:t>
            </a:r>
            <a:r>
              <a:rPr lang="en-US" sz="975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轻量后端</a:t>
            </a:r>
            <a:r>
              <a:rPr lang="en-US" sz="975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国产大模型</a:t>
            </a:r>
            <a:endParaRPr lang="zh-CN" sz="975" spc="75">
              <a:solidFill>
                <a:srgbClr val="8FC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25" name="图片 424"/>
          <p:cNvPicPr>
            <a:picLocks noChangeAspect="1"/>
          </p:cNvPicPr>
          <p:nvPr/>
        </p:nvPicPr>
        <p:blipFill>
          <a:blip r:embed="rId1">
            <a:alphaModFix amt="40000"/>
          </a:blip>
          <a:srcRect t="889" b="889"/>
          <a:stretch>
            <a:fillRect/>
          </a:stretch>
        </p:blipFill>
        <p:spPr>
          <a:xfrm>
            <a:off x="10363200" y="304800"/>
            <a:ext cx="1219200" cy="514350"/>
          </a:xfrm>
          <a:prstGeom prst="rect">
            <a:avLst/>
          </a:prstGeom>
        </p:spPr>
      </p:pic>
      <p:sp>
        <p:nvSpPr>
          <p:cNvPr id="426" name="圆角矩形 425"/>
          <p:cNvSpPr/>
          <p:nvPr/>
        </p:nvSpPr>
        <p:spPr>
          <a:xfrm>
            <a:off x="647700" y="1162050"/>
            <a:ext cx="10972800" cy="1181100"/>
          </a:xfrm>
          <a:prstGeom prst="roundRect">
            <a:avLst>
              <a:gd name="adj" fmla="val 9677"/>
            </a:avLst>
          </a:prstGeom>
          <a:solidFill>
            <a:srgbClr val="FFFFFF">
              <a:alpha val="7000"/>
            </a:srgbClr>
          </a:solidFill>
        </p:spPr>
        <p:txBody>
          <a:bodyPr/>
          <a:p/>
        </p:txBody>
      </p:sp>
      <p:sp>
        <p:nvSpPr>
          <p:cNvPr id="427" name="任意多边形 426"/>
          <p:cNvSpPr/>
          <p:nvPr/>
        </p:nvSpPr>
        <p:spPr>
          <a:xfrm>
            <a:off x="647700" y="1162050"/>
            <a:ext cx="10972800" cy="1181100"/>
          </a:xfrm>
          <a:custGeom>
            <a:avLst/>
            <a:gdLst/>
            <a:ahLst/>
            <a:cxnLst/>
            <a:pathLst>
              <a:path w="1152" h="12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6"/>
                </a:lnTo>
                <a:cubicBezTo>
                  <a:pt x="4" y="120"/>
                  <a:pt x="7" y="123"/>
                  <a:pt x="10" y="124"/>
                </a:cubicBezTo>
                <a:cubicBezTo>
                  <a:pt x="4" y="123"/>
                  <a:pt x="0" y="118"/>
                  <a:pt x="0" y="11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876300" y="1552575"/>
            <a:ext cx="876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接入层</a:t>
            </a:r>
            <a:endParaRPr lang="zh-CN" sz="900" spc="75">
              <a:solidFill>
                <a:srgbClr val="8FC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876300" y="1733550"/>
            <a:ext cx="876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门店用户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圆角矩形 429"/>
          <p:cNvSpPr/>
          <p:nvPr/>
        </p:nvSpPr>
        <p:spPr>
          <a:xfrm>
            <a:off x="1962150" y="1581150"/>
            <a:ext cx="7048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2028825" y="1666875"/>
            <a:ext cx="571500" cy="1809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经营驾驶舱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2" name="圆角矩形 431"/>
          <p:cNvSpPr/>
          <p:nvPr/>
        </p:nvSpPr>
        <p:spPr>
          <a:xfrm>
            <a:off x="2762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2828925" y="1666875"/>
            <a:ext cx="457200" cy="1809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微软雅黑" panose="020B0503020204020204" charset="-122"/>
                <a:ea typeface="微软雅黑" panose="020B0503020204020204" charset="-122"/>
              </a:rPr>
              <a:t>门诊采集</a:t>
            </a:r>
            <a:endParaRPr lang="zh-CN" sz="900">
              <a:solidFill>
                <a:srgbClr val="D6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圆角矩形 433"/>
          <p:cNvSpPr/>
          <p:nvPr/>
        </p:nvSpPr>
        <p:spPr>
          <a:xfrm>
            <a:off x="3448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3514725" y="1666875"/>
            <a:ext cx="457200" cy="1809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微软雅黑" panose="020B0503020204020204" charset="-122"/>
                <a:ea typeface="微软雅黑" panose="020B0503020204020204" charset="-122"/>
              </a:rPr>
              <a:t>竞品分析</a:t>
            </a:r>
            <a:endParaRPr lang="zh-CN" sz="900">
              <a:solidFill>
                <a:srgbClr val="D6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6" name="圆角矩形 435"/>
          <p:cNvSpPr/>
          <p:nvPr/>
        </p:nvSpPr>
        <p:spPr>
          <a:xfrm>
            <a:off x="4133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4200525" y="1666875"/>
            <a:ext cx="457200" cy="1809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文案生成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8" name="圆角矩形 437"/>
          <p:cNvSpPr/>
          <p:nvPr/>
        </p:nvSpPr>
        <p:spPr>
          <a:xfrm>
            <a:off x="4819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4886325" y="1666875"/>
            <a:ext cx="457200" cy="1809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微软雅黑" panose="020B0503020204020204" charset="-122"/>
                <a:ea typeface="微软雅黑" panose="020B0503020204020204" charset="-122"/>
              </a:rPr>
              <a:t>套图生成</a:t>
            </a:r>
            <a:endParaRPr lang="zh-CN" sz="900">
              <a:solidFill>
                <a:srgbClr val="D6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" name="圆角矩形 439"/>
          <p:cNvSpPr/>
          <p:nvPr/>
        </p:nvSpPr>
        <p:spPr>
          <a:xfrm>
            <a:off x="55054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5572125" y="1666875"/>
            <a:ext cx="457200" cy="1809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微软雅黑" panose="020B0503020204020204" charset="-122"/>
                <a:ea typeface="微软雅黑" panose="020B0503020204020204" charset="-122"/>
              </a:rPr>
              <a:t>主图诊断</a:t>
            </a:r>
            <a:endParaRPr lang="zh-CN" sz="900">
              <a:solidFill>
                <a:srgbClr val="D6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2" name="圆角矩形 441"/>
          <p:cNvSpPr/>
          <p:nvPr/>
        </p:nvSpPr>
        <p:spPr>
          <a:xfrm>
            <a:off x="6191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6257925" y="1666875"/>
            <a:ext cx="457200" cy="1809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文案优化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4" name="圆角矩形 443"/>
          <p:cNvSpPr/>
          <p:nvPr/>
        </p:nvSpPr>
        <p:spPr>
          <a:xfrm>
            <a:off x="6877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6943725" y="1666875"/>
            <a:ext cx="457200" cy="1809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微软雅黑" panose="020B0503020204020204" charset="-122"/>
                <a:ea typeface="微软雅黑" panose="020B0503020204020204" charset="-122"/>
              </a:rPr>
              <a:t>评价管理</a:t>
            </a:r>
            <a:endParaRPr lang="zh-CN" sz="900">
              <a:solidFill>
                <a:srgbClr val="D6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6" name="圆角矩形 445"/>
          <p:cNvSpPr/>
          <p:nvPr/>
        </p:nvSpPr>
        <p:spPr>
          <a:xfrm>
            <a:off x="7562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7629525" y="1666875"/>
            <a:ext cx="457200" cy="1809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微软雅黑" panose="020B0503020204020204" charset="-122"/>
                <a:ea typeface="微软雅黑" panose="020B0503020204020204" charset="-122"/>
              </a:rPr>
              <a:t>运营诊断</a:t>
            </a:r>
            <a:endParaRPr lang="zh-CN" sz="900">
              <a:solidFill>
                <a:srgbClr val="D6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8" name="圆角矩形 447"/>
          <p:cNvSpPr/>
          <p:nvPr/>
        </p:nvSpPr>
        <p:spPr>
          <a:xfrm>
            <a:off x="8248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315325" y="1666875"/>
            <a:ext cx="457200" cy="1809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话术建议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0" name="圆角矩形 449"/>
          <p:cNvSpPr/>
          <p:nvPr/>
        </p:nvSpPr>
        <p:spPr>
          <a:xfrm>
            <a:off x="647700" y="2457450"/>
            <a:ext cx="10972800" cy="1724025"/>
          </a:xfrm>
          <a:prstGeom prst="roundRect">
            <a:avLst>
              <a:gd name="adj" fmla="val 6630"/>
            </a:avLst>
          </a:prstGeom>
          <a:solidFill>
            <a:srgbClr val="FFFFFF">
              <a:alpha val="7000"/>
            </a:srgbClr>
          </a:solidFill>
        </p:spPr>
        <p:txBody>
          <a:bodyPr/>
          <a:p/>
        </p:txBody>
      </p:sp>
      <p:sp>
        <p:nvSpPr>
          <p:cNvPr id="451" name="任意多边形 450"/>
          <p:cNvSpPr/>
          <p:nvPr/>
        </p:nvSpPr>
        <p:spPr>
          <a:xfrm>
            <a:off x="647700" y="2457450"/>
            <a:ext cx="10972800" cy="1724025"/>
          </a:xfrm>
          <a:custGeom>
            <a:avLst/>
            <a:gdLst/>
            <a:ahLst/>
            <a:cxnLst/>
            <a:pathLst>
              <a:path w="1152" h="18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73"/>
                </a:lnTo>
                <a:cubicBezTo>
                  <a:pt x="4" y="177"/>
                  <a:pt x="7" y="180"/>
                  <a:pt x="10" y="181"/>
                </a:cubicBezTo>
                <a:cubicBezTo>
                  <a:pt x="4" y="180"/>
                  <a:pt x="0" y="175"/>
                  <a:pt x="0" y="16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876300" y="3000375"/>
            <a:ext cx="876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应用层</a:t>
            </a:r>
            <a:endParaRPr lang="zh-CN" sz="900" spc="75">
              <a:solidFill>
                <a:srgbClr val="8FC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876300" y="3181350"/>
            <a:ext cx="8763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单文件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SPA</a:t>
            </a:r>
            <a:endParaRPr 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4" name="圆角矩形 453"/>
          <p:cNvSpPr/>
          <p:nvPr/>
        </p:nvSpPr>
        <p:spPr>
          <a:xfrm>
            <a:off x="1962150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2095500" y="2981325"/>
            <a:ext cx="4371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r>
              <a:rPr lang="en-US" sz="1125" b="1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 meituan-agent.html</a:t>
            </a:r>
            <a:endParaRPr lang="en-US" sz="1125" b="1">
              <a:solidFill>
                <a:srgbClr val="AD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2095500" y="3209925"/>
            <a:ext cx="4371975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单文件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HTML +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原生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JS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，零框架依赖，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10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个功能页面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移动端自适应（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414px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视口可直接拍照上传）</a:t>
            </a:r>
            <a:endParaRPr lang="zh-CN" sz="900">
              <a:solidFill>
                <a:srgbClr val="B8D6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7" name="圆角矩形 456"/>
          <p:cNvSpPr/>
          <p:nvPr/>
        </p:nvSpPr>
        <p:spPr>
          <a:xfrm>
            <a:off x="6715125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6848475" y="2981325"/>
            <a:ext cx="4371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r>
              <a:rPr lang="en-US" sz="1125" b="1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 server.js</a:t>
            </a:r>
            <a:endParaRPr lang="en-US" sz="1125" b="1">
              <a:solidFill>
                <a:srgbClr val="AD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6848475" y="3209925"/>
            <a:ext cx="4371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Node.js + Express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个业务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端点，负责模型编排、数据清洗与降级兜底</a:t>
            </a:r>
            <a:endParaRPr lang="zh-CN" sz="900">
              <a:solidFill>
                <a:srgbClr val="B8D6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0" name="圆角矩形 459"/>
          <p:cNvSpPr/>
          <p:nvPr/>
        </p:nvSpPr>
        <p:spPr>
          <a:xfrm>
            <a:off x="647700" y="4295775"/>
            <a:ext cx="10972800" cy="1495425"/>
          </a:xfrm>
          <a:prstGeom prst="roundRect">
            <a:avLst>
              <a:gd name="adj" fmla="val 7643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1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461" name="任意多边形 460"/>
          <p:cNvSpPr/>
          <p:nvPr/>
        </p:nvSpPr>
        <p:spPr>
          <a:xfrm>
            <a:off x="647700" y="4295775"/>
            <a:ext cx="10972800" cy="1495425"/>
          </a:xfrm>
          <a:custGeom>
            <a:avLst/>
            <a:gdLst/>
            <a:ahLst/>
            <a:cxnLst/>
            <a:pathLst>
              <a:path w="1152" h="15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9"/>
                </a:lnTo>
                <a:cubicBezTo>
                  <a:pt x="4" y="153"/>
                  <a:pt x="7" y="156"/>
                  <a:pt x="10" y="157"/>
                </a:cubicBezTo>
                <a:cubicBezTo>
                  <a:pt x="4" y="156"/>
                  <a:pt x="0" y="151"/>
                  <a:pt x="0" y="14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876300" y="4838700"/>
            <a:ext cx="876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模型层</a:t>
            </a:r>
            <a:endParaRPr lang="zh-CN" sz="900" spc="75">
              <a:solidFill>
                <a:srgbClr val="8FC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876300" y="5019675"/>
            <a:ext cx="876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火山引擎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4" name="圆角矩形 463"/>
          <p:cNvSpPr/>
          <p:nvPr/>
        </p:nvSpPr>
        <p:spPr>
          <a:xfrm>
            <a:off x="1962150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</p:spPr>
        <p:txBody>
          <a:bodyPr/>
          <a:p/>
        </p:txBody>
      </p:sp>
      <p:sp>
        <p:nvSpPr>
          <p:cNvPr id="465" name="圆角矩形 464"/>
          <p:cNvSpPr/>
          <p:nvPr/>
        </p:nvSpPr>
        <p:spPr>
          <a:xfrm>
            <a:off x="2095500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2238375" y="4819650"/>
            <a:ext cx="1333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Seedream </a:t>
            </a: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图像生成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7" name="文本框 466" descr="{&quot;isTemplate&quot;:true,&quot;type&quot;:&quot;text&quot;}"/>
          <p:cNvSpPr txBox="1"/>
          <p:nvPr/>
        </p:nvSpPr>
        <p:spPr>
          <a:xfrm>
            <a:off x="2095500" y="5048250"/>
            <a:ext cx="4371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套图批量生成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主图质量诊断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门店实景素材，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2028×2028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出图已实测可用</a:t>
            </a:r>
            <a:endParaRPr lang="zh-CN" sz="900">
              <a:solidFill>
                <a:srgbClr val="B8D6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8" name="圆角矩形 467"/>
          <p:cNvSpPr/>
          <p:nvPr/>
        </p:nvSpPr>
        <p:spPr>
          <a:xfrm>
            <a:off x="6715125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6848475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8A3D"/>
          </a:solidFill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6991350" y="4819650"/>
            <a:ext cx="121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豆包视觉模型</a:t>
            </a: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OCR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6848475" y="5048250"/>
            <a:ext cx="4371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经营参谋截图识别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· 5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个端点自动探测降级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权限开通即启用</a:t>
            </a:r>
            <a:endParaRPr lang="zh-CN" sz="900">
              <a:solidFill>
                <a:srgbClr val="B8D6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609600" y="6515100"/>
            <a:ext cx="3076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975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75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975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975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75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975">
              <a:solidFill>
                <a:srgbClr val="6E93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11201400" y="6515100"/>
            <a:ext cx="381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E93C8"/>
                </a:solidFill>
                <a:latin typeface="Arial" panose="020B0604020202020204"/>
                <a:ea typeface="Arial" panose="020B0604020202020204"/>
              </a:rPr>
              <a:t>04 / 15</a:t>
            </a:r>
            <a:endParaRPr lang="en-US" sz="975">
              <a:solidFill>
                <a:srgbClr val="6E93C8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矩形 4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</p:spPr>
        <p:txBody>
          <a:bodyPr/>
          <a:p/>
        </p:txBody>
      </p:sp>
      <p:pic>
        <p:nvPicPr>
          <p:cNvPr id="476" name="图片 475"/>
          <p:cNvPicPr>
            <a:picLocks noChangeAspect="1"/>
          </p:cNvPicPr>
          <p:nvPr/>
        </p:nvPicPr>
        <p:blipFill>
          <a:blip r:embed="rId1"/>
          <a:srcRect l="1159" r="1159"/>
          <a:stretch>
            <a:fillRect/>
          </a:stretch>
        </p:blipFill>
        <p:spPr>
          <a:xfrm>
            <a:off x="0" y="0"/>
            <a:ext cx="12192000" cy="990600"/>
          </a:xfrm>
          <a:prstGeom prst="rect">
            <a:avLst/>
          </a:prstGeom>
        </p:spPr>
      </p:pic>
      <p:sp>
        <p:nvSpPr>
          <p:cNvPr id="477" name="矩形 476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gradFill>
            <a:gsLst>
              <a:gs pos="0">
                <a:srgbClr val="0B2A6B">
                  <a:alpha val="95000"/>
                </a:srgbClr>
              </a:gs>
              <a:gs pos="55000">
                <a:srgbClr val="1B5FD9">
                  <a:alpha val="85000"/>
                </a:srgbClr>
              </a:gs>
              <a:gs pos="100000">
                <a:srgbClr val="1B5FD9">
                  <a:alpha val="6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478" name="圆角矩形 477"/>
          <p:cNvSpPr/>
          <p:nvPr/>
        </p:nvSpPr>
        <p:spPr>
          <a:xfrm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819150" y="228600"/>
            <a:ext cx="45720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五个场景，全部对齐集团需求规格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819150" y="714375"/>
            <a:ext cx="4572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《爱尔小龙虾美团商家版需求规格说明书</a:t>
            </a:r>
            <a:r>
              <a:rPr lang="en-US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 v1.0</a:t>
            </a:r>
            <a:r>
              <a:rPr lang="zh-CN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  <a:r>
              <a:rPr lang="en-US" sz="975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REQ-01 ~ REQ-05</a:t>
            </a:r>
            <a:endParaRPr lang="en-US" sz="975" spc="75">
              <a:solidFill>
                <a:srgbClr val="AD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81" name="图片 480"/>
          <p:cNvPicPr>
            <a:picLocks noChangeAspect="1"/>
          </p:cNvPicPr>
          <p:nvPr/>
        </p:nvPicPr>
        <p:blipFill>
          <a:blip r:embed="rId2">
            <a:alphaModFix amt="42000"/>
          </a:blip>
          <a:srcRect t="889" b="889"/>
          <a:stretch>
            <a:fillRect/>
          </a:stretch>
        </p:blipFill>
        <p:spPr>
          <a:xfrm>
            <a:off x="10363200" y="247650"/>
            <a:ext cx="1219200" cy="514350"/>
          </a:xfrm>
          <a:prstGeom prst="rect">
            <a:avLst/>
          </a:prstGeom>
        </p:spPr>
      </p:pic>
      <p:sp>
        <p:nvSpPr>
          <p:cNvPr id="482" name="圆角矩形 481"/>
          <p:cNvSpPr/>
          <p:nvPr/>
        </p:nvSpPr>
        <p:spPr>
          <a:xfrm>
            <a:off x="6096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483" name="任意多边形 482"/>
          <p:cNvSpPr/>
          <p:nvPr/>
        </p:nvSpPr>
        <p:spPr>
          <a:xfrm>
            <a:off x="609600" y="1257300"/>
            <a:ext cx="2095500" cy="4838700"/>
          </a:xfrm>
          <a:custGeom>
            <a:avLst/>
            <a:gdLst/>
            <a:ahLst/>
            <a:cxnLst/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8001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885825" y="1466850"/>
            <a:ext cx="419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REQ-01</a:t>
            </a:r>
            <a:endParaRPr lang="en-US" sz="9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800100" y="1781175"/>
            <a:ext cx="171450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经营数据采集与驾驶舱</a:t>
            </a:r>
            <a:endParaRPr lang="zh-CN" sz="13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800100" y="2352675"/>
            <a:ext cx="1714500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4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经营参谋截图</a:t>
            </a:r>
            <a:r>
              <a:rPr lang="en-US" sz="94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/ API / </a:t>
            </a:r>
            <a:r>
              <a:rPr lang="zh-CN" sz="94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页面操作三种方式采集，统一汇总至集团后台，形成</a:t>
            </a:r>
            <a:r>
              <a:rPr lang="en-US" sz="94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4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维经营驾驶舱</a:t>
            </a:r>
            <a:endParaRPr lang="zh-CN" sz="94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圆角矩形 487"/>
          <p:cNvSpPr/>
          <p:nvPr/>
        </p:nvSpPr>
        <p:spPr>
          <a:xfrm>
            <a:off x="800100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489" name="文本框 488" descr="{&quot;isTemplate&quot;:true,&quot;type&quot;:&quot;text&quot;}"/>
          <p:cNvSpPr txBox="1"/>
          <p:nvPr/>
        </p:nvSpPr>
        <p:spPr>
          <a:xfrm>
            <a:off x="914400" y="3181350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个界面分图上传指引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圆角矩形 489"/>
          <p:cNvSpPr/>
          <p:nvPr/>
        </p:nvSpPr>
        <p:spPr>
          <a:xfrm>
            <a:off x="800100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914400" y="3448050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门店</a:t>
            </a:r>
            <a:r>
              <a:rPr lang="en-US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周期</a:t>
            </a:r>
            <a:r>
              <a:rPr lang="en-US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数据类型三维筛选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2" name="圆角矩形 491"/>
          <p:cNvSpPr/>
          <p:nvPr/>
        </p:nvSpPr>
        <p:spPr>
          <a:xfrm>
            <a:off x="800100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914400" y="3714750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经营评分</a:t>
            </a:r>
            <a:r>
              <a:rPr lang="en-US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漏斗</a:t>
            </a:r>
            <a:r>
              <a:rPr lang="en-US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评价</a:t>
            </a:r>
            <a:r>
              <a:rPr lang="en-US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星级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4" name="圆角矩形 493"/>
          <p:cNvSpPr/>
          <p:nvPr/>
        </p:nvSpPr>
        <p:spPr>
          <a:xfrm>
            <a:off x="8001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</p:spPr>
        <p:txBody>
          <a:bodyPr/>
          <a:p/>
        </p:txBody>
      </p:sp>
      <p:sp>
        <p:nvSpPr>
          <p:cNvPr id="495" name="文本框 494" descr="{&quot;isTemplate&quot;:true,&quot;type&quot;:&quot;text&quot;}"/>
          <p:cNvSpPr txBox="1"/>
          <p:nvPr/>
        </p:nvSpPr>
        <p:spPr>
          <a:xfrm>
            <a:off x="914400" y="5362575"/>
            <a:ext cx="14859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对应模块</a:t>
            </a:r>
            <a:endParaRPr lang="zh-CN" sz="825" spc="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914400" y="5553075"/>
            <a:ext cx="1485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经营驾驶舱、门诊采集</a:t>
            </a:r>
            <a:endParaRPr lang="zh-CN" sz="94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7" name="圆角矩形 496"/>
          <p:cNvSpPr/>
          <p:nvPr/>
        </p:nvSpPr>
        <p:spPr>
          <a:xfrm>
            <a:off x="282892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498" name="任意多边形 497"/>
          <p:cNvSpPr/>
          <p:nvPr/>
        </p:nvSpPr>
        <p:spPr>
          <a:xfrm>
            <a:off x="2828925" y="1257300"/>
            <a:ext cx="2095500" cy="4838700"/>
          </a:xfrm>
          <a:custGeom>
            <a:avLst/>
            <a:gdLst/>
            <a:ahLst/>
            <a:cxnLst/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301942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3105150" y="1466850"/>
            <a:ext cx="419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REQ-02</a:t>
            </a:r>
            <a:endParaRPr lang="en-US" sz="9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3019425" y="1781175"/>
            <a:ext cx="1714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项目智能分析与竞争定价</a:t>
            </a:r>
            <a:endParaRPr lang="zh-CN" sz="13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3019425" y="2457450"/>
            <a:ext cx="1714500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4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综合竞品门店评分、销量、价格带，判断项目卖得好不好、定价合不合理，识别价格缺口</a:t>
            </a:r>
            <a:endParaRPr lang="zh-CN" sz="94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圆角矩形 502"/>
          <p:cNvSpPr/>
          <p:nvPr/>
        </p:nvSpPr>
        <p:spPr>
          <a:xfrm>
            <a:off x="3019425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3133725" y="3286125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竞品门店横向对比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圆角矩形 504"/>
          <p:cNvSpPr/>
          <p:nvPr/>
        </p:nvSpPr>
        <p:spPr>
          <a:xfrm>
            <a:off x="3019425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506" name="文本框 505" descr="{&quot;isTemplate&quot;:true,&quot;type&quot;:&quot;text&quot;}"/>
          <p:cNvSpPr txBox="1"/>
          <p:nvPr/>
        </p:nvSpPr>
        <p:spPr>
          <a:xfrm>
            <a:off x="3133725" y="3552825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价格带缺口识别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7" name="圆角矩形 506"/>
          <p:cNvSpPr/>
          <p:nvPr/>
        </p:nvSpPr>
        <p:spPr>
          <a:xfrm>
            <a:off x="3019425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3133725" y="3819525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高销量</a:t>
            </a:r>
            <a:r>
              <a:rPr lang="en-US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低销量双向预警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9" name="圆角矩形 508"/>
          <p:cNvSpPr/>
          <p:nvPr/>
        </p:nvSpPr>
        <p:spPr>
          <a:xfrm>
            <a:off x="301942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</p:spPr>
        <p:txBody>
          <a:bodyPr/>
          <a:p/>
        </p:txBody>
      </p:sp>
      <p:sp>
        <p:nvSpPr>
          <p:cNvPr id="510" name="文本框 509" descr="{&quot;isTemplate&quot;:true,&quot;type&quot;:&quot;text&quot;}"/>
          <p:cNvSpPr txBox="1"/>
          <p:nvPr/>
        </p:nvSpPr>
        <p:spPr>
          <a:xfrm>
            <a:off x="3133725" y="5362575"/>
            <a:ext cx="14859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对应模块</a:t>
            </a:r>
            <a:endParaRPr lang="zh-CN" sz="825" spc="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3133725" y="5553075"/>
            <a:ext cx="1485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竞品分析、运营诊断</a:t>
            </a:r>
            <a:endParaRPr lang="zh-CN" sz="94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" name="圆角矩形 511"/>
          <p:cNvSpPr/>
          <p:nvPr/>
        </p:nvSpPr>
        <p:spPr>
          <a:xfrm>
            <a:off x="504825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513" name="任意多边形 512"/>
          <p:cNvSpPr/>
          <p:nvPr/>
        </p:nvSpPr>
        <p:spPr>
          <a:xfrm>
            <a:off x="5048250" y="1257300"/>
            <a:ext cx="2095500" cy="4838700"/>
          </a:xfrm>
          <a:custGeom>
            <a:avLst/>
            <a:gdLst/>
            <a:ahLst/>
            <a:cxnLst/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523875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5324475" y="1466850"/>
            <a:ext cx="419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REQ-03</a:t>
            </a:r>
            <a:endParaRPr lang="en-US" sz="9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5238750" y="1781175"/>
            <a:ext cx="1714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图片与营销素材智能生成</a:t>
            </a:r>
            <a:endParaRPr lang="zh-CN" sz="13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5238750" y="2457450"/>
            <a:ext cx="1714500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4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总部按月提供品牌视觉模板，门店一键生成符合集团视觉规范的文案、套图与主图</a:t>
            </a:r>
            <a:endParaRPr lang="zh-CN" sz="94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8" name="圆角矩形 517"/>
          <p:cNvSpPr/>
          <p:nvPr/>
        </p:nvSpPr>
        <p:spPr>
          <a:xfrm>
            <a:off x="523875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5353050" y="3286125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总部模板机制下发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0" name="圆角矩形 519"/>
          <p:cNvSpPr/>
          <p:nvPr/>
        </p:nvSpPr>
        <p:spPr>
          <a:xfrm>
            <a:off x="523875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5353050" y="3552825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Seedream </a:t>
            </a: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批量出图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圆角矩形 521"/>
          <p:cNvSpPr/>
          <p:nvPr/>
        </p:nvSpPr>
        <p:spPr>
          <a:xfrm>
            <a:off x="523875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5353050" y="3819525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主图构图与合规诊断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4" name="圆角矩形 523"/>
          <p:cNvSpPr/>
          <p:nvPr/>
        </p:nvSpPr>
        <p:spPr>
          <a:xfrm>
            <a:off x="5238750" y="5057775"/>
            <a:ext cx="1714500" cy="809625"/>
          </a:xfrm>
          <a:prstGeom prst="roundRect">
            <a:avLst>
              <a:gd name="adj" fmla="val 8235"/>
            </a:avLst>
          </a:prstGeom>
          <a:solidFill>
            <a:srgbClr val="1B5FD9">
              <a:alpha val="7000"/>
            </a:srgbClr>
          </a:solidFill>
        </p:spPr>
        <p:txBody>
          <a:bodyPr/>
          <a:p/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5353050" y="5153025"/>
            <a:ext cx="14859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对应模块</a:t>
            </a:r>
            <a:endParaRPr lang="zh-CN" sz="825" spc="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5353050" y="5343525"/>
            <a:ext cx="148590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文案生成、套图生成、主图诊断</a:t>
            </a:r>
            <a:endParaRPr lang="zh-CN" sz="94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圆角矩形 526"/>
          <p:cNvSpPr/>
          <p:nvPr/>
        </p:nvSpPr>
        <p:spPr>
          <a:xfrm>
            <a:off x="726757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528" name="任意多边形 527"/>
          <p:cNvSpPr/>
          <p:nvPr/>
        </p:nvSpPr>
        <p:spPr>
          <a:xfrm>
            <a:off x="7267575" y="1257300"/>
            <a:ext cx="2095500" cy="4838700"/>
          </a:xfrm>
          <a:custGeom>
            <a:avLst/>
            <a:gdLst/>
            <a:ahLst/>
            <a:cxnLst/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529" name="圆角矩形 528"/>
          <p:cNvSpPr/>
          <p:nvPr/>
        </p:nvSpPr>
        <p:spPr>
          <a:xfrm>
            <a:off x="745807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530" name="文本框 529" descr="{&quot;isTemplate&quot;:true,&quot;type&quot;:&quot;text&quot;}"/>
          <p:cNvSpPr txBox="1"/>
          <p:nvPr/>
        </p:nvSpPr>
        <p:spPr>
          <a:xfrm>
            <a:off x="7543800" y="1466850"/>
            <a:ext cx="419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REQ-04</a:t>
            </a:r>
            <a:endParaRPr lang="en-US" sz="9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31" name="文本框 530" descr="{&quot;isTemplate&quot;:true,&quot;type&quot;:&quot;text&quot;}"/>
          <p:cNvSpPr txBox="1"/>
          <p:nvPr/>
        </p:nvSpPr>
        <p:spPr>
          <a:xfrm>
            <a:off x="7458075" y="1781175"/>
            <a:ext cx="171450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差评智能分析与回复</a:t>
            </a:r>
            <a:endParaRPr lang="zh-CN" sz="13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2" name="文本框 531" descr="{&quot;isTemplate&quot;:true,&quot;type&quot;:&quot;text&quot;}"/>
          <p:cNvSpPr txBox="1"/>
          <p:nvPr/>
        </p:nvSpPr>
        <p:spPr>
          <a:xfrm>
            <a:off x="7458075" y="2352675"/>
            <a:ext cx="1714500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4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支持文本粘贴与差评截图输入，</a:t>
            </a:r>
            <a:r>
              <a:rPr lang="en-US" sz="94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OCR </a:t>
            </a:r>
            <a:r>
              <a:rPr lang="zh-CN" sz="94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提取内容后自动分类并生成分层回复建议</a:t>
            </a:r>
            <a:endParaRPr lang="zh-CN" sz="94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3" name="圆角矩形 532"/>
          <p:cNvSpPr/>
          <p:nvPr/>
        </p:nvSpPr>
        <p:spPr>
          <a:xfrm>
            <a:off x="7458075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534" name="文本框 533" descr="{&quot;isTemplate&quot;:true,&quot;type&quot;:&quot;text&quot;}"/>
          <p:cNvSpPr txBox="1"/>
          <p:nvPr/>
        </p:nvSpPr>
        <p:spPr>
          <a:xfrm>
            <a:off x="7572375" y="3181350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差评自动分类归因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5" name="圆角矩形 534"/>
          <p:cNvSpPr/>
          <p:nvPr/>
        </p:nvSpPr>
        <p:spPr>
          <a:xfrm>
            <a:off x="7458075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536" name="文本框 535" descr="{&quot;isTemplate&quot;:true,&quot;type&quot;:&quot;text&quot;}"/>
          <p:cNvSpPr txBox="1"/>
          <p:nvPr/>
        </p:nvSpPr>
        <p:spPr>
          <a:xfrm>
            <a:off x="7572375" y="3448050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分层回复话术建议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7" name="圆角矩形 536"/>
          <p:cNvSpPr/>
          <p:nvPr/>
        </p:nvSpPr>
        <p:spPr>
          <a:xfrm>
            <a:off x="7458075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7572375" y="3714750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文案润色与合规检查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9" name="圆角矩形 538"/>
          <p:cNvSpPr/>
          <p:nvPr/>
        </p:nvSpPr>
        <p:spPr>
          <a:xfrm>
            <a:off x="745807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</p:spPr>
        <p:txBody>
          <a:bodyPr/>
          <a:p/>
        </p:txBody>
      </p:sp>
      <p:sp>
        <p:nvSpPr>
          <p:cNvPr id="540" name="文本框 539" descr="{&quot;isTemplate&quot;:true,&quot;type&quot;:&quot;text&quot;}"/>
          <p:cNvSpPr txBox="1"/>
          <p:nvPr/>
        </p:nvSpPr>
        <p:spPr>
          <a:xfrm>
            <a:off x="7572375" y="5362575"/>
            <a:ext cx="14859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对应模块</a:t>
            </a:r>
            <a:endParaRPr lang="zh-CN" sz="825" spc="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7572375" y="5553075"/>
            <a:ext cx="1485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评价管理、文案优化</a:t>
            </a:r>
            <a:endParaRPr lang="zh-CN" sz="94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2" name="圆角矩形 541"/>
          <p:cNvSpPr/>
          <p:nvPr/>
        </p:nvSpPr>
        <p:spPr>
          <a:xfrm>
            <a:off x="94869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543" name="任意多边形 542"/>
          <p:cNvSpPr/>
          <p:nvPr/>
        </p:nvSpPr>
        <p:spPr>
          <a:xfrm>
            <a:off x="9486900" y="1257300"/>
            <a:ext cx="2095500" cy="4838700"/>
          </a:xfrm>
          <a:custGeom>
            <a:avLst/>
            <a:gdLst/>
            <a:ahLst/>
            <a:cxnLst/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544" name="圆角矩形 543"/>
          <p:cNvSpPr/>
          <p:nvPr/>
        </p:nvSpPr>
        <p:spPr>
          <a:xfrm>
            <a:off x="96774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FF8A3D"/>
          </a:solidFill>
        </p:spPr>
        <p:txBody>
          <a:bodyPr/>
          <a:p/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9763125" y="1466850"/>
            <a:ext cx="419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REQ-05</a:t>
            </a:r>
            <a:endParaRPr lang="en-US" sz="9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46" name="文本框 545" descr="{&quot;isTemplate&quot;:true,&quot;type&quot;:&quot;text&quot;}"/>
          <p:cNvSpPr txBox="1"/>
          <p:nvPr/>
        </p:nvSpPr>
        <p:spPr>
          <a:xfrm>
            <a:off x="9677400" y="1781175"/>
            <a:ext cx="1714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流量活动与促销智能决策</a:t>
            </a:r>
            <a:endParaRPr lang="zh-CN" sz="13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9677400" y="2457450"/>
            <a:ext cx="1714500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4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持续监测经营指标，识别异常波动，主动输出运营策略与活动建议</a:t>
            </a:r>
            <a:endParaRPr lang="zh-CN" sz="94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8" name="圆角矩形 547"/>
          <p:cNvSpPr/>
          <p:nvPr/>
        </p:nvSpPr>
        <p:spPr>
          <a:xfrm>
            <a:off x="967740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</p:spPr>
        <p:txBody>
          <a:bodyPr/>
          <a:p/>
        </p:txBody>
      </p:sp>
      <p:sp>
        <p:nvSpPr>
          <p:cNvPr id="549" name="文本框 548" descr="{&quot;isTemplate&quot;:true,&quot;type&quot;:&quot;text&quot;}"/>
          <p:cNvSpPr txBox="1"/>
          <p:nvPr/>
        </p:nvSpPr>
        <p:spPr>
          <a:xfrm>
            <a:off x="9791700" y="3286125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经营指标异常识别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0" name="圆角矩形 549"/>
          <p:cNvSpPr/>
          <p:nvPr/>
        </p:nvSpPr>
        <p:spPr>
          <a:xfrm>
            <a:off x="967740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</p:spPr>
        <p:txBody>
          <a:bodyPr/>
          <a:p/>
        </p:txBody>
      </p:sp>
      <p:sp>
        <p:nvSpPr>
          <p:cNvPr id="551" name="文本框 550" descr="{&quot;isTemplate&quot;:true,&quot;type&quot;:&quot;text&quot;}"/>
          <p:cNvSpPr txBox="1"/>
          <p:nvPr/>
        </p:nvSpPr>
        <p:spPr>
          <a:xfrm>
            <a:off x="9791700" y="3552825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分场景转化话术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2" name="圆角矩形 551"/>
          <p:cNvSpPr/>
          <p:nvPr/>
        </p:nvSpPr>
        <p:spPr>
          <a:xfrm>
            <a:off x="967740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</p:spPr>
        <p:txBody>
          <a:bodyPr/>
          <a:p/>
        </p:txBody>
      </p:sp>
      <p:sp>
        <p:nvSpPr>
          <p:cNvPr id="553" name="文本框 552" descr="{&quot;isTemplate&quot;:true,&quot;type&quot;:&quot;text&quot;}"/>
          <p:cNvSpPr txBox="1"/>
          <p:nvPr/>
        </p:nvSpPr>
        <p:spPr>
          <a:xfrm>
            <a:off x="9791700" y="3819525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3A4A66"/>
                </a:solidFill>
                <a:latin typeface="微软雅黑" panose="020B0503020204020204" charset="-122"/>
                <a:ea typeface="微软雅黑" panose="020B0503020204020204" charset="-122"/>
              </a:rPr>
              <a:t>活动与促销策略建议</a:t>
            </a:r>
            <a:endParaRPr lang="zh-CN" sz="865">
              <a:solidFill>
                <a:srgbClr val="3A4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4" name="圆角矩形 553"/>
          <p:cNvSpPr/>
          <p:nvPr/>
        </p:nvSpPr>
        <p:spPr>
          <a:xfrm>
            <a:off x="96774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FF8A3D">
              <a:alpha val="10000"/>
            </a:srgbClr>
          </a:solidFill>
        </p:spPr>
        <p:txBody>
          <a:bodyPr/>
          <a:p/>
        </p:txBody>
      </p:sp>
      <p:sp>
        <p:nvSpPr>
          <p:cNvPr id="555" name="文本框 554" descr="{&quot;isTemplate&quot;:true,&quot;type&quot;:&quot;text&quot;}"/>
          <p:cNvSpPr txBox="1"/>
          <p:nvPr/>
        </p:nvSpPr>
        <p:spPr>
          <a:xfrm>
            <a:off x="9791700" y="5362575"/>
            <a:ext cx="14859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B4560F"/>
                </a:solidFill>
                <a:latin typeface="微软雅黑" panose="020B0503020204020204" charset="-122"/>
                <a:ea typeface="微软雅黑" panose="020B0503020204020204" charset="-122"/>
              </a:rPr>
              <a:t>对应模块</a:t>
            </a:r>
            <a:endParaRPr lang="zh-CN" sz="825" spc="75">
              <a:solidFill>
                <a:srgbClr val="B456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9791700" y="5553075"/>
            <a:ext cx="1485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40" b="1">
                <a:solidFill>
                  <a:srgbClr val="D96B15"/>
                </a:solidFill>
                <a:latin typeface="微软雅黑" panose="020B0503020204020204" charset="-122"/>
                <a:ea typeface="微软雅黑" panose="020B0503020204020204" charset="-122"/>
              </a:rPr>
              <a:t>话术建议</a:t>
            </a:r>
            <a:endParaRPr lang="zh-CN" sz="940" b="1">
              <a:solidFill>
                <a:srgbClr val="D96B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7" name="文本框 556" descr="{&quot;isTemplate&quot;:true,&quot;type&quot;:&quot;text&quot;}"/>
          <p:cNvSpPr txBox="1"/>
          <p:nvPr/>
        </p:nvSpPr>
        <p:spPr>
          <a:xfrm>
            <a:off x="609600" y="6515100"/>
            <a:ext cx="3076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975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11201400" y="6515100"/>
            <a:ext cx="381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 panose="020B0604020202020204"/>
                <a:ea typeface="Arial" panose="020B0604020202020204"/>
              </a:rPr>
              <a:t>05 / 15</a:t>
            </a:r>
            <a:endParaRPr lang="en-US" sz="975">
              <a:solidFill>
                <a:srgbClr val="8494B4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矩形 5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</p:spPr>
        <p:txBody>
          <a:bodyPr/>
          <a:p/>
        </p:txBody>
      </p:sp>
      <p:sp>
        <p:nvSpPr>
          <p:cNvPr id="561" name="圆角矩形 560"/>
          <p:cNvSpPr/>
          <p:nvPr/>
        </p:nvSpPr>
        <p:spPr>
          <a:xfrm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819150" y="285750"/>
            <a:ext cx="5248275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经营驾驶舱：一眼看清</a:t>
            </a:r>
            <a:r>
              <a:rPr lang="en-US" sz="24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24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家门店的家底</a:t>
            </a:r>
            <a:endParaRPr lang="zh-CN" sz="24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819150" y="771525"/>
            <a:ext cx="52482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经营评分</a:t>
            </a:r>
            <a:r>
              <a:rPr lang="en-US" sz="97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转化漏斗</a:t>
            </a:r>
            <a:r>
              <a:rPr lang="en-US" sz="97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评价分析</a:t>
            </a:r>
            <a:r>
              <a:rPr lang="en-US" sz="97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星级分析</a:t>
            </a:r>
            <a:r>
              <a:rPr lang="en-US" sz="97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四维联动</a:t>
            </a:r>
            <a:endParaRPr lang="zh-CN" sz="975" spc="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64" name="图片 563"/>
          <p:cNvPicPr>
            <a:picLocks noChangeAspect="1"/>
          </p:cNvPicPr>
          <p:nvPr/>
        </p:nvPicPr>
        <p:blipFill>
          <a:blip r:embed="rId1">
            <a:alphaModFix amt="55000"/>
          </a:blip>
          <a:srcRect t="673" b="673"/>
          <a:stretch>
            <a:fillRect/>
          </a:stretch>
        </p:blipFill>
        <p:spPr>
          <a:xfrm>
            <a:off x="10458450" y="304800"/>
            <a:ext cx="1123950" cy="476250"/>
          </a:xfrm>
          <a:prstGeom prst="rect">
            <a:avLst/>
          </a:prstGeom>
        </p:spPr>
      </p:pic>
      <p:sp>
        <p:nvSpPr>
          <p:cNvPr id="565" name="圆角矩形 564"/>
          <p:cNvSpPr/>
          <p:nvPr/>
        </p:nvSpPr>
        <p:spPr>
          <a:xfrm>
            <a:off x="533400" y="1123950"/>
            <a:ext cx="6724650" cy="493395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228600" dist="57150" dir="5400000">
              <a:srgbClr val="0B2A6B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66" name="图片 565"/>
          <p:cNvPicPr>
            <a:picLocks noChangeAspect="1"/>
          </p:cNvPicPr>
          <p:nvPr/>
        </p:nvPicPr>
        <p:blipFill>
          <a:blip r:embed="rId2"/>
          <a:srcRect l="6952" r="6952"/>
          <a:stretch>
            <a:fillRect/>
          </a:stretch>
        </p:blipFill>
        <p:spPr>
          <a:xfrm>
            <a:off x="628650" y="1219200"/>
            <a:ext cx="6534150" cy="4743450"/>
          </a:xfrm>
          <a:prstGeom prst="roundRect">
            <a:avLst>
              <a:gd name="adj" fmla="val 1606"/>
            </a:avLst>
          </a:prstGeom>
        </p:spPr>
      </p:pic>
      <p:sp>
        <p:nvSpPr>
          <p:cNvPr id="567" name="圆角矩形 566"/>
          <p:cNvSpPr/>
          <p:nvPr/>
        </p:nvSpPr>
        <p:spPr>
          <a:xfrm>
            <a:off x="7448550" y="1123950"/>
            <a:ext cx="4210050" cy="1504950"/>
          </a:xfrm>
          <a:prstGeom prst="roundRect">
            <a:avLst>
              <a:gd name="adj" fmla="val 7595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3000000" scaled="1"/>
          </a:gradFill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7620000" y="1295400"/>
            <a:ext cx="3867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全部门店平均总分</a:t>
            </a:r>
            <a:endParaRPr lang="zh-CN" sz="900" spc="75">
              <a:solidFill>
                <a:srgbClr val="8FC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7620000" y="1476375"/>
            <a:ext cx="1152525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62.9</a:t>
            </a:r>
            <a:endParaRPr lang="en-US" sz="4650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8848725" y="186690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sz="1500">
              <a:solidFill>
                <a:srgbClr val="AD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文本框 570" descr="{&quot;isTemplate&quot;:true,&quot;type&quot;:&quot;text&quot;}"/>
          <p:cNvSpPr txBox="1"/>
          <p:nvPr/>
        </p:nvSpPr>
        <p:spPr>
          <a:xfrm>
            <a:off x="7620000" y="2247900"/>
            <a:ext cx="3867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累计总分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8306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最高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105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最低</a:t>
            </a:r>
            <a:r>
              <a:rPr lang="en-US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900">
                <a:solidFill>
                  <a:srgbClr val="B8D6F5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sz="900">
              <a:solidFill>
                <a:srgbClr val="B8D6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圆角矩形 571"/>
          <p:cNvSpPr/>
          <p:nvPr/>
        </p:nvSpPr>
        <p:spPr>
          <a:xfrm>
            <a:off x="7448550" y="272415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7581900" y="2828925"/>
            <a:ext cx="5334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服务质量</a:t>
            </a:r>
            <a:endParaRPr lang="zh-CN" sz="10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10953750" y="2828925"/>
            <a:ext cx="3524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16.6</a:t>
            </a:r>
            <a:endParaRPr lang="en-US" sz="1425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75" name="文本框 574" descr="{&quot;isTemplate&quot;:true,&quot;type&quot;:&quot;text&quot;}"/>
          <p:cNvSpPr txBox="1"/>
          <p:nvPr/>
        </p:nvSpPr>
        <p:spPr>
          <a:xfrm>
            <a:off x="11334750" y="2828925"/>
            <a:ext cx="190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sz="90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en-US" sz="900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7581900" y="3209925"/>
            <a:ext cx="39433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97 </a:t>
            </a:r>
            <a:r>
              <a:rPr lang="zh-CN" sz="82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家满分</a:t>
            </a:r>
            <a:endParaRPr lang="zh-CN" sz="825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圆角矩形 576"/>
          <p:cNvSpPr/>
          <p:nvPr/>
        </p:nvSpPr>
        <p:spPr>
          <a:xfrm>
            <a:off x="7448550" y="354330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7581900" y="3648075"/>
            <a:ext cx="5334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基础信息</a:t>
            </a:r>
            <a:endParaRPr lang="zh-CN" sz="10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9" name="文本框 578" descr="{&quot;isTemplate&quot;:true,&quot;type&quot;:&quot;text&quot;}"/>
          <p:cNvSpPr txBox="1"/>
          <p:nvPr/>
        </p:nvSpPr>
        <p:spPr>
          <a:xfrm>
            <a:off x="11049000" y="3648075"/>
            <a:ext cx="2571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7.3</a:t>
            </a:r>
            <a:endParaRPr lang="en-US" sz="1425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11334750" y="3648075"/>
            <a:ext cx="190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sz="90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sz="900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7581900" y="4029075"/>
            <a:ext cx="39433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62 </a:t>
            </a:r>
            <a:r>
              <a:rPr lang="zh-CN" sz="82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家满分</a:t>
            </a:r>
            <a:endParaRPr lang="zh-CN" sz="825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2" name="圆角矩形 581"/>
          <p:cNvSpPr/>
          <p:nvPr/>
        </p:nvSpPr>
        <p:spPr>
          <a:xfrm>
            <a:off x="7448550" y="436245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7581900" y="4467225"/>
            <a:ext cx="5334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商品货架</a:t>
            </a:r>
            <a:endParaRPr lang="zh-CN" sz="10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11096625" y="4467225"/>
            <a:ext cx="2095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19</a:t>
            </a:r>
            <a:endParaRPr lang="en-US" sz="1425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11334750" y="4467225"/>
            <a:ext cx="190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sz="90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lang="en-US" sz="900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6" name="文本框 585" descr="{&quot;isTemplate&quot;:true,&quot;type&quot;:&quot;text&quot;}"/>
          <p:cNvSpPr txBox="1"/>
          <p:nvPr/>
        </p:nvSpPr>
        <p:spPr>
          <a:xfrm>
            <a:off x="7581900" y="4848225"/>
            <a:ext cx="39433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61 </a:t>
            </a:r>
            <a:r>
              <a:rPr lang="zh-CN" sz="82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家满分</a:t>
            </a:r>
            <a:endParaRPr lang="zh-CN" sz="825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7" name="圆角矩形 586"/>
          <p:cNvSpPr/>
          <p:nvPr/>
        </p:nvSpPr>
        <p:spPr>
          <a:xfrm>
            <a:off x="7448550" y="518160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7581900" y="5286375"/>
            <a:ext cx="5334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交易表现</a:t>
            </a:r>
            <a:endParaRPr lang="zh-CN" sz="10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9" name="文本框 588" descr="{&quot;isTemplate&quot;:true,&quot;type&quot;:&quot;text&quot;}"/>
          <p:cNvSpPr txBox="1"/>
          <p:nvPr/>
        </p:nvSpPr>
        <p:spPr>
          <a:xfrm>
            <a:off x="10953750" y="5286375"/>
            <a:ext cx="3524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Arial" panose="020B0604020202020204"/>
                <a:ea typeface="Arial" panose="020B0604020202020204"/>
              </a:rPr>
              <a:t>18.1</a:t>
            </a:r>
            <a:endParaRPr lang="en-US" sz="1425" b="1">
              <a:solidFill>
                <a:srgbClr val="FF8A3D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11334750" y="5286375"/>
            <a:ext cx="190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sz="90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40</a:t>
            </a:r>
            <a:endParaRPr lang="en-US" sz="900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1" name="文本框 590" descr="{&quot;isTemplate&quot;:true,&quot;type&quot;:&quot;text&quot;}"/>
          <p:cNvSpPr txBox="1"/>
          <p:nvPr/>
        </p:nvSpPr>
        <p:spPr>
          <a:xfrm>
            <a:off x="7581900" y="5667375"/>
            <a:ext cx="39433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仅</a:t>
            </a:r>
            <a:r>
              <a:rPr lang="en-US" sz="82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 21 </a:t>
            </a:r>
            <a:r>
              <a:rPr lang="zh-CN" sz="82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家满分</a:t>
            </a:r>
            <a:endParaRPr lang="zh-CN" sz="825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2" name="圆角矩形 591"/>
          <p:cNvSpPr/>
          <p:nvPr/>
        </p:nvSpPr>
        <p:spPr>
          <a:xfrm>
            <a:off x="7581900" y="310515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</p:spPr>
        <p:txBody>
          <a:bodyPr/>
          <a:p/>
        </p:txBody>
      </p:sp>
      <p:sp>
        <p:nvSpPr>
          <p:cNvPr id="593" name="圆角矩形 592"/>
          <p:cNvSpPr/>
          <p:nvPr/>
        </p:nvSpPr>
        <p:spPr>
          <a:xfrm>
            <a:off x="7581900" y="3105150"/>
            <a:ext cx="3276600" cy="571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594" name="圆角矩形 593"/>
          <p:cNvSpPr/>
          <p:nvPr/>
        </p:nvSpPr>
        <p:spPr>
          <a:xfrm>
            <a:off x="7581900" y="392430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</p:spPr>
        <p:txBody>
          <a:bodyPr/>
          <a:p/>
        </p:txBody>
      </p:sp>
      <p:sp>
        <p:nvSpPr>
          <p:cNvPr id="595" name="圆角矩形 594"/>
          <p:cNvSpPr/>
          <p:nvPr/>
        </p:nvSpPr>
        <p:spPr>
          <a:xfrm>
            <a:off x="7581900" y="3924300"/>
            <a:ext cx="2876550" cy="571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596" name="圆角矩形 595"/>
          <p:cNvSpPr/>
          <p:nvPr/>
        </p:nvSpPr>
        <p:spPr>
          <a:xfrm>
            <a:off x="7581900" y="474345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</p:spPr>
        <p:txBody>
          <a:bodyPr/>
          <a:p/>
        </p:txBody>
      </p:sp>
      <p:sp>
        <p:nvSpPr>
          <p:cNvPr id="597" name="圆角矩形 596"/>
          <p:cNvSpPr/>
          <p:nvPr/>
        </p:nvSpPr>
        <p:spPr>
          <a:xfrm>
            <a:off x="7581900" y="4743450"/>
            <a:ext cx="2486025" cy="571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598" name="圆角矩形 597"/>
          <p:cNvSpPr/>
          <p:nvPr/>
        </p:nvSpPr>
        <p:spPr>
          <a:xfrm>
            <a:off x="7581900" y="556260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</p:spPr>
        <p:txBody>
          <a:bodyPr/>
          <a:p/>
        </p:txBody>
      </p:sp>
      <p:sp>
        <p:nvSpPr>
          <p:cNvPr id="599" name="圆角矩形 598"/>
          <p:cNvSpPr/>
          <p:nvPr/>
        </p:nvSpPr>
        <p:spPr>
          <a:xfrm>
            <a:off x="7581900" y="5562600"/>
            <a:ext cx="177165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</p:spPr>
        <p:txBody>
          <a:bodyPr/>
          <a:p/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609600" y="6534150"/>
            <a:ext cx="320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数据源：临沂爱尔眼科金水河畔店</a:t>
            </a:r>
            <a:r>
              <a:rPr lang="en-US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美团经营参谋真实数据</a:t>
            </a:r>
            <a:endParaRPr lang="zh-CN" sz="975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11201400" y="6534150"/>
            <a:ext cx="381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 panose="020B0604020202020204"/>
                <a:ea typeface="Arial" panose="020B0604020202020204"/>
              </a:rPr>
              <a:t>06 / 15</a:t>
            </a:r>
            <a:endParaRPr lang="en-US" sz="975">
              <a:solidFill>
                <a:srgbClr val="8494B4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矩形 6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</p:spPr>
        <p:txBody>
          <a:bodyPr/>
          <a:p/>
        </p:txBody>
      </p:sp>
      <p:sp>
        <p:nvSpPr>
          <p:cNvPr id="604" name="圆角矩形 603"/>
          <p:cNvSpPr/>
          <p:nvPr/>
        </p:nvSpPr>
        <p:spPr>
          <a:xfrm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605" name="文本框 604" descr="{&quot;isTemplate&quot;:true,&quot;type&quot;:&quot;text&quot;}"/>
          <p:cNvSpPr txBox="1"/>
          <p:nvPr/>
        </p:nvSpPr>
        <p:spPr>
          <a:xfrm>
            <a:off x="819150" y="247650"/>
            <a:ext cx="48387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门诊采集：</a:t>
            </a:r>
            <a:r>
              <a:rPr lang="en-US" sz="22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lang="zh-CN" sz="22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张截图，替代一张手填表</a:t>
            </a:r>
            <a:endParaRPr lang="zh-CN" sz="22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6" name="文本框 605" descr="{&quot;isTemplate&quot;:true,&quot;type&quot;:&quot;text&quot;}"/>
          <p:cNvSpPr txBox="1"/>
          <p:nvPr/>
        </p:nvSpPr>
        <p:spPr>
          <a:xfrm>
            <a:off x="819150" y="695325"/>
            <a:ext cx="483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按界面分图上传</a:t>
            </a:r>
            <a:r>
              <a:rPr lang="en-US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→ AI </a:t>
            </a: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识别提取</a:t>
            </a:r>
            <a:r>
              <a:rPr lang="en-US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生成诊断报告</a:t>
            </a:r>
            <a:endParaRPr lang="zh-CN" sz="940" spc="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07" name="图片 606"/>
          <p:cNvPicPr>
            <a:picLocks noChangeAspect="1"/>
          </p:cNvPicPr>
          <p:nvPr/>
        </p:nvPicPr>
        <p:blipFill>
          <a:blip r:embed="rId1">
            <a:alphaModFix amt="55000"/>
          </a:blip>
          <a:srcRect t="110" b="110"/>
          <a:stretch>
            <a:fillRect/>
          </a:stretch>
        </p:blipFill>
        <p:spPr>
          <a:xfrm>
            <a:off x="10515600" y="266700"/>
            <a:ext cx="1066800" cy="457200"/>
          </a:xfrm>
          <a:prstGeom prst="rect">
            <a:avLst/>
          </a:prstGeom>
        </p:spPr>
      </p:pic>
      <p:sp>
        <p:nvSpPr>
          <p:cNvPr id="608" name="圆角矩形 607"/>
          <p:cNvSpPr/>
          <p:nvPr/>
        </p:nvSpPr>
        <p:spPr>
          <a:xfrm>
            <a:off x="533400" y="1028700"/>
            <a:ext cx="5676900" cy="5048250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209550" dist="57150" dir="5400000">
              <a:srgbClr val="0B2A6B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609" name="图片 608"/>
          <p:cNvPicPr>
            <a:picLocks noChangeAspect="1"/>
          </p:cNvPicPr>
          <p:nvPr/>
        </p:nvPicPr>
        <p:blipFill>
          <a:blip r:embed="rId2"/>
          <a:srcRect l="14737" r="14737"/>
          <a:stretch>
            <a:fillRect/>
          </a:stretch>
        </p:blipFill>
        <p:spPr>
          <a:xfrm>
            <a:off x="609600" y="1104900"/>
            <a:ext cx="5524500" cy="4895850"/>
          </a:xfrm>
          <a:prstGeom prst="roundRect">
            <a:avLst>
              <a:gd name="adj" fmla="val 1362"/>
            </a:avLst>
          </a:prstGeom>
        </p:spPr>
      </p:pic>
      <p:sp>
        <p:nvSpPr>
          <p:cNvPr id="610" name="文本框 609" descr="{&quot;isTemplate&quot;:true,&quot;type&quot;:&quot;text&quot;}"/>
          <p:cNvSpPr txBox="1"/>
          <p:nvPr/>
        </p:nvSpPr>
        <p:spPr>
          <a:xfrm>
            <a:off x="6343650" y="1038225"/>
            <a:ext cx="1276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lang="zh-CN" sz="112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个界面，逐个对应</a:t>
            </a:r>
            <a:endParaRPr lang="zh-CN" sz="112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1" name="圆角矩形 610"/>
          <p:cNvSpPr/>
          <p:nvPr/>
        </p:nvSpPr>
        <p:spPr>
          <a:xfrm>
            <a:off x="9001125" y="1028700"/>
            <a:ext cx="752475" cy="180975"/>
          </a:xfrm>
          <a:prstGeom prst="roundRect">
            <a:avLst>
              <a:gd name="adj" fmla="val 21053"/>
            </a:avLst>
          </a:prstGeom>
          <a:solidFill>
            <a:srgbClr val="FF8A3D"/>
          </a:solidFill>
        </p:spPr>
        <p:txBody>
          <a:bodyPr/>
          <a:p/>
        </p:txBody>
      </p:sp>
      <p:sp>
        <p:nvSpPr>
          <p:cNvPr id="612" name="文本框 611" descr="{&quot;isTemplate&quot;:true,&quot;type&quot;:&quot;text&quot;}"/>
          <p:cNvSpPr txBox="1"/>
          <p:nvPr/>
        </p:nvSpPr>
        <p:spPr>
          <a:xfrm>
            <a:off x="9077325" y="1057275"/>
            <a:ext cx="600075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分图上传指引</a:t>
            </a:r>
            <a:endParaRPr lang="zh-CN" sz="7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3" name="圆角矩形 612"/>
          <p:cNvSpPr/>
          <p:nvPr/>
        </p:nvSpPr>
        <p:spPr>
          <a:xfrm>
            <a:off x="6372225" y="130492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614" name="任意多边形 613"/>
          <p:cNvSpPr/>
          <p:nvPr/>
        </p:nvSpPr>
        <p:spPr>
          <a:xfrm>
            <a:off x="6372225" y="1304925"/>
            <a:ext cx="3409950" cy="619125"/>
          </a:xfrm>
          <a:custGeom>
            <a:avLst/>
            <a:gdLst/>
            <a:ahLst/>
            <a:cxnLst/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615" name="圆角矩形 614"/>
          <p:cNvSpPr/>
          <p:nvPr/>
        </p:nvSpPr>
        <p:spPr>
          <a:xfrm>
            <a:off x="6486525" y="1514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</p:spPr>
        <p:txBody>
          <a:bodyPr/>
          <a:p/>
        </p:txBody>
      </p:sp>
      <p:sp>
        <p:nvSpPr>
          <p:cNvPr id="616" name="文本框 615" descr="{&quot;isTemplate&quot;:true,&quot;type&quot;:&quot;text&quot;}"/>
          <p:cNvSpPr txBox="1"/>
          <p:nvPr/>
        </p:nvSpPr>
        <p:spPr>
          <a:xfrm>
            <a:off x="6562725" y="1552575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1</a:t>
            </a:r>
            <a:endParaRPr lang="en-US" sz="825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17" name="文本框 616" descr="{&quot;isTemplate&quot;:true,&quot;type&quot;:&quot;text&quot;}"/>
          <p:cNvSpPr txBox="1"/>
          <p:nvPr/>
        </p:nvSpPr>
        <p:spPr>
          <a:xfrm>
            <a:off x="6791325" y="1447800"/>
            <a:ext cx="2847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4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星级概览</a:t>
            </a:r>
            <a:endParaRPr lang="zh-CN" sz="94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8" name="文本框 617" descr="{&quot;isTemplate&quot;:true,&quot;type&quot;:&quot;text&quot;}"/>
          <p:cNvSpPr txBox="1"/>
          <p:nvPr/>
        </p:nvSpPr>
        <p:spPr>
          <a:xfrm>
            <a:off x="6791325" y="1638300"/>
            <a:ext cx="2847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点评星级</a:t>
            </a:r>
            <a:r>
              <a:rPr lang="en-US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美团星级</a:t>
            </a:r>
            <a:r>
              <a:rPr lang="en-US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昨日新增评价</a:t>
            </a:r>
            <a:endParaRPr lang="zh-CN" sz="750">
              <a:solidFill>
                <a:srgbClr val="7A8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9" name="圆角矩形 618"/>
          <p:cNvSpPr/>
          <p:nvPr/>
        </p:nvSpPr>
        <p:spPr>
          <a:xfrm>
            <a:off x="6372225" y="2000250"/>
            <a:ext cx="34099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620" name="任意多边形 619"/>
          <p:cNvSpPr/>
          <p:nvPr/>
        </p:nvSpPr>
        <p:spPr>
          <a:xfrm>
            <a:off x="6372225" y="2000250"/>
            <a:ext cx="3409950" cy="609600"/>
          </a:xfrm>
          <a:custGeom>
            <a:avLst/>
            <a:gdLst/>
            <a:ahLst/>
            <a:cxnLst/>
            <a:pathLst>
              <a:path w="358" h="6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9"/>
                </a:lnTo>
                <a:cubicBezTo>
                  <a:pt x="3" y="61"/>
                  <a:pt x="5" y="63"/>
                  <a:pt x="7" y="64"/>
                </a:cubicBezTo>
                <a:cubicBezTo>
                  <a:pt x="3" y="63"/>
                  <a:pt x="0" y="60"/>
                  <a:pt x="0" y="5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621" name="圆角矩形 620"/>
          <p:cNvSpPr/>
          <p:nvPr/>
        </p:nvSpPr>
        <p:spPr>
          <a:xfrm>
            <a:off x="6486525" y="2200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</p:spPr>
        <p:txBody>
          <a:bodyPr/>
          <a:p/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6562725" y="2238375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2</a:t>
            </a:r>
            <a:endParaRPr lang="en-US" sz="825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23" name="文本框 622" descr="{&quot;isTemplate&quot;:true,&quot;type&quot;:&quot;text&quot;}"/>
          <p:cNvSpPr txBox="1"/>
          <p:nvPr/>
        </p:nvSpPr>
        <p:spPr>
          <a:xfrm>
            <a:off x="6791325" y="2133600"/>
            <a:ext cx="2847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4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评价数据</a:t>
            </a:r>
            <a:endParaRPr lang="zh-CN" sz="94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4" name="文本框 623" descr="{&quot;isTemplate&quot;:true,&quot;type&quot;:&quot;text&quot;}"/>
          <p:cNvSpPr txBox="1"/>
          <p:nvPr/>
        </p:nvSpPr>
        <p:spPr>
          <a:xfrm>
            <a:off x="6791325" y="2324100"/>
            <a:ext cx="2847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新增评价数</a:t>
            </a:r>
            <a:r>
              <a:rPr lang="en-US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累计评价数</a:t>
            </a:r>
            <a:r>
              <a:rPr lang="en-US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好评率</a:t>
            </a:r>
            <a:endParaRPr lang="zh-CN" sz="750">
              <a:solidFill>
                <a:srgbClr val="7A8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5" name="圆角矩形 624"/>
          <p:cNvSpPr/>
          <p:nvPr/>
        </p:nvSpPr>
        <p:spPr>
          <a:xfrm>
            <a:off x="6372225" y="2686050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626" name="任意多边形 625"/>
          <p:cNvSpPr/>
          <p:nvPr/>
        </p:nvSpPr>
        <p:spPr>
          <a:xfrm>
            <a:off x="6372225" y="2686050"/>
            <a:ext cx="3409950" cy="619125"/>
          </a:xfrm>
          <a:custGeom>
            <a:avLst/>
            <a:gdLst/>
            <a:ahLst/>
            <a:cxnLst/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627" name="圆角矩形 626"/>
          <p:cNvSpPr/>
          <p:nvPr/>
        </p:nvSpPr>
        <p:spPr>
          <a:xfrm>
            <a:off x="6486525" y="2895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</p:spPr>
        <p:txBody>
          <a:bodyPr/>
          <a:p/>
        </p:txBody>
      </p:sp>
      <p:sp>
        <p:nvSpPr>
          <p:cNvPr id="628" name="文本框 627" descr="{&quot;isTemplate&quot;:true,&quot;type&quot;:&quot;text&quot;}"/>
          <p:cNvSpPr txBox="1"/>
          <p:nvPr/>
        </p:nvSpPr>
        <p:spPr>
          <a:xfrm>
            <a:off x="6562725" y="2933700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3</a:t>
            </a:r>
            <a:endParaRPr lang="en-US" sz="825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29" name="文本框 628" descr="{&quot;isTemplate&quot;:true,&quot;type&quot;:&quot;text&quot;}"/>
          <p:cNvSpPr txBox="1"/>
          <p:nvPr/>
        </p:nvSpPr>
        <p:spPr>
          <a:xfrm>
            <a:off x="6791325" y="2828925"/>
            <a:ext cx="2847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4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客流数据</a:t>
            </a:r>
            <a:endParaRPr lang="zh-CN" sz="94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0" name="文本框 629" descr="{&quot;isTemplate&quot;:true,&quot;type&quot;:&quot;text&quot;}"/>
          <p:cNvSpPr txBox="1"/>
          <p:nvPr/>
        </p:nvSpPr>
        <p:spPr>
          <a:xfrm>
            <a:off x="6791325" y="3019425"/>
            <a:ext cx="2847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曝光人数</a:t>
            </a:r>
            <a:r>
              <a:rPr lang="en-US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访问人数</a:t>
            </a:r>
            <a:r>
              <a:rPr lang="en-US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意向转化</a:t>
            </a:r>
            <a:endParaRPr lang="zh-CN" sz="750">
              <a:solidFill>
                <a:srgbClr val="7A8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1" name="圆角矩形 630"/>
          <p:cNvSpPr/>
          <p:nvPr/>
        </p:nvSpPr>
        <p:spPr>
          <a:xfrm>
            <a:off x="6372225" y="338137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632" name="任意多边形 631"/>
          <p:cNvSpPr/>
          <p:nvPr/>
        </p:nvSpPr>
        <p:spPr>
          <a:xfrm>
            <a:off x="6372225" y="3381375"/>
            <a:ext cx="3409950" cy="619125"/>
          </a:xfrm>
          <a:custGeom>
            <a:avLst/>
            <a:gdLst/>
            <a:ahLst/>
            <a:cxnLst/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633" name="圆角矩形 632"/>
          <p:cNvSpPr/>
          <p:nvPr/>
        </p:nvSpPr>
        <p:spPr>
          <a:xfrm>
            <a:off x="6486525" y="35909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</p:spPr>
        <p:txBody>
          <a:bodyPr/>
          <a:p/>
        </p:txBody>
      </p:sp>
      <p:sp>
        <p:nvSpPr>
          <p:cNvPr id="634" name="文本框 633" descr="{&quot;isTemplate&quot;:true,&quot;type&quot;:&quot;text&quot;}"/>
          <p:cNvSpPr txBox="1"/>
          <p:nvPr/>
        </p:nvSpPr>
        <p:spPr>
          <a:xfrm>
            <a:off x="6562725" y="3629025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4</a:t>
            </a:r>
            <a:endParaRPr lang="en-US" sz="825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35" name="文本框 634" descr="{&quot;isTemplate&quot;:true,&quot;type&quot;:&quot;text&quot;}"/>
          <p:cNvSpPr txBox="1"/>
          <p:nvPr/>
        </p:nvSpPr>
        <p:spPr>
          <a:xfrm>
            <a:off x="6791325" y="3524250"/>
            <a:ext cx="2847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4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交易数据</a:t>
            </a:r>
            <a:endParaRPr lang="zh-CN" sz="94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6" name="文本框 635" descr="{&quot;isTemplate&quot;:true,&quot;type&quot;:&quot;text&quot;}"/>
          <p:cNvSpPr txBox="1"/>
          <p:nvPr/>
        </p:nvSpPr>
        <p:spPr>
          <a:xfrm>
            <a:off x="6791325" y="3714750"/>
            <a:ext cx="2847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下单人数</a:t>
            </a:r>
            <a:r>
              <a:rPr lang="en-US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成交金额</a:t>
            </a:r>
            <a:r>
              <a:rPr lang="en-US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客单价</a:t>
            </a:r>
            <a:endParaRPr lang="zh-CN" sz="750">
              <a:solidFill>
                <a:srgbClr val="7A8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7" name="圆角矩形 636"/>
          <p:cNvSpPr/>
          <p:nvPr/>
        </p:nvSpPr>
        <p:spPr>
          <a:xfrm>
            <a:off x="6372225" y="4076700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638" name="任意多边形 637"/>
          <p:cNvSpPr/>
          <p:nvPr/>
        </p:nvSpPr>
        <p:spPr>
          <a:xfrm>
            <a:off x="6372225" y="4076700"/>
            <a:ext cx="3409950" cy="619125"/>
          </a:xfrm>
          <a:custGeom>
            <a:avLst/>
            <a:gdLst/>
            <a:ahLst/>
            <a:cxnLst/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639" name="圆角矩形 638"/>
          <p:cNvSpPr/>
          <p:nvPr/>
        </p:nvSpPr>
        <p:spPr>
          <a:xfrm>
            <a:off x="6486525" y="4286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</p:spPr>
        <p:txBody>
          <a:bodyPr/>
          <a:p/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6562725" y="4324350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 panose="020B0604020202020204"/>
                <a:ea typeface="Arial" panose="020B0604020202020204"/>
              </a:rPr>
              <a:t>5</a:t>
            </a:r>
            <a:endParaRPr lang="en-US" sz="825" b="1">
              <a:solidFill>
                <a:srgbClr val="0E93C4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6791325" y="4219575"/>
            <a:ext cx="2847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4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经营评分</a:t>
            </a:r>
            <a:endParaRPr lang="zh-CN" sz="94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2" name="文本框 641" descr="{&quot;isTemplate&quot;:true,&quot;type&quot;:&quot;text&quot;}"/>
          <p:cNvSpPr txBox="1"/>
          <p:nvPr/>
        </p:nvSpPr>
        <p:spPr>
          <a:xfrm>
            <a:off x="6791325" y="4410075"/>
            <a:ext cx="2847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交易表现</a:t>
            </a:r>
            <a:r>
              <a:rPr lang="en-US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服务质量分项得分</a:t>
            </a:r>
            <a:endParaRPr lang="zh-CN" sz="750">
              <a:solidFill>
                <a:srgbClr val="7A8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3" name="圆角矩形 642"/>
          <p:cNvSpPr/>
          <p:nvPr/>
        </p:nvSpPr>
        <p:spPr>
          <a:xfrm>
            <a:off x="6372225" y="4772025"/>
            <a:ext cx="34099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644" name="任意多边形 643"/>
          <p:cNvSpPr/>
          <p:nvPr/>
        </p:nvSpPr>
        <p:spPr>
          <a:xfrm>
            <a:off x="6372225" y="4772025"/>
            <a:ext cx="3409950" cy="609600"/>
          </a:xfrm>
          <a:custGeom>
            <a:avLst/>
            <a:gdLst/>
            <a:ahLst/>
            <a:cxnLst/>
            <a:pathLst>
              <a:path w="358" h="6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9"/>
                </a:lnTo>
                <a:cubicBezTo>
                  <a:pt x="3" y="61"/>
                  <a:pt x="5" y="63"/>
                  <a:pt x="7" y="64"/>
                </a:cubicBezTo>
                <a:cubicBezTo>
                  <a:pt x="3" y="63"/>
                  <a:pt x="0" y="60"/>
                  <a:pt x="0" y="5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645" name="圆角矩形 644"/>
          <p:cNvSpPr/>
          <p:nvPr/>
        </p:nvSpPr>
        <p:spPr>
          <a:xfrm>
            <a:off x="6486525" y="49720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</p:spPr>
        <p:txBody>
          <a:bodyPr/>
          <a:p/>
        </p:txBody>
      </p:sp>
      <p:sp>
        <p:nvSpPr>
          <p:cNvPr id="646" name="文本框 645" descr="{&quot;isTemplate&quot;:true,&quot;type&quot;:&quot;text&quot;}"/>
          <p:cNvSpPr txBox="1"/>
          <p:nvPr/>
        </p:nvSpPr>
        <p:spPr>
          <a:xfrm>
            <a:off x="6562725" y="5010150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 panose="020B0604020202020204"/>
                <a:ea typeface="Arial" panose="020B0604020202020204"/>
              </a:rPr>
              <a:t>6</a:t>
            </a:r>
            <a:endParaRPr lang="en-US" sz="825" b="1">
              <a:solidFill>
                <a:srgbClr val="0E93C4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47" name="文本框 646" descr="{&quot;isTemplate&quot;:true,&quot;type&quot;:&quot;text&quot;}"/>
          <p:cNvSpPr txBox="1"/>
          <p:nvPr/>
        </p:nvSpPr>
        <p:spPr>
          <a:xfrm>
            <a:off x="6791325" y="4905375"/>
            <a:ext cx="2847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4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基础信息</a:t>
            </a:r>
            <a:endParaRPr lang="zh-CN" sz="94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8" name="文本框 647" descr="{&quot;isTemplate&quot;:true,&quot;type&quot;:&quot;text&quot;}"/>
          <p:cNvSpPr txBox="1"/>
          <p:nvPr/>
        </p:nvSpPr>
        <p:spPr>
          <a:xfrm>
            <a:off x="6791325" y="5095875"/>
            <a:ext cx="2847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门店名称</a:t>
            </a:r>
            <a:r>
              <a:rPr lang="en-US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地址</a:t>
            </a:r>
            <a:r>
              <a:rPr lang="en-US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营业时间</a:t>
            </a:r>
            <a:endParaRPr lang="zh-CN" sz="750">
              <a:solidFill>
                <a:srgbClr val="7A8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9" name="圆角矩形 648"/>
          <p:cNvSpPr/>
          <p:nvPr/>
        </p:nvSpPr>
        <p:spPr>
          <a:xfrm>
            <a:off x="6372225" y="545782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650" name="任意多边形 649"/>
          <p:cNvSpPr/>
          <p:nvPr/>
        </p:nvSpPr>
        <p:spPr>
          <a:xfrm>
            <a:off x="6372225" y="5457825"/>
            <a:ext cx="3409950" cy="619125"/>
          </a:xfrm>
          <a:custGeom>
            <a:avLst/>
            <a:gdLst/>
            <a:ahLst/>
            <a:cxnLst/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651" name="圆角矩形 650"/>
          <p:cNvSpPr/>
          <p:nvPr/>
        </p:nvSpPr>
        <p:spPr>
          <a:xfrm>
            <a:off x="6486525" y="56673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</p:spPr>
        <p:txBody>
          <a:bodyPr/>
          <a:p/>
        </p:txBody>
      </p:sp>
      <p:sp>
        <p:nvSpPr>
          <p:cNvPr id="652" name="文本框 651" descr="{&quot;isTemplate&quot;:true,&quot;type&quot;:&quot;text&quot;}"/>
          <p:cNvSpPr txBox="1"/>
          <p:nvPr/>
        </p:nvSpPr>
        <p:spPr>
          <a:xfrm>
            <a:off x="6562725" y="5705475"/>
            <a:ext cx="666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 panose="020B0604020202020204"/>
                <a:ea typeface="Arial" panose="020B0604020202020204"/>
              </a:rPr>
              <a:t>7</a:t>
            </a:r>
            <a:endParaRPr lang="en-US" sz="825" b="1">
              <a:solidFill>
                <a:srgbClr val="0E93C4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53" name="文本框 652" descr="{&quot;isTemplate&quot;:true,&quot;type&quot;:&quot;text&quot;}"/>
          <p:cNvSpPr txBox="1"/>
          <p:nvPr/>
        </p:nvSpPr>
        <p:spPr>
          <a:xfrm>
            <a:off x="6791325" y="5600700"/>
            <a:ext cx="2847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4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服务质量</a:t>
            </a:r>
            <a:endParaRPr lang="zh-CN" sz="94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4" name="文本框 653" descr="{&quot;isTemplate&quot;:true,&quot;type&quot;:&quot;text&quot;}"/>
          <p:cNvSpPr txBox="1"/>
          <p:nvPr/>
        </p:nvSpPr>
        <p:spPr>
          <a:xfrm>
            <a:off x="6791325" y="5791200"/>
            <a:ext cx="2847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响应速度</a:t>
            </a:r>
            <a:r>
              <a:rPr lang="en-US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5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履约完成率</a:t>
            </a:r>
            <a:endParaRPr lang="zh-CN" sz="750">
              <a:solidFill>
                <a:srgbClr val="7A8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" name="圆角矩形 654"/>
          <p:cNvSpPr/>
          <p:nvPr/>
        </p:nvSpPr>
        <p:spPr>
          <a:xfrm>
            <a:off x="9886950" y="1028700"/>
            <a:ext cx="1771650" cy="320040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effectLst>
            <a:outerShdw blurRad="152400" dist="38100" dir="5400000">
              <a:srgbClr val="0B2A6B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56" name="矩形 655"/>
          <p:cNvSpPr/>
          <p:nvPr/>
        </p:nvSpPr>
        <p:spPr>
          <a:xfrm>
            <a:off x="9972675" y="1104900"/>
            <a:ext cx="1600200" cy="3048000"/>
          </a:xfrm>
          <a:prstGeom prst="rect">
            <a:avLst/>
          </a:prstGeom>
          <a:ln w="38100">
            <a:solidFill>
              <a:srgbClr val="0B2A6B"/>
            </a:solidFill>
            <a:prstDash val="solid"/>
          </a:ln>
        </p:spPr>
        <p:txBody>
          <a:bodyPr/>
          <a:p/>
        </p:txBody>
      </p:sp>
      <p:pic>
        <p:nvPicPr>
          <p:cNvPr id="657" name="图片 656"/>
          <p:cNvPicPr>
            <a:picLocks noChangeAspect="1"/>
          </p:cNvPicPr>
          <p:nvPr/>
        </p:nvPicPr>
        <p:blipFill>
          <a:blip r:embed="rId3"/>
          <a:srcRect t="5994" b="5994"/>
          <a:stretch>
            <a:fillRect/>
          </a:stretch>
        </p:blipFill>
        <p:spPr>
          <a:xfrm>
            <a:off x="9972675" y="1104900"/>
            <a:ext cx="1600200" cy="3048000"/>
          </a:xfrm>
          <a:prstGeom prst="roundRect">
            <a:avLst>
              <a:gd name="adj" fmla="val 4762"/>
            </a:avLst>
          </a:prstGeom>
        </p:spPr>
      </p:pic>
      <p:sp>
        <p:nvSpPr>
          <p:cNvPr id="658" name="圆角矩形 657"/>
          <p:cNvSpPr/>
          <p:nvPr/>
        </p:nvSpPr>
        <p:spPr>
          <a:xfrm>
            <a:off x="9886950" y="4324350"/>
            <a:ext cx="1771650" cy="1752600"/>
          </a:xfrm>
          <a:prstGeom prst="roundRect">
            <a:avLst>
              <a:gd name="adj" fmla="val 5435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3000000" scaled="1"/>
          </a:gradFill>
        </p:spPr>
        <p:txBody>
          <a:bodyPr/>
          <a:p/>
        </p:txBody>
      </p:sp>
      <p:sp>
        <p:nvSpPr>
          <p:cNvPr id="659" name="文本框 658" descr="{&quot;isTemplate&quot;:true,&quot;type&quot;:&quot;text&quot;}"/>
          <p:cNvSpPr txBox="1"/>
          <p:nvPr/>
        </p:nvSpPr>
        <p:spPr>
          <a:xfrm>
            <a:off x="10020300" y="4457700"/>
            <a:ext cx="1504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店长在手机上就能做完</a:t>
            </a:r>
            <a:endParaRPr lang="zh-CN" sz="940" b="1">
              <a:solidFill>
                <a:srgbClr val="35C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0" name="文本框 659" descr="{&quot;isTemplate&quot;:true,&quot;type&quot;:&quot;text&quot;}"/>
          <p:cNvSpPr txBox="1"/>
          <p:nvPr/>
        </p:nvSpPr>
        <p:spPr>
          <a:xfrm>
            <a:off x="10020300" y="4667250"/>
            <a:ext cx="150495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790">
                <a:solidFill>
                  <a:srgbClr val="C8D9F5"/>
                </a:solidFill>
                <a:latin typeface="微软雅黑" panose="020B0503020204020204" charset="-122"/>
                <a:ea typeface="微软雅黑" panose="020B0503020204020204" charset="-122"/>
              </a:rPr>
              <a:t>414px </a:t>
            </a:r>
            <a:r>
              <a:rPr lang="zh-CN" sz="790">
                <a:solidFill>
                  <a:srgbClr val="C8D9F5"/>
                </a:solidFill>
                <a:latin typeface="微软雅黑" panose="020B0503020204020204" charset="-122"/>
                <a:ea typeface="微软雅黑" panose="020B0503020204020204" charset="-122"/>
              </a:rPr>
              <a:t>视口适配，支持相机拍照、相册选图、剪贴板粘贴，底部常驻操作条，不用回办公室开电脑。</a:t>
            </a:r>
            <a:endParaRPr lang="zh-CN" sz="790">
              <a:solidFill>
                <a:srgbClr val="C8D9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1" name="文本框 660" descr="{&quot;isTemplate&quot;:true,&quot;type&quot;:&quot;text&quot;}"/>
          <p:cNvSpPr txBox="1"/>
          <p:nvPr/>
        </p:nvSpPr>
        <p:spPr>
          <a:xfrm>
            <a:off x="609600" y="6562725"/>
            <a:ext cx="2962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940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2" name="文本框 661" descr="{&quot;isTemplate&quot;:true,&quot;type&quot;:&quot;text&quot;}"/>
          <p:cNvSpPr txBox="1"/>
          <p:nvPr/>
        </p:nvSpPr>
        <p:spPr>
          <a:xfrm>
            <a:off x="11210925" y="6562725"/>
            <a:ext cx="3714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8494B4"/>
                </a:solidFill>
                <a:latin typeface="Arial" panose="020B0604020202020204"/>
                <a:ea typeface="Arial" panose="020B0604020202020204"/>
              </a:rPr>
              <a:t>07 / 15</a:t>
            </a:r>
            <a:endParaRPr lang="en-US" sz="940">
              <a:solidFill>
                <a:srgbClr val="8494B4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矩形 6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</p:spPr>
        <p:txBody>
          <a:bodyPr/>
          <a:p/>
        </p:txBody>
      </p:sp>
      <p:sp>
        <p:nvSpPr>
          <p:cNvPr id="665" name="任意多边形 664"/>
          <p:cNvSpPr/>
          <p:nvPr/>
        </p:nvSpPr>
        <p:spPr>
          <a:xfrm>
            <a:off x="7048500" y="-1143000"/>
            <a:ext cx="5905500" cy="5905500"/>
          </a:xfrm>
          <a:custGeom>
            <a:avLst/>
            <a:gdLst/>
            <a:ahLst/>
            <a:cxnLst/>
            <a:pathLst>
              <a:path w="620" h="620">
                <a:moveTo>
                  <a:pt x="540" y="620"/>
                </a:moveTo>
                <a:lnTo>
                  <a:pt x="0" y="620"/>
                </a:lnTo>
                <a:lnTo>
                  <a:pt x="0" y="120"/>
                </a:lnTo>
                <a:lnTo>
                  <a:pt x="540" y="120"/>
                </a:lnTo>
                <a:close/>
              </a:path>
            </a:pathLst>
          </a:custGeom>
          <a:gradFill>
            <a:gsLst>
              <a:gs pos="0">
                <a:srgbClr val="35C8F0">
                  <a:alpha val="20000"/>
                </a:srgbClr>
              </a:gs>
              <a:gs pos="68000">
                <a:srgbClr val="35C8F0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666" name="圆角矩形 665"/>
          <p:cNvSpPr/>
          <p:nvPr/>
        </p:nvSpPr>
        <p:spPr>
          <a:xfrm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667" name="文本框 666" descr="{&quot;isTemplate&quot;:true,&quot;type&quot;:&quot;text&quot;}"/>
          <p:cNvSpPr txBox="1"/>
          <p:nvPr/>
        </p:nvSpPr>
        <p:spPr>
          <a:xfrm>
            <a:off x="819150" y="247650"/>
            <a:ext cx="41719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内容生产：从</a:t>
            </a:r>
            <a:r>
              <a:rPr 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小时到分钟级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8" name="文本框 667" descr="{&quot;isTemplate&quot;:true,&quot;type&quot;:&quot;text&quot;}"/>
          <p:cNvSpPr txBox="1"/>
          <p:nvPr/>
        </p:nvSpPr>
        <p:spPr>
          <a:xfrm>
            <a:off x="819150" y="695325"/>
            <a:ext cx="4171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文案</a:t>
            </a:r>
            <a:r>
              <a:rPr lang="en-US" sz="94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套图</a:t>
            </a:r>
            <a:r>
              <a:rPr lang="en-US" sz="94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主图诊断</a:t>
            </a:r>
            <a:r>
              <a:rPr lang="en-US" sz="94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文案优化</a:t>
            </a:r>
            <a:r>
              <a:rPr lang="en-US" sz="94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话术建议，五件套全在同一个工作台</a:t>
            </a:r>
            <a:endParaRPr lang="zh-CN" sz="940" spc="75">
              <a:solidFill>
                <a:srgbClr val="8FC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69" name="图片 668"/>
          <p:cNvPicPr>
            <a:picLocks noChangeAspect="1"/>
          </p:cNvPicPr>
          <p:nvPr/>
        </p:nvPicPr>
        <p:blipFill>
          <a:blip r:embed="rId1">
            <a:alphaModFix amt="38000"/>
          </a:blip>
          <a:srcRect t="110" b="110"/>
          <a:stretch>
            <a:fillRect/>
          </a:stretch>
        </p:blipFill>
        <p:spPr>
          <a:xfrm>
            <a:off x="10515600" y="266700"/>
            <a:ext cx="1066800" cy="457200"/>
          </a:xfrm>
          <a:prstGeom prst="rect">
            <a:avLst/>
          </a:prstGeom>
        </p:spPr>
      </p:pic>
      <p:sp>
        <p:nvSpPr>
          <p:cNvPr id="670" name="圆角矩形 669"/>
          <p:cNvSpPr/>
          <p:nvPr/>
        </p:nvSpPr>
        <p:spPr>
          <a:xfrm>
            <a:off x="533400" y="990600"/>
            <a:ext cx="6000750" cy="2457450"/>
          </a:xfrm>
          <a:prstGeom prst="roundRect">
            <a:avLst>
              <a:gd name="adj" fmla="val 348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71" name="图片 670"/>
          <p:cNvPicPr>
            <a:picLocks noChangeAspect="1"/>
          </p:cNvPicPr>
          <p:nvPr/>
        </p:nvPicPr>
        <p:blipFill>
          <a:blip r:embed="rId2"/>
          <a:srcRect t="18155" b="18155"/>
          <a:stretch>
            <a:fillRect/>
          </a:stretch>
        </p:blipFill>
        <p:spPr>
          <a:xfrm>
            <a:off x="590550" y="1047750"/>
            <a:ext cx="5886450" cy="2343150"/>
          </a:xfrm>
          <a:prstGeom prst="roundRect">
            <a:avLst>
              <a:gd name="adj" fmla="val 2033"/>
            </a:avLst>
          </a:prstGeom>
        </p:spPr>
      </p:pic>
      <p:sp>
        <p:nvSpPr>
          <p:cNvPr id="672" name="圆角矩形 671"/>
          <p:cNvSpPr/>
          <p:nvPr/>
        </p:nvSpPr>
        <p:spPr>
          <a:xfrm>
            <a:off x="533400" y="3533775"/>
            <a:ext cx="2962275" cy="2266950"/>
          </a:xfrm>
          <a:prstGeom prst="roundRect">
            <a:avLst>
              <a:gd name="adj" fmla="val 37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73" name="图片 672"/>
          <p:cNvPicPr>
            <a:picLocks noChangeAspect="1"/>
          </p:cNvPicPr>
          <p:nvPr/>
        </p:nvPicPr>
        <p:blipFill>
          <a:blip r:embed="rId3"/>
          <a:srcRect l="8655" r="8655"/>
          <a:stretch>
            <a:fillRect/>
          </a:stretch>
        </p:blipFill>
        <p:spPr>
          <a:xfrm>
            <a:off x="590550" y="3590925"/>
            <a:ext cx="2847975" cy="2152650"/>
          </a:xfrm>
          <a:prstGeom prst="roundRect">
            <a:avLst>
              <a:gd name="adj" fmla="val 2212"/>
            </a:avLst>
          </a:prstGeom>
        </p:spPr>
      </p:pic>
      <p:sp>
        <p:nvSpPr>
          <p:cNvPr id="674" name="圆角矩形 673"/>
          <p:cNvSpPr/>
          <p:nvPr/>
        </p:nvSpPr>
        <p:spPr>
          <a:xfrm>
            <a:off x="3581400" y="3533775"/>
            <a:ext cx="2952750" cy="2266950"/>
          </a:xfrm>
          <a:prstGeom prst="roundRect">
            <a:avLst>
              <a:gd name="adj" fmla="val 37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75" name="图片 674"/>
          <p:cNvPicPr>
            <a:picLocks noChangeAspect="1"/>
          </p:cNvPicPr>
          <p:nvPr/>
        </p:nvPicPr>
        <p:blipFill>
          <a:blip r:embed="rId4"/>
          <a:srcRect l="8794" r="8794"/>
          <a:stretch>
            <a:fillRect/>
          </a:stretch>
        </p:blipFill>
        <p:spPr>
          <a:xfrm>
            <a:off x="3638550" y="3590925"/>
            <a:ext cx="2838450" cy="2152650"/>
          </a:xfrm>
          <a:prstGeom prst="roundRect">
            <a:avLst>
              <a:gd name="adj" fmla="val 2212"/>
            </a:avLst>
          </a:prstGeom>
        </p:spPr>
      </p:pic>
      <p:sp>
        <p:nvSpPr>
          <p:cNvPr id="676" name="圆角矩形 675"/>
          <p:cNvSpPr/>
          <p:nvPr/>
        </p:nvSpPr>
        <p:spPr>
          <a:xfrm>
            <a:off x="6715125" y="990600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</p:spPr>
        <p:txBody>
          <a:bodyPr/>
          <a:p/>
        </p:txBody>
      </p:sp>
      <p:sp>
        <p:nvSpPr>
          <p:cNvPr id="677" name="任意多边形 676"/>
          <p:cNvSpPr/>
          <p:nvPr/>
        </p:nvSpPr>
        <p:spPr>
          <a:xfrm>
            <a:off x="6715125" y="990600"/>
            <a:ext cx="4972050" cy="781050"/>
          </a:xfrm>
          <a:custGeom>
            <a:avLst/>
            <a:gdLst/>
            <a:ahLst/>
            <a:cxnLst/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678" name="文本框 677" descr="{&quot;isTemplate&quot;:true,&quot;type&quot;:&quot;text&quot;}"/>
          <p:cNvSpPr txBox="1"/>
          <p:nvPr/>
        </p:nvSpPr>
        <p:spPr>
          <a:xfrm>
            <a:off x="6848475" y="11906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文案生成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9" name="圆角矩形 678"/>
          <p:cNvSpPr/>
          <p:nvPr/>
        </p:nvSpPr>
        <p:spPr>
          <a:xfrm>
            <a:off x="7496175" y="121920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</p:spPr>
        <p:txBody>
          <a:bodyPr/>
          <a:p/>
        </p:txBody>
      </p:sp>
      <p:sp>
        <p:nvSpPr>
          <p:cNvPr id="680" name="文本框 679" descr="{&quot;isTemplate&quot;:true,&quot;type&quot;:&quot;text&quot;}"/>
          <p:cNvSpPr txBox="1"/>
          <p:nvPr/>
        </p:nvSpPr>
        <p:spPr>
          <a:xfrm>
            <a:off x="7543800" y="1228725"/>
            <a:ext cx="314325" cy="104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REQ-03</a:t>
            </a:r>
            <a:endParaRPr lang="en-US" sz="675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81" name="文本框 680" descr="{&quot;isTemplate&quot;:true,&quot;type&quot;:&quot;text&quot;}"/>
          <p:cNvSpPr txBox="1"/>
          <p:nvPr/>
        </p:nvSpPr>
        <p:spPr>
          <a:xfrm>
            <a:off x="6848475" y="1390650"/>
            <a:ext cx="46767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按项目</a:t>
            </a:r>
            <a:r>
              <a:rPr lang="en-US" sz="825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825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人群</a:t>
            </a:r>
            <a:r>
              <a:rPr lang="en-US" sz="825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825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语气出多版本文案，直接可用</a:t>
            </a:r>
            <a:endParaRPr lang="zh-CN" sz="825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2" name="圆角矩形 681"/>
          <p:cNvSpPr/>
          <p:nvPr/>
        </p:nvSpPr>
        <p:spPr>
          <a:xfrm>
            <a:off x="6715125" y="1857375"/>
            <a:ext cx="4972050" cy="77152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</p:spPr>
        <p:txBody>
          <a:bodyPr/>
          <a:p/>
        </p:txBody>
      </p:sp>
      <p:sp>
        <p:nvSpPr>
          <p:cNvPr id="683" name="任意多边形 682"/>
          <p:cNvSpPr/>
          <p:nvPr/>
        </p:nvSpPr>
        <p:spPr>
          <a:xfrm>
            <a:off x="6715125" y="1857375"/>
            <a:ext cx="4972050" cy="771525"/>
          </a:xfrm>
          <a:custGeom>
            <a:avLst/>
            <a:gdLst/>
            <a:ahLst/>
            <a:cxnLst/>
            <a:pathLst>
              <a:path w="522" h="81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5"/>
                </a:lnTo>
                <a:cubicBezTo>
                  <a:pt x="3" y="78"/>
                  <a:pt x="5" y="80"/>
                  <a:pt x="8" y="81"/>
                </a:cubicBezTo>
                <a:cubicBezTo>
                  <a:pt x="3" y="80"/>
                  <a:pt x="0" y="76"/>
                  <a:pt x="0" y="7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684" name="文本框 683" descr="{&quot;isTemplate&quot;:true,&quot;type&quot;:&quot;text&quot;}"/>
          <p:cNvSpPr txBox="1"/>
          <p:nvPr/>
        </p:nvSpPr>
        <p:spPr>
          <a:xfrm>
            <a:off x="6848475" y="20478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套图生成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5" name="圆角矩形 684"/>
          <p:cNvSpPr/>
          <p:nvPr/>
        </p:nvSpPr>
        <p:spPr>
          <a:xfrm>
            <a:off x="7496175" y="207645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</p:spPr>
        <p:txBody>
          <a:bodyPr/>
          <a:p/>
        </p:txBody>
      </p:sp>
      <p:sp>
        <p:nvSpPr>
          <p:cNvPr id="686" name="文本框 685" descr="{&quot;isTemplate&quot;:true,&quot;type&quot;:&quot;text&quot;}"/>
          <p:cNvSpPr txBox="1"/>
          <p:nvPr/>
        </p:nvSpPr>
        <p:spPr>
          <a:xfrm>
            <a:off x="7543800" y="2085975"/>
            <a:ext cx="314325" cy="104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REQ-03</a:t>
            </a:r>
            <a:endParaRPr lang="en-US" sz="675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87" name="文本框 686" descr="{&quot;isTemplate&quot;:true,&quot;type&quot;:&quot;text&quot;}"/>
          <p:cNvSpPr txBox="1"/>
          <p:nvPr/>
        </p:nvSpPr>
        <p:spPr>
          <a:xfrm>
            <a:off x="6848475" y="2247900"/>
            <a:ext cx="46767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Seedream </a:t>
            </a:r>
            <a:r>
              <a:rPr lang="zh-CN" sz="825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批量出图，统一集团品牌视觉与尺寸规范</a:t>
            </a:r>
            <a:endParaRPr lang="zh-CN" sz="825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8" name="圆角矩形 687"/>
          <p:cNvSpPr/>
          <p:nvPr/>
        </p:nvSpPr>
        <p:spPr>
          <a:xfrm>
            <a:off x="6715125" y="2714625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</p:spPr>
        <p:txBody>
          <a:bodyPr/>
          <a:p/>
        </p:txBody>
      </p:sp>
      <p:sp>
        <p:nvSpPr>
          <p:cNvPr id="689" name="任意多边形 688"/>
          <p:cNvSpPr/>
          <p:nvPr/>
        </p:nvSpPr>
        <p:spPr>
          <a:xfrm>
            <a:off x="6715125" y="2714625"/>
            <a:ext cx="4972050" cy="781050"/>
          </a:xfrm>
          <a:custGeom>
            <a:avLst/>
            <a:gdLst/>
            <a:ahLst/>
            <a:cxnLst/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ADE8FF"/>
          </a:solidFill>
        </p:spPr>
        <p:txBody>
          <a:bodyPr/>
          <a:p/>
        </p:txBody>
      </p:sp>
      <p:sp>
        <p:nvSpPr>
          <p:cNvPr id="690" name="文本框 689" descr="{&quot;isTemplate&quot;:true,&quot;type&quot;:&quot;text&quot;}"/>
          <p:cNvSpPr txBox="1"/>
          <p:nvPr/>
        </p:nvSpPr>
        <p:spPr>
          <a:xfrm>
            <a:off x="6848475" y="291465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主图诊断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1" name="圆角矩形 690"/>
          <p:cNvSpPr/>
          <p:nvPr/>
        </p:nvSpPr>
        <p:spPr>
          <a:xfrm>
            <a:off x="7496175" y="2943225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</p:spPr>
        <p:txBody>
          <a:bodyPr/>
          <a:p/>
        </p:txBody>
      </p:sp>
      <p:sp>
        <p:nvSpPr>
          <p:cNvPr id="692" name="文本框 691" descr="{&quot;isTemplate&quot;:true,&quot;type&quot;:&quot;text&quot;}"/>
          <p:cNvSpPr txBox="1"/>
          <p:nvPr/>
        </p:nvSpPr>
        <p:spPr>
          <a:xfrm>
            <a:off x="7543800" y="2952750"/>
            <a:ext cx="314325" cy="104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ADE8FF"/>
                </a:solidFill>
                <a:latin typeface="Arial" panose="020B0604020202020204"/>
                <a:ea typeface="Arial" panose="020B0604020202020204"/>
              </a:rPr>
              <a:t>REQ-03</a:t>
            </a:r>
            <a:endParaRPr lang="en-US" sz="675" b="1">
              <a:solidFill>
                <a:srgbClr val="ADE8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93" name="文本框 692" descr="{&quot;isTemplate&quot;:true,&quot;type&quot;:&quot;text&quot;}"/>
          <p:cNvSpPr txBox="1"/>
          <p:nvPr/>
        </p:nvSpPr>
        <p:spPr>
          <a:xfrm>
            <a:off x="6848475" y="3114675"/>
            <a:ext cx="46767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构图、卖点、合规三维打分，指出具体改哪一处</a:t>
            </a:r>
            <a:endParaRPr lang="zh-CN" sz="825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4" name="圆角矩形 693"/>
          <p:cNvSpPr/>
          <p:nvPr/>
        </p:nvSpPr>
        <p:spPr>
          <a:xfrm>
            <a:off x="6715125" y="3581400"/>
            <a:ext cx="4972050" cy="77152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</p:spPr>
        <p:txBody>
          <a:bodyPr/>
          <a:p/>
        </p:txBody>
      </p:sp>
      <p:sp>
        <p:nvSpPr>
          <p:cNvPr id="695" name="任意多边形 694"/>
          <p:cNvSpPr/>
          <p:nvPr/>
        </p:nvSpPr>
        <p:spPr>
          <a:xfrm>
            <a:off x="6715125" y="3581400"/>
            <a:ext cx="4972050" cy="771525"/>
          </a:xfrm>
          <a:custGeom>
            <a:avLst/>
            <a:gdLst/>
            <a:ahLst/>
            <a:cxnLst/>
            <a:pathLst>
              <a:path w="522" h="81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5"/>
                </a:lnTo>
                <a:cubicBezTo>
                  <a:pt x="3" y="78"/>
                  <a:pt x="5" y="80"/>
                  <a:pt x="8" y="81"/>
                </a:cubicBezTo>
                <a:cubicBezTo>
                  <a:pt x="3" y="80"/>
                  <a:pt x="0" y="76"/>
                  <a:pt x="0" y="7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ADE8FF"/>
          </a:solidFill>
        </p:spPr>
        <p:txBody>
          <a:bodyPr/>
          <a:p/>
        </p:txBody>
      </p:sp>
      <p:sp>
        <p:nvSpPr>
          <p:cNvPr id="696" name="文本框 695" descr="{&quot;isTemplate&quot;:true,&quot;type&quot;:&quot;text&quot;}"/>
          <p:cNvSpPr txBox="1"/>
          <p:nvPr/>
        </p:nvSpPr>
        <p:spPr>
          <a:xfrm>
            <a:off x="6848475" y="377190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文案优化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7" name="圆角矩形 696"/>
          <p:cNvSpPr/>
          <p:nvPr/>
        </p:nvSpPr>
        <p:spPr>
          <a:xfrm>
            <a:off x="7496175" y="3800475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</p:spPr>
        <p:txBody>
          <a:bodyPr/>
          <a:p/>
        </p:txBody>
      </p:sp>
      <p:sp>
        <p:nvSpPr>
          <p:cNvPr id="698" name="文本框 697" descr="{&quot;isTemplate&quot;:true,&quot;type&quot;:&quot;text&quot;}"/>
          <p:cNvSpPr txBox="1"/>
          <p:nvPr/>
        </p:nvSpPr>
        <p:spPr>
          <a:xfrm>
            <a:off x="7543800" y="3810000"/>
            <a:ext cx="314325" cy="104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ADE8FF"/>
                </a:solidFill>
                <a:latin typeface="Arial" panose="020B0604020202020204"/>
                <a:ea typeface="Arial" panose="020B0604020202020204"/>
              </a:rPr>
              <a:t>REQ-04</a:t>
            </a:r>
            <a:endParaRPr lang="en-US" sz="675" b="1">
              <a:solidFill>
                <a:srgbClr val="ADE8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99" name="文本框 698" descr="{&quot;isTemplate&quot;:true,&quot;type&quot;:&quot;text&quot;}"/>
          <p:cNvSpPr txBox="1"/>
          <p:nvPr/>
        </p:nvSpPr>
        <p:spPr>
          <a:xfrm>
            <a:off x="6848475" y="3971925"/>
            <a:ext cx="46767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原有文案润色</a:t>
            </a:r>
            <a:r>
              <a:rPr lang="en-US" sz="825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825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违禁词与医疗广告合规检查</a:t>
            </a:r>
            <a:endParaRPr lang="zh-CN" sz="825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0" name="圆角矩形 699"/>
          <p:cNvSpPr/>
          <p:nvPr/>
        </p:nvSpPr>
        <p:spPr>
          <a:xfrm>
            <a:off x="6715125" y="4438650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</p:spPr>
        <p:txBody>
          <a:bodyPr/>
          <a:p/>
        </p:txBody>
      </p:sp>
      <p:sp>
        <p:nvSpPr>
          <p:cNvPr id="701" name="任意多边形 700"/>
          <p:cNvSpPr/>
          <p:nvPr/>
        </p:nvSpPr>
        <p:spPr>
          <a:xfrm>
            <a:off x="6715125" y="4438650"/>
            <a:ext cx="4972050" cy="781050"/>
          </a:xfrm>
          <a:custGeom>
            <a:avLst/>
            <a:gdLst/>
            <a:ahLst/>
            <a:cxnLst/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702" name="文本框 701" descr="{&quot;isTemplate&quot;:true,&quot;type&quot;:&quot;text&quot;}"/>
          <p:cNvSpPr txBox="1"/>
          <p:nvPr/>
        </p:nvSpPr>
        <p:spPr>
          <a:xfrm>
            <a:off x="6848475" y="46386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话术建议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3" name="圆角矩形 702"/>
          <p:cNvSpPr/>
          <p:nvPr/>
        </p:nvSpPr>
        <p:spPr>
          <a:xfrm>
            <a:off x="7496175" y="466725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</p:spPr>
        <p:txBody>
          <a:bodyPr/>
          <a:p/>
        </p:txBody>
      </p:sp>
      <p:sp>
        <p:nvSpPr>
          <p:cNvPr id="704" name="文本框 703" descr="{&quot;isTemplate&quot;:true,&quot;type&quot;:&quot;text&quot;}"/>
          <p:cNvSpPr txBox="1"/>
          <p:nvPr/>
        </p:nvSpPr>
        <p:spPr>
          <a:xfrm>
            <a:off x="7543800" y="4676775"/>
            <a:ext cx="314325" cy="104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FF8A3D"/>
                </a:solidFill>
                <a:latin typeface="Arial" panose="020B0604020202020204"/>
                <a:ea typeface="Arial" panose="020B0604020202020204"/>
              </a:rPr>
              <a:t>REQ-05</a:t>
            </a:r>
            <a:endParaRPr lang="en-US" sz="675" b="1">
              <a:solidFill>
                <a:srgbClr val="FF8A3D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05" name="文本框 704" descr="{&quot;isTemplate&quot;:true,&quot;type&quot;:&quot;text&quot;}"/>
          <p:cNvSpPr txBox="1"/>
          <p:nvPr/>
        </p:nvSpPr>
        <p:spPr>
          <a:xfrm>
            <a:off x="6848475" y="4838700"/>
            <a:ext cx="46767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咨询、到店、术后随访分场景转化话术</a:t>
            </a:r>
            <a:endParaRPr lang="zh-CN" sz="825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6" name="圆角矩形 705"/>
          <p:cNvSpPr/>
          <p:nvPr/>
        </p:nvSpPr>
        <p:spPr>
          <a:xfrm>
            <a:off x="6686550" y="5305425"/>
            <a:ext cx="4972050" cy="752475"/>
          </a:xfrm>
          <a:prstGeom prst="roundRect">
            <a:avLst>
              <a:gd name="adj" fmla="val 11392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8000"/>
                </a:srgbClr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707" name="文本框 706" descr="{&quot;isTemplate&quot;:true,&quot;type&quot;:&quot;text&quot;}"/>
          <p:cNvSpPr txBox="1"/>
          <p:nvPr/>
        </p:nvSpPr>
        <p:spPr>
          <a:xfrm>
            <a:off x="6867525" y="5429250"/>
            <a:ext cx="1809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5</a:t>
            </a:r>
            <a:endParaRPr lang="en-US" sz="2550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08" name="文本框 707" descr="{&quot;isTemplate&quot;:true,&quot;type&quot;:&quot;text&quot;}"/>
          <p:cNvSpPr txBox="1"/>
          <p:nvPr/>
        </p:nvSpPr>
        <p:spPr>
          <a:xfrm>
            <a:off x="6810375" y="5819775"/>
            <a:ext cx="2857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类能力</a:t>
            </a:r>
            <a:endParaRPr lang="zh-CN" sz="750">
              <a:solidFill>
                <a:srgbClr val="8FC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9" name="矩形 708"/>
          <p:cNvSpPr/>
          <p:nvPr/>
        </p:nvSpPr>
        <p:spPr>
          <a:xfrm>
            <a:off x="7229475" y="5505450"/>
            <a:ext cx="9525" cy="361950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710" name="文本框 709" descr="{&quot;isTemplate&quot;:true,&quot;type&quot;:&quot;text&quot;}"/>
          <p:cNvSpPr txBox="1"/>
          <p:nvPr/>
        </p:nvSpPr>
        <p:spPr>
          <a:xfrm>
            <a:off x="7372350" y="5581650"/>
            <a:ext cx="4162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C8D9F5"/>
                </a:solidFill>
                <a:latin typeface="微软雅黑" panose="020B0503020204020204" charset="-122"/>
                <a:ea typeface="微软雅黑" panose="020B0503020204020204" charset="-122"/>
              </a:rPr>
              <a:t>一次生成后可原地改写、换语气、再出图，不用在多个工具间来回搬运</a:t>
            </a:r>
            <a:endParaRPr lang="zh-CN" sz="825">
              <a:solidFill>
                <a:srgbClr val="C8D9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1" name="文本框 710" descr="{&quot;isTemplate&quot;:true,&quot;type&quot;:&quot;text&quot;}"/>
          <p:cNvSpPr txBox="1"/>
          <p:nvPr/>
        </p:nvSpPr>
        <p:spPr>
          <a:xfrm>
            <a:off x="609600" y="6581775"/>
            <a:ext cx="2962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940">
              <a:solidFill>
                <a:srgbClr val="6E93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2" name="文本框 711" descr="{&quot;isTemplate&quot;:true,&quot;type&quot;:&quot;text&quot;}"/>
          <p:cNvSpPr txBox="1"/>
          <p:nvPr/>
        </p:nvSpPr>
        <p:spPr>
          <a:xfrm>
            <a:off x="11210925" y="6581775"/>
            <a:ext cx="3714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6E93C8"/>
                </a:solidFill>
                <a:latin typeface="Arial" panose="020B0604020202020204"/>
                <a:ea typeface="Arial" panose="020B0604020202020204"/>
              </a:rPr>
              <a:t>08 / 15</a:t>
            </a:r>
            <a:endParaRPr lang="en-US" sz="940">
              <a:solidFill>
                <a:srgbClr val="6E93C8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矩形 7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</p:spPr>
        <p:txBody>
          <a:bodyPr/>
          <a:p/>
        </p:txBody>
      </p:sp>
      <p:sp>
        <p:nvSpPr>
          <p:cNvPr id="715" name="圆角矩形 714"/>
          <p:cNvSpPr/>
          <p:nvPr/>
        </p:nvSpPr>
        <p:spPr>
          <a:xfrm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819150" y="247650"/>
            <a:ext cx="42862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评价与诊断：把差评当成经营线索</a:t>
            </a:r>
            <a:endParaRPr lang="zh-CN" sz="22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7" name="文本框 716" descr="{&quot;isTemplate&quot;:true,&quot;type&quot;:&quot;text&quot;}"/>
          <p:cNvSpPr txBox="1"/>
          <p:nvPr/>
        </p:nvSpPr>
        <p:spPr>
          <a:xfrm>
            <a:off x="819150" y="695325"/>
            <a:ext cx="42862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差评分类归因</a:t>
            </a:r>
            <a:r>
              <a:rPr lang="en-US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分层回复建议</a:t>
            </a:r>
            <a:r>
              <a:rPr lang="en-US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五维体检</a:t>
            </a:r>
            <a:r>
              <a:rPr lang="en-US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→ P0/P1 </a:t>
            </a: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行动项</a:t>
            </a:r>
            <a:endParaRPr lang="zh-CN" sz="940" spc="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18" name="图片 717"/>
          <p:cNvPicPr>
            <a:picLocks noChangeAspect="1"/>
          </p:cNvPicPr>
          <p:nvPr/>
        </p:nvPicPr>
        <p:blipFill>
          <a:blip r:embed="rId1">
            <a:alphaModFix amt="55000"/>
          </a:blip>
          <a:srcRect t="110" b="110"/>
          <a:stretch>
            <a:fillRect/>
          </a:stretch>
        </p:blipFill>
        <p:spPr>
          <a:xfrm>
            <a:off x="10515600" y="266700"/>
            <a:ext cx="1066800" cy="457200"/>
          </a:xfrm>
          <a:prstGeom prst="rect">
            <a:avLst/>
          </a:prstGeom>
        </p:spPr>
      </p:pic>
      <p:sp>
        <p:nvSpPr>
          <p:cNvPr id="719" name="圆角矩形 718"/>
          <p:cNvSpPr/>
          <p:nvPr/>
        </p:nvSpPr>
        <p:spPr>
          <a:xfrm>
            <a:off x="533400" y="971550"/>
            <a:ext cx="4762500" cy="2295525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720" name="图片 719"/>
          <p:cNvPicPr>
            <a:picLocks noChangeAspect="1"/>
          </p:cNvPicPr>
          <p:nvPr/>
        </p:nvPicPr>
        <p:blipFill>
          <a:blip r:embed="rId2"/>
          <a:srcRect t="12809" b="12809"/>
          <a:stretch>
            <a:fillRect/>
          </a:stretch>
        </p:blipFill>
        <p:spPr>
          <a:xfrm>
            <a:off x="609600" y="1047750"/>
            <a:ext cx="4610100" cy="2143125"/>
          </a:xfrm>
          <a:prstGeom prst="roundRect">
            <a:avLst>
              <a:gd name="adj" fmla="val 2667"/>
            </a:avLst>
          </a:prstGeom>
        </p:spPr>
      </p:pic>
      <p:sp>
        <p:nvSpPr>
          <p:cNvPr id="721" name="圆角矩形 720"/>
          <p:cNvSpPr/>
          <p:nvPr/>
        </p:nvSpPr>
        <p:spPr>
          <a:xfrm>
            <a:off x="5429250" y="1666875"/>
            <a:ext cx="514350" cy="180975"/>
          </a:xfrm>
          <a:prstGeom prst="roundRect">
            <a:avLst>
              <a:gd name="adj" fmla="val 21053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722" name="文本框 721" descr="{&quot;isTemplate&quot;:true,&quot;type&quot;:&quot;text&quot;}"/>
          <p:cNvSpPr txBox="1"/>
          <p:nvPr/>
        </p:nvSpPr>
        <p:spPr>
          <a:xfrm>
            <a:off x="5505450" y="1695450"/>
            <a:ext cx="361950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9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REQ-04</a:t>
            </a:r>
            <a:endParaRPr lang="en-US" sz="79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23" name="文本框 722" descr="{&quot;isTemplate&quot;:true,&quot;type&quot;:&quot;text&quot;}"/>
          <p:cNvSpPr txBox="1"/>
          <p:nvPr/>
        </p:nvSpPr>
        <p:spPr>
          <a:xfrm>
            <a:off x="6038850" y="1657350"/>
            <a:ext cx="1371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差评智能分析与回复</a:t>
            </a:r>
            <a:endParaRPr lang="zh-CN" sz="12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4" name="文本框 723" descr="{&quot;isTemplate&quot;:true,&quot;type&quot;:&quot;text&quot;}"/>
          <p:cNvSpPr txBox="1"/>
          <p:nvPr/>
        </p:nvSpPr>
        <p:spPr>
          <a:xfrm>
            <a:off x="5429250" y="1933575"/>
            <a:ext cx="6229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贴一条差评、或者直接上传截图，系统自动判断它属于哪类问题、该用什么口径回，给出可直接使用的回复稿。</a:t>
            </a:r>
            <a:endParaRPr lang="zh-CN" sz="90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5" name="圆角矩形 724"/>
          <p:cNvSpPr/>
          <p:nvPr/>
        </p:nvSpPr>
        <p:spPr>
          <a:xfrm>
            <a:off x="5429250" y="2276475"/>
            <a:ext cx="1504950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</p:spPr>
        <p:txBody>
          <a:bodyPr/>
          <a:p/>
        </p:txBody>
      </p:sp>
      <p:sp>
        <p:nvSpPr>
          <p:cNvPr id="726" name="任意多边形 725"/>
          <p:cNvSpPr/>
          <p:nvPr/>
        </p:nvSpPr>
        <p:spPr>
          <a:xfrm>
            <a:off x="5429250" y="2276475"/>
            <a:ext cx="1504950" cy="323850"/>
          </a:xfrm>
          <a:custGeom>
            <a:avLst/>
            <a:gdLst/>
            <a:ahLst/>
            <a:cxnLst/>
            <a:pathLst>
              <a:path w="158" h="34">
                <a:moveTo>
                  <a:pt x="152" y="0"/>
                </a:moveTo>
                <a:cubicBezTo>
                  <a:pt x="155" y="0"/>
                  <a:pt x="157" y="2"/>
                  <a:pt x="158" y="5"/>
                </a:cubicBezTo>
                <a:cubicBezTo>
                  <a:pt x="157" y="3"/>
                  <a:pt x="156" y="2"/>
                  <a:pt x="154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727" name="文本框 726" descr="{&quot;isTemplate&quot;:true,&quot;type&quot;:&quot;text&quot;}"/>
          <p:cNvSpPr txBox="1"/>
          <p:nvPr/>
        </p:nvSpPr>
        <p:spPr>
          <a:xfrm>
            <a:off x="5924550" y="2362200"/>
            <a:ext cx="523875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等待时间长</a:t>
            </a:r>
            <a:endParaRPr lang="zh-CN" sz="82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8" name="圆角矩形 727"/>
          <p:cNvSpPr/>
          <p:nvPr/>
        </p:nvSpPr>
        <p:spPr>
          <a:xfrm>
            <a:off x="7010400" y="2276475"/>
            <a:ext cx="1495425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</p:spPr>
        <p:txBody>
          <a:bodyPr/>
          <a:p/>
        </p:txBody>
      </p:sp>
      <p:sp>
        <p:nvSpPr>
          <p:cNvPr id="729" name="任意多边形 728"/>
          <p:cNvSpPr/>
          <p:nvPr/>
        </p:nvSpPr>
        <p:spPr>
          <a:xfrm>
            <a:off x="7010400" y="2276475"/>
            <a:ext cx="1495425" cy="323850"/>
          </a:xfrm>
          <a:custGeom>
            <a:avLst/>
            <a:gdLst/>
            <a:ahLst/>
            <a:cxnLst/>
            <a:pathLst>
              <a:path w="157" h="34">
                <a:moveTo>
                  <a:pt x="151" y="0"/>
                </a:moveTo>
                <a:cubicBezTo>
                  <a:pt x="154" y="0"/>
                  <a:pt x="156" y="2"/>
                  <a:pt x="157" y="5"/>
                </a:cubicBezTo>
                <a:cubicBezTo>
                  <a:pt x="156" y="3"/>
                  <a:pt x="155" y="2"/>
                  <a:pt x="153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1" y="0"/>
                </a:ln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730" name="文本框 729" descr="{&quot;isTemplate&quot;:true,&quot;type&quot;:&quot;text&quot;}"/>
          <p:cNvSpPr txBox="1"/>
          <p:nvPr/>
        </p:nvSpPr>
        <p:spPr>
          <a:xfrm>
            <a:off x="7553325" y="236220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服务态度</a:t>
            </a:r>
            <a:endParaRPr lang="zh-CN" sz="82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1" name="圆角矩形 730"/>
          <p:cNvSpPr/>
          <p:nvPr/>
        </p:nvSpPr>
        <p:spPr>
          <a:xfrm>
            <a:off x="8582025" y="2276475"/>
            <a:ext cx="1504950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</p:spPr>
        <p:txBody>
          <a:bodyPr/>
          <a:p/>
        </p:txBody>
      </p:sp>
      <p:sp>
        <p:nvSpPr>
          <p:cNvPr id="732" name="任意多边形 731"/>
          <p:cNvSpPr/>
          <p:nvPr/>
        </p:nvSpPr>
        <p:spPr>
          <a:xfrm>
            <a:off x="8582025" y="2276475"/>
            <a:ext cx="1504950" cy="323850"/>
          </a:xfrm>
          <a:custGeom>
            <a:avLst/>
            <a:gdLst/>
            <a:ahLst/>
            <a:cxnLst/>
            <a:pathLst>
              <a:path w="158" h="34">
                <a:moveTo>
                  <a:pt x="152" y="0"/>
                </a:moveTo>
                <a:cubicBezTo>
                  <a:pt x="155" y="0"/>
                  <a:pt x="157" y="2"/>
                  <a:pt x="158" y="5"/>
                </a:cubicBezTo>
                <a:cubicBezTo>
                  <a:pt x="157" y="3"/>
                  <a:pt x="156" y="2"/>
                  <a:pt x="154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733" name="文本框 732" descr="{&quot;isTemplate&quot;:true,&quot;type&quot;:&quot;text&quot;}"/>
          <p:cNvSpPr txBox="1"/>
          <p:nvPr/>
        </p:nvSpPr>
        <p:spPr>
          <a:xfrm>
            <a:off x="9077325" y="2362200"/>
            <a:ext cx="523875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效果不满意</a:t>
            </a:r>
            <a:endParaRPr lang="zh-CN" sz="82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4" name="圆角矩形 733"/>
          <p:cNvSpPr/>
          <p:nvPr/>
        </p:nvSpPr>
        <p:spPr>
          <a:xfrm>
            <a:off x="10163175" y="2276475"/>
            <a:ext cx="1495425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</p:spPr>
        <p:txBody>
          <a:bodyPr/>
          <a:p/>
        </p:txBody>
      </p:sp>
      <p:sp>
        <p:nvSpPr>
          <p:cNvPr id="735" name="任意多边形 734"/>
          <p:cNvSpPr/>
          <p:nvPr/>
        </p:nvSpPr>
        <p:spPr>
          <a:xfrm>
            <a:off x="10163175" y="2276475"/>
            <a:ext cx="1495425" cy="323850"/>
          </a:xfrm>
          <a:custGeom>
            <a:avLst/>
            <a:gdLst/>
            <a:ahLst/>
            <a:cxnLst/>
            <a:pathLst>
              <a:path w="157" h="34">
                <a:moveTo>
                  <a:pt x="151" y="0"/>
                </a:moveTo>
                <a:cubicBezTo>
                  <a:pt x="154" y="0"/>
                  <a:pt x="156" y="2"/>
                  <a:pt x="157" y="5"/>
                </a:cubicBezTo>
                <a:cubicBezTo>
                  <a:pt x="156" y="3"/>
                  <a:pt x="155" y="2"/>
                  <a:pt x="153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1" y="0"/>
                </a:ln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736" name="文本框 735" descr="{&quot;isTemplate&quot;:true,&quot;type&quot;:&quot;text&quot;}"/>
          <p:cNvSpPr txBox="1"/>
          <p:nvPr/>
        </p:nvSpPr>
        <p:spPr>
          <a:xfrm>
            <a:off x="10706100" y="236220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价格问题</a:t>
            </a:r>
            <a:endParaRPr lang="zh-CN" sz="825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7" name="圆角矩形 736"/>
          <p:cNvSpPr/>
          <p:nvPr/>
        </p:nvSpPr>
        <p:spPr>
          <a:xfrm>
            <a:off x="533400" y="4076700"/>
            <a:ext cx="514350" cy="180975"/>
          </a:xfrm>
          <a:prstGeom prst="roundRect">
            <a:avLst>
              <a:gd name="adj" fmla="val 21053"/>
            </a:avLst>
          </a:prstGeom>
          <a:solidFill>
            <a:srgbClr val="FF8A3D"/>
          </a:solidFill>
        </p:spPr>
        <p:txBody>
          <a:bodyPr/>
          <a:p/>
        </p:txBody>
      </p:sp>
      <p:sp>
        <p:nvSpPr>
          <p:cNvPr id="738" name="文本框 737" descr="{&quot;isTemplate&quot;:true,&quot;type&quot;:&quot;text&quot;}"/>
          <p:cNvSpPr txBox="1"/>
          <p:nvPr/>
        </p:nvSpPr>
        <p:spPr>
          <a:xfrm>
            <a:off x="609600" y="4105275"/>
            <a:ext cx="361950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9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REQ-05</a:t>
            </a:r>
            <a:endParaRPr lang="en-US" sz="79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39" name="文本框 738" descr="{&quot;isTemplate&quot;:true,&quot;type&quot;:&quot;text&quot;}"/>
          <p:cNvSpPr txBox="1"/>
          <p:nvPr/>
        </p:nvSpPr>
        <p:spPr>
          <a:xfrm>
            <a:off x="1143000" y="40671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五维运营诊断</a:t>
            </a:r>
            <a:endParaRPr lang="zh-CN" sz="12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0" name="文本框 739" descr="{&quot;isTemplate&quot;:true,&quot;type&quot;:&quot;text&quot;}"/>
          <p:cNvSpPr txBox="1"/>
          <p:nvPr/>
        </p:nvSpPr>
        <p:spPr>
          <a:xfrm>
            <a:off x="533400" y="4343400"/>
            <a:ext cx="47625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店铺装修、团购项目、评价管理、推广投放、活动策划五个维度逐项打分，直接给出带优先级的行动清单，而不是笼统的「建议优化」。</a:t>
            </a:r>
            <a:endParaRPr lang="zh-CN" sz="90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1" name="圆角矩形 740"/>
          <p:cNvSpPr/>
          <p:nvPr/>
        </p:nvSpPr>
        <p:spPr>
          <a:xfrm>
            <a:off x="552450" y="489585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FF8A3D">
              <a:alpha val="10000"/>
            </a:srgbClr>
          </a:solidFill>
        </p:spPr>
        <p:txBody>
          <a:bodyPr/>
          <a:p/>
        </p:txBody>
      </p:sp>
      <p:sp>
        <p:nvSpPr>
          <p:cNvPr id="742" name="任意多边形 741"/>
          <p:cNvSpPr/>
          <p:nvPr/>
        </p:nvSpPr>
        <p:spPr>
          <a:xfrm>
            <a:off x="552450" y="4895850"/>
            <a:ext cx="2343150" cy="495300"/>
          </a:xfrm>
          <a:custGeom>
            <a:avLst/>
            <a:gdLst/>
            <a:ahLst/>
            <a:cxnLst/>
            <a:pathLst>
              <a:path w="246" h="52">
                <a:moveTo>
                  <a:pt x="6" y="0"/>
                </a:moveTo>
                <a:cubicBezTo>
                  <a:pt x="4" y="0"/>
                  <a:pt x="2" y="2"/>
                  <a:pt x="2" y="4"/>
                </a:cubicBezTo>
                <a:lnTo>
                  <a:pt x="2" y="48"/>
                </a:lnTo>
                <a:cubicBezTo>
                  <a:pt x="2" y="50"/>
                  <a:pt x="3" y="51"/>
                  <a:pt x="5" y="52"/>
                </a:cubicBezTo>
                <a:cubicBezTo>
                  <a:pt x="2" y="51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743" name="文本框 742" descr="{&quot;isTemplate&quot;:true,&quot;type&quot;:&quot;text&quot;}"/>
          <p:cNvSpPr txBox="1"/>
          <p:nvPr/>
        </p:nvSpPr>
        <p:spPr>
          <a:xfrm>
            <a:off x="666750" y="4981575"/>
            <a:ext cx="2095500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90" b="1">
                <a:solidFill>
                  <a:srgbClr val="D96B15"/>
                </a:solidFill>
                <a:latin typeface="微软雅黑" panose="020B0503020204020204" charset="-122"/>
                <a:ea typeface="微软雅黑" panose="020B0503020204020204" charset="-122"/>
              </a:rPr>
              <a:t>P0 </a:t>
            </a:r>
            <a:r>
              <a:rPr lang="zh-CN" sz="790" b="1">
                <a:solidFill>
                  <a:srgbClr val="D96B15"/>
                </a:solidFill>
                <a:latin typeface="微软雅黑" panose="020B0503020204020204" charset="-122"/>
                <a:ea typeface="微软雅黑" panose="020B0503020204020204" charset="-122"/>
              </a:rPr>
              <a:t>立刻做</a:t>
            </a:r>
            <a:endParaRPr lang="zh-CN" sz="790" b="1">
              <a:solidFill>
                <a:srgbClr val="D96B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4" name="文本框 743" descr="{&quot;isTemplate&quot;:true,&quot;type&quot;:&quot;text&quot;}"/>
          <p:cNvSpPr txBox="1"/>
          <p:nvPr/>
        </p:nvSpPr>
        <p:spPr>
          <a:xfrm>
            <a:off x="666750" y="5133975"/>
            <a:ext cx="2095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7A5A3A"/>
                </a:solidFill>
                <a:latin typeface="微软雅黑" panose="020B0503020204020204" charset="-122"/>
                <a:ea typeface="微软雅黑" panose="020B0503020204020204" charset="-122"/>
              </a:rPr>
              <a:t>差评回复、引流款定价</a:t>
            </a:r>
            <a:endParaRPr lang="zh-CN" sz="750">
              <a:solidFill>
                <a:srgbClr val="7A5A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5" name="圆角矩形 744"/>
          <p:cNvSpPr/>
          <p:nvPr/>
        </p:nvSpPr>
        <p:spPr>
          <a:xfrm>
            <a:off x="2971800" y="489585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1B5FD9">
              <a:alpha val="7000"/>
            </a:srgbClr>
          </a:solidFill>
        </p:spPr>
        <p:txBody>
          <a:bodyPr/>
          <a:p/>
        </p:txBody>
      </p:sp>
      <p:sp>
        <p:nvSpPr>
          <p:cNvPr id="746" name="任意多边形 745"/>
          <p:cNvSpPr/>
          <p:nvPr/>
        </p:nvSpPr>
        <p:spPr>
          <a:xfrm>
            <a:off x="2971800" y="4895850"/>
            <a:ext cx="2343150" cy="495300"/>
          </a:xfrm>
          <a:custGeom>
            <a:avLst/>
            <a:gdLst/>
            <a:ahLst/>
            <a:cxnLst/>
            <a:pathLst>
              <a:path w="246" h="52">
                <a:moveTo>
                  <a:pt x="6" y="0"/>
                </a:moveTo>
                <a:cubicBezTo>
                  <a:pt x="4" y="0"/>
                  <a:pt x="2" y="2"/>
                  <a:pt x="2" y="4"/>
                </a:cubicBezTo>
                <a:lnTo>
                  <a:pt x="2" y="48"/>
                </a:lnTo>
                <a:cubicBezTo>
                  <a:pt x="2" y="50"/>
                  <a:pt x="3" y="51"/>
                  <a:pt x="5" y="52"/>
                </a:cubicBezTo>
                <a:cubicBezTo>
                  <a:pt x="2" y="51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747" name="文本框 746" descr="{&quot;isTemplate&quot;:true,&quot;type&quot;:&quot;text&quot;}"/>
          <p:cNvSpPr txBox="1"/>
          <p:nvPr/>
        </p:nvSpPr>
        <p:spPr>
          <a:xfrm>
            <a:off x="3086100" y="4981575"/>
            <a:ext cx="2095500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9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P1 </a:t>
            </a:r>
            <a:r>
              <a:rPr lang="zh-CN" sz="79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本周做</a:t>
            </a:r>
            <a:endParaRPr lang="zh-CN" sz="79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8" name="文本框 747" descr="{&quot;isTemplate&quot;:true,&quot;type&quot;:&quot;text&quot;}"/>
          <p:cNvSpPr txBox="1"/>
          <p:nvPr/>
        </p:nvSpPr>
        <p:spPr>
          <a:xfrm>
            <a:off x="3086100" y="5133975"/>
            <a:ext cx="2095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品类补充、关键词扩量</a:t>
            </a:r>
            <a:endParaRPr lang="zh-CN" sz="75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9" name="圆角矩形 748"/>
          <p:cNvSpPr/>
          <p:nvPr/>
        </p:nvSpPr>
        <p:spPr>
          <a:xfrm>
            <a:off x="5429250" y="3381375"/>
            <a:ext cx="6229350" cy="2695575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FF8A3D">
                <a:alpha val="18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750" name="图片 749"/>
          <p:cNvPicPr>
            <a:picLocks noChangeAspect="1"/>
          </p:cNvPicPr>
          <p:nvPr/>
        </p:nvPicPr>
        <p:blipFill>
          <a:blip r:embed="rId3"/>
          <a:srcRect t="16520" b="16520"/>
          <a:stretch>
            <a:fillRect/>
          </a:stretch>
        </p:blipFill>
        <p:spPr>
          <a:xfrm>
            <a:off x="5505450" y="3457575"/>
            <a:ext cx="6076950" cy="2543175"/>
          </a:xfrm>
          <a:prstGeom prst="roundRect">
            <a:avLst>
              <a:gd name="adj" fmla="val 2247"/>
            </a:avLst>
          </a:prstGeom>
        </p:spPr>
      </p:pic>
      <p:sp>
        <p:nvSpPr>
          <p:cNvPr id="751" name="文本框 750" descr="{&quot;isTemplate&quot;:true,&quot;type&quot;:&quot;text&quot;}"/>
          <p:cNvSpPr txBox="1"/>
          <p:nvPr/>
        </p:nvSpPr>
        <p:spPr>
          <a:xfrm>
            <a:off x="609600" y="6581775"/>
            <a:ext cx="2962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940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2" name="文本框 751" descr="{&quot;isTemplate&quot;:true,&quot;type&quot;:&quot;text&quot;}"/>
          <p:cNvSpPr txBox="1"/>
          <p:nvPr/>
        </p:nvSpPr>
        <p:spPr>
          <a:xfrm>
            <a:off x="11210925" y="6581775"/>
            <a:ext cx="3714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8494B4"/>
                </a:solidFill>
                <a:latin typeface="Arial" panose="020B0604020202020204"/>
                <a:ea typeface="Arial" panose="020B0604020202020204"/>
              </a:rPr>
              <a:t>09 / 15</a:t>
            </a:r>
            <a:endParaRPr lang="en-US" sz="940">
              <a:solidFill>
                <a:srgbClr val="8494B4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</p:spPr>
        <p:txBody>
          <a:bodyPr/>
          <a:p/>
        </p:txBody>
      </p:sp>
      <p:sp>
        <p:nvSpPr>
          <p:cNvPr id="24" name="矩形 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FD9">
                  <a:alpha val="55000"/>
                </a:srgbClr>
              </a:gs>
              <a:gs pos="55000">
                <a:srgbClr val="0B2A6B">
                  <a:alpha val="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5" name="圆角矩形 24"/>
          <p:cNvSpPr/>
          <p:nvPr/>
        </p:nvSpPr>
        <p:spPr>
          <a:xfrm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819150" y="285750"/>
            <a:ext cx="42672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三个技术判断，决定了它能落地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819150" y="771525"/>
            <a:ext cx="4267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不是把大模型接进来就叫</a:t>
            </a:r>
            <a:r>
              <a:rPr lang="en-US" sz="975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 AI</a:t>
            </a:r>
            <a:r>
              <a:rPr lang="zh-CN" sz="975" spc="75">
                <a:solidFill>
                  <a:srgbClr val="8FC4F8"/>
                </a:solidFill>
                <a:latin typeface="微软雅黑" panose="020B0503020204020204" charset="-122"/>
                <a:ea typeface="微软雅黑" panose="020B0503020204020204" charset="-122"/>
              </a:rPr>
              <a:t>，关键是让它扛得住门诊的真实场景</a:t>
            </a:r>
            <a:endParaRPr lang="zh-CN" sz="975" spc="75">
              <a:solidFill>
                <a:srgbClr val="8FC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>
            <a:alphaModFix amt="35000"/>
          </a:blip>
          <a:srcRect t="673" b="673"/>
          <a:stretch>
            <a:fillRect/>
          </a:stretch>
        </p:blipFill>
        <p:spPr>
          <a:xfrm>
            <a:off x="10458450" y="304800"/>
            <a:ext cx="1123950" cy="476250"/>
          </a:xfrm>
          <a:prstGeom prst="rect">
            <a:avLst/>
          </a:prstGeom>
        </p:spPr>
      </p:pic>
      <p:sp>
        <p:nvSpPr>
          <p:cNvPr id="29" name="圆角矩形 28"/>
          <p:cNvSpPr/>
          <p:nvPr/>
        </p:nvSpPr>
        <p:spPr>
          <a:xfrm>
            <a:off x="60960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30" name="任意多边形 29"/>
          <p:cNvSpPr/>
          <p:nvPr/>
        </p:nvSpPr>
        <p:spPr>
          <a:xfrm>
            <a:off x="609600" y="1295400"/>
            <a:ext cx="3543300" cy="3810000"/>
          </a:xfrm>
          <a:custGeom>
            <a:avLst/>
            <a:gdLst/>
            <a:ahLst/>
            <a:cxnLst/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838200" y="1524000"/>
            <a:ext cx="3086100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01</a:t>
            </a:r>
            <a:endParaRPr lang="en-US" sz="4800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838200" y="2314575"/>
            <a:ext cx="3086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截图优先，不依赖</a:t>
            </a:r>
            <a:r>
              <a:rPr lang="en-US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对接</a:t>
            </a:r>
            <a:endParaRPr lang="zh-CN"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838200" y="2743200"/>
            <a:ext cx="3086100" cy="1571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40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美团经营参谋的数据不对外开放接口，硬等</a:t>
            </a:r>
            <a:r>
              <a:rPr lang="en-US" sz="940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940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就是无限期拖延。我们反过来做：门店按</a:t>
            </a:r>
            <a:r>
              <a:rPr lang="en-US" sz="940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940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个界面分别上传截图，视觉模型直接读数。门店不用学新系统，集团当天就能拿到数据。</a:t>
            </a:r>
            <a:endParaRPr lang="zh-CN" sz="940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3820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35C8F0">
              <a:alpha val="14000"/>
            </a:srgbClr>
          </a:solidFill>
        </p:spPr>
        <p:txBody>
          <a:bodyPr/>
          <a:p/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962025" y="4533900"/>
            <a:ext cx="2838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8FE3F8"/>
                </a:solidFill>
                <a:latin typeface="微软雅黑" panose="020B0503020204020204" charset="-122"/>
                <a:ea typeface="微软雅黑" panose="020B0503020204020204" charset="-122"/>
              </a:rPr>
              <a:t>代价是识别准确率，所以配了手动录入作为保底通道</a:t>
            </a:r>
            <a:endParaRPr lang="zh-CN" sz="825">
              <a:solidFill>
                <a:srgbClr val="8FE3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432435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37" name="任意多边形 36"/>
          <p:cNvSpPr/>
          <p:nvPr/>
        </p:nvSpPr>
        <p:spPr>
          <a:xfrm>
            <a:off x="4324350" y="1295400"/>
            <a:ext cx="3543300" cy="3810000"/>
          </a:xfrm>
          <a:custGeom>
            <a:avLst/>
            <a:gdLst/>
            <a:ahLst/>
            <a:cxnLst/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ADE8FF"/>
          </a:solidFill>
        </p:spPr>
        <p:txBody>
          <a:bodyPr/>
          <a:p/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4552950" y="1524000"/>
            <a:ext cx="3086100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ADE8FF"/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4800" b="1">
              <a:solidFill>
                <a:srgbClr val="ADE8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4552950" y="2314575"/>
            <a:ext cx="3086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双通道兜底，业务永不中断</a:t>
            </a:r>
            <a:endParaRPr lang="zh-CN"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552950" y="2743200"/>
            <a:ext cx="3086100" cy="1571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40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五个视觉模型端点按顺序自动探测，哪个能用走哪个；全部不可用就降级为手动录入，已上传的截图不会白传。模型层抽出来做成可替换的，换模型不动业务代码。</a:t>
            </a:r>
            <a:endParaRPr lang="zh-CN" sz="940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455295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35C8F0">
              <a:alpha val="14000"/>
            </a:srgbClr>
          </a:solidFill>
        </p:spPr>
        <p:txBody>
          <a:bodyPr/>
          <a:p/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4676775" y="4533900"/>
            <a:ext cx="2838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8FE3F8"/>
                </a:solidFill>
                <a:latin typeface="微软雅黑" panose="020B0503020204020204" charset="-122"/>
                <a:ea typeface="微软雅黑" panose="020B0503020204020204" charset="-122"/>
              </a:rPr>
              <a:t>今天视觉模型权限尚未开通，系统仍可完整跑通</a:t>
            </a:r>
            <a:endParaRPr lang="zh-CN" sz="825">
              <a:solidFill>
                <a:srgbClr val="8FE3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803910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35C8F0">
              <a:alpha val="16000"/>
            </a:srgbClr>
          </a:solidFill>
        </p:spPr>
        <p:txBody>
          <a:bodyPr/>
          <a:p/>
        </p:txBody>
      </p:sp>
      <p:sp>
        <p:nvSpPr>
          <p:cNvPr id="44" name="任意多边形 43"/>
          <p:cNvSpPr/>
          <p:nvPr/>
        </p:nvSpPr>
        <p:spPr>
          <a:xfrm>
            <a:off x="8039100" y="1295400"/>
            <a:ext cx="3543300" cy="3810000"/>
          </a:xfrm>
          <a:custGeom>
            <a:avLst/>
            <a:gdLst/>
            <a:ahLst/>
            <a:cxnLst/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8267700" y="1524000"/>
            <a:ext cx="3086100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8A3D"/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4800" b="1">
              <a:solidFill>
                <a:srgbClr val="FF8A3D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8267700" y="2314575"/>
            <a:ext cx="3086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拒绝随机数，结论必须可回溯</a:t>
            </a:r>
            <a:endParaRPr lang="zh-CN"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8267700" y="2743200"/>
            <a:ext cx="3086100" cy="1571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40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早期版本的分析结论是随机生成的，用户一输入就发现对不上。现在所有指标都由真实输入算出：评分、转化率、价格带、差评数逐项推导，每条建议都能指回具体数字。</a:t>
            </a:r>
            <a:endParaRPr lang="zh-CN" sz="940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826770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FF8A3D">
              <a:alpha val="16000"/>
            </a:srgbClr>
          </a:solidFill>
        </p:spPr>
        <p:txBody>
          <a:bodyPr/>
          <a:p/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8391525" y="4533900"/>
            <a:ext cx="2838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</a:rPr>
              <a:t>输入</a:t>
            </a:r>
            <a:r>
              <a:rPr lang="en-US" sz="825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</a:rPr>
              <a:t> 118 </a:t>
            </a:r>
            <a:r>
              <a:rPr lang="zh-CN" sz="825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</a:rPr>
              <a:t>条评价</a:t>
            </a:r>
            <a:r>
              <a:rPr lang="en-US" sz="825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</a:rPr>
              <a:t> / 18 </a:t>
            </a:r>
            <a:r>
              <a:rPr lang="zh-CN" sz="825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</a:rPr>
              <a:t>条差评</a:t>
            </a:r>
            <a:r>
              <a:rPr lang="en-US" sz="825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825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</a:rPr>
              <a:t>输出「跟进</a:t>
            </a:r>
            <a:r>
              <a:rPr lang="en-US" sz="825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825">
                <a:solidFill>
                  <a:srgbClr val="FFC9A0"/>
                </a:solidFill>
                <a:latin typeface="微软雅黑" panose="020B0503020204020204" charset="-122"/>
                <a:ea typeface="微软雅黑" panose="020B0503020204020204" charset="-122"/>
              </a:rPr>
              <a:t>条差评」</a:t>
            </a:r>
            <a:endParaRPr lang="zh-CN" sz="825">
              <a:solidFill>
                <a:srgbClr val="FFC9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609600" y="5724525"/>
            <a:ext cx="914400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5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实测响应</a:t>
            </a:r>
            <a:endParaRPr lang="zh-CN" sz="865">
              <a:solidFill>
                <a:srgbClr val="6E93C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865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耗时</a:t>
            </a:r>
            <a:endParaRPr lang="zh-CN" sz="865">
              <a:solidFill>
                <a:srgbClr val="6E93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1638300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</p:spPr>
        <p:txBody>
          <a:bodyPr/>
          <a:p/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2343150" y="5734050"/>
            <a:ext cx="485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1.45s</a:t>
            </a:r>
            <a:endParaRPr lang="en-US" sz="1500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2390775" y="5991225"/>
            <a:ext cx="400050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竞品分析</a:t>
            </a:r>
            <a:endParaRPr lang="zh-CN" sz="790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3648075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</p:spPr>
        <p:txBody>
          <a:bodyPr/>
          <a:p/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4352925" y="5734050"/>
            <a:ext cx="485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1.36s</a:t>
            </a:r>
            <a:endParaRPr lang="en-US" sz="1500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4400550" y="5991225"/>
            <a:ext cx="400050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运营诊断</a:t>
            </a:r>
            <a:endParaRPr lang="zh-CN" sz="790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5657850" y="5619750"/>
            <a:ext cx="1905000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</p:spPr>
        <p:txBody>
          <a:bodyPr/>
          <a:p/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6372225" y="5734050"/>
            <a:ext cx="485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1.29s</a:t>
            </a:r>
            <a:endParaRPr lang="en-US" sz="1500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6410325" y="5991225"/>
            <a:ext cx="400050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话术建议</a:t>
            </a:r>
            <a:endParaRPr lang="zh-CN" sz="790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7677150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</p:spPr>
        <p:txBody>
          <a:bodyPr/>
          <a:p/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8382000" y="5734050"/>
            <a:ext cx="485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1.09s</a:t>
            </a:r>
            <a:endParaRPr lang="en-US" sz="1500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8429625" y="5991225"/>
            <a:ext cx="400050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差评回复</a:t>
            </a:r>
            <a:endParaRPr lang="zh-CN" sz="790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9686925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</p:spPr>
        <p:txBody>
          <a:bodyPr/>
          <a:p/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10391775" y="5734050"/>
            <a:ext cx="485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 panose="020B0604020202020204"/>
                <a:ea typeface="Arial" panose="020B0604020202020204"/>
              </a:rPr>
              <a:t>1.92s</a:t>
            </a:r>
            <a:endParaRPr lang="en-US" sz="1500" b="1">
              <a:solidFill>
                <a:srgbClr val="35C8F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10439400" y="5991225"/>
            <a:ext cx="400050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>
                <a:solidFill>
                  <a:srgbClr val="AFC8E8"/>
                </a:solidFill>
                <a:latin typeface="微软雅黑" panose="020B0503020204020204" charset="-122"/>
                <a:ea typeface="微软雅黑" panose="020B0503020204020204" charset="-122"/>
              </a:rPr>
              <a:t>文案生成</a:t>
            </a:r>
            <a:endParaRPr lang="zh-CN" sz="790">
              <a:solidFill>
                <a:srgbClr val="AFC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609600" y="6543675"/>
            <a:ext cx="2962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6E93C8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940">
              <a:solidFill>
                <a:srgbClr val="6E93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11210925" y="6543675"/>
            <a:ext cx="3714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6E93C8"/>
                </a:solidFill>
                <a:latin typeface="Arial" panose="020B0604020202020204"/>
                <a:ea typeface="Arial" panose="020B0604020202020204"/>
              </a:rPr>
              <a:t>10 / 15</a:t>
            </a:r>
            <a:endParaRPr lang="en-US" sz="940">
              <a:solidFill>
                <a:srgbClr val="6E93C8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</p:spPr>
        <p:txBody>
          <a:bodyPr/>
          <a:p/>
        </p:txBody>
      </p:sp>
      <p:sp>
        <p:nvSpPr>
          <p:cNvPr id="70" name="矩形 69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gradFill>
            <a:gsLst>
              <a:gs pos="0">
                <a:srgbClr val="0B2A6B"/>
              </a:gs>
              <a:gs pos="65000">
                <a:srgbClr val="1B5FD9"/>
              </a:gs>
              <a:gs pos="100000">
                <a:srgbClr val="2E86E8"/>
              </a:gs>
            </a:gsLst>
            <a:lin ang="0" scaled="1"/>
          </a:gradFill>
        </p:spPr>
        <p:txBody>
          <a:bodyPr/>
          <a:p/>
        </p:txBody>
      </p:sp>
      <p:sp>
        <p:nvSpPr>
          <p:cNvPr id="71" name="圆角矩形 70"/>
          <p:cNvSpPr/>
          <p:nvPr/>
        </p:nvSpPr>
        <p:spPr>
          <a:xfrm>
            <a:off x="609600" y="3429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819150" y="209550"/>
            <a:ext cx="2657475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把两小时压成两分钟</a:t>
            </a:r>
            <a:endParaRPr lang="zh-CN" sz="23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819150" y="666750"/>
            <a:ext cx="26574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同样的活，做法的区别在哪</a:t>
            </a:r>
            <a:endParaRPr lang="zh-CN" sz="940" spc="75">
              <a:solidFill>
                <a:srgbClr val="AD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1">
            <a:alphaModFix amt="40000"/>
          </a:blip>
          <a:srcRect t="1319" b="1319"/>
          <a:stretch>
            <a:fillRect/>
          </a:stretch>
        </p:blipFill>
        <p:spPr>
          <a:xfrm>
            <a:off x="10534650" y="228600"/>
            <a:ext cx="1047750" cy="438150"/>
          </a:xfrm>
          <a:prstGeom prst="rect">
            <a:avLst/>
          </a:prstGeom>
        </p:spPr>
      </p:pic>
      <p:sp>
        <p:nvSpPr>
          <p:cNvPr id="75" name="圆角矩形 74"/>
          <p:cNvSpPr/>
          <p:nvPr/>
        </p:nvSpPr>
        <p:spPr>
          <a:xfrm>
            <a:off x="647700" y="1104900"/>
            <a:ext cx="10972800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6" name="任意多边形 75"/>
          <p:cNvSpPr/>
          <p:nvPr/>
        </p:nvSpPr>
        <p:spPr>
          <a:xfrm>
            <a:off x="647700" y="1104900"/>
            <a:ext cx="10972800" cy="1343025"/>
          </a:xfrm>
          <a:custGeom>
            <a:avLst/>
            <a:gdLst/>
            <a:ahLst/>
            <a:cxnLst/>
            <a:pathLst>
              <a:path w="1152" h="14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3"/>
                </a:lnTo>
                <a:cubicBezTo>
                  <a:pt x="4" y="137"/>
                  <a:pt x="7" y="140"/>
                  <a:pt x="10" y="141"/>
                </a:cubicBezTo>
                <a:cubicBezTo>
                  <a:pt x="4" y="140"/>
                  <a:pt x="0" y="135"/>
                  <a:pt x="0" y="12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857250" y="1657350"/>
            <a:ext cx="1485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一条美团文案</a:t>
            </a:r>
            <a:endParaRPr lang="zh-CN" sz="12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2552700" y="1552575"/>
            <a:ext cx="219075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 panose="020B0604020202020204"/>
                <a:ea typeface="Arial" panose="020B0604020202020204"/>
              </a:rPr>
              <a:t>2</a:t>
            </a:r>
            <a:endParaRPr lang="en-US" sz="3000" b="1">
              <a:solidFill>
                <a:srgbClr val="B9C6DC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2838450" y="168592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微软雅黑" panose="020B0503020204020204" charset="-122"/>
                <a:ea typeface="微软雅黑" panose="020B0503020204020204" charset="-122"/>
              </a:rPr>
              <a:t>小时</a:t>
            </a:r>
            <a:endParaRPr lang="zh-CN" sz="975">
              <a:solidFill>
                <a:srgbClr val="B9C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3295650" y="16192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</p:spPr>
        <p:txBody>
          <a:bodyPr/>
          <a:p/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3381375" y="1685925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3829050" y="1476375"/>
            <a:ext cx="695325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1.9</a:t>
            </a:r>
            <a:endParaRPr lang="en-US" sz="390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4572000" y="1857375"/>
            <a:ext cx="133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endParaRPr lang="zh-CN" sz="105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4991100" y="1581150"/>
            <a:ext cx="64198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从查门店信息、想卖点、写正文、配图到改违禁词，压缩到一次生成加一轮修改</a:t>
            </a:r>
            <a:endParaRPr lang="zh-CN" sz="90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4991100" y="1857375"/>
            <a:ext cx="6419850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接口实测</a:t>
            </a:r>
            <a:r>
              <a:rPr lang="en-US" sz="79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 1.92 </a:t>
            </a:r>
            <a:r>
              <a:rPr lang="zh-CN" sz="79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秒返回</a:t>
            </a:r>
            <a:endParaRPr lang="zh-CN" sz="79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647700" y="2581275"/>
            <a:ext cx="109728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7" name="任意多边形 86"/>
          <p:cNvSpPr/>
          <p:nvPr/>
        </p:nvSpPr>
        <p:spPr>
          <a:xfrm>
            <a:off x="647700" y="2581275"/>
            <a:ext cx="10972800" cy="1352550"/>
          </a:xfrm>
          <a:custGeom>
            <a:avLst/>
            <a:gdLst/>
            <a:ahLst/>
            <a:cxnLst/>
            <a:pathLst>
              <a:path w="1152" h="14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4"/>
                </a:lnTo>
                <a:cubicBezTo>
                  <a:pt x="4" y="138"/>
                  <a:pt x="7" y="141"/>
                  <a:pt x="10" y="142"/>
                </a:cubicBezTo>
                <a:cubicBezTo>
                  <a:pt x="4" y="141"/>
                  <a:pt x="0" y="136"/>
                  <a:pt x="0" y="13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857250" y="3133725"/>
            <a:ext cx="1485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一次经营诊断</a:t>
            </a:r>
            <a:endParaRPr lang="zh-CN" sz="12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2552700" y="3028950"/>
            <a:ext cx="219075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 panose="020B0604020202020204"/>
                <a:ea typeface="Arial" panose="020B0604020202020204"/>
              </a:rPr>
              <a:t>3</a:t>
            </a:r>
            <a:endParaRPr lang="en-US" sz="3000" b="1">
              <a:solidFill>
                <a:srgbClr val="B9C6DC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2838450" y="3162300"/>
            <a:ext cx="123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sz="975">
              <a:solidFill>
                <a:srgbClr val="B9C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3171825" y="30956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</p:spPr>
        <p:txBody>
          <a:bodyPr/>
          <a:p/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3257550" y="3162300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3705225" y="2962275"/>
            <a:ext cx="695325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1.4</a:t>
            </a:r>
            <a:endParaRPr lang="en-US" sz="390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4448175" y="3343275"/>
            <a:ext cx="133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endParaRPr lang="zh-CN" sz="105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4867275" y="3057525"/>
            <a:ext cx="65436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从挨家登录经营参谋截图、</a:t>
            </a:r>
            <a:r>
              <a:rPr lang="en-US" sz="90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Excel </a:t>
            </a:r>
            <a:r>
              <a:rPr lang="zh-CN" sz="90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手工拼表，变成五个维度同时打分并给出行动项</a:t>
            </a:r>
            <a:endParaRPr lang="zh-CN" sz="90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4867275" y="3333750"/>
            <a:ext cx="6543675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接口实测</a:t>
            </a:r>
            <a:r>
              <a:rPr lang="en-US" sz="79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 1.36 </a:t>
            </a:r>
            <a:r>
              <a:rPr lang="zh-CN" sz="79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秒返回</a:t>
            </a:r>
            <a:endParaRPr lang="zh-CN" sz="79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圆角矩形 96"/>
          <p:cNvSpPr/>
          <p:nvPr/>
        </p:nvSpPr>
        <p:spPr>
          <a:xfrm>
            <a:off x="647700" y="4067175"/>
            <a:ext cx="10972800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8" name="任意多边形 97"/>
          <p:cNvSpPr/>
          <p:nvPr/>
        </p:nvSpPr>
        <p:spPr>
          <a:xfrm>
            <a:off x="647700" y="4067175"/>
            <a:ext cx="10972800" cy="1343025"/>
          </a:xfrm>
          <a:custGeom>
            <a:avLst/>
            <a:gdLst/>
            <a:ahLst/>
            <a:cxnLst/>
            <a:pathLst>
              <a:path w="1152" h="14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3"/>
                </a:lnTo>
                <a:cubicBezTo>
                  <a:pt x="4" y="137"/>
                  <a:pt x="7" y="140"/>
                  <a:pt x="10" y="141"/>
                </a:cubicBezTo>
                <a:cubicBezTo>
                  <a:pt x="4" y="140"/>
                  <a:pt x="0" y="135"/>
                  <a:pt x="0" y="12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857250" y="4619625"/>
            <a:ext cx="1485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一家门店的数据采集</a:t>
            </a:r>
            <a:endParaRPr lang="zh-CN" sz="12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2552700" y="4514850"/>
            <a:ext cx="219075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 panose="020B0604020202020204"/>
                <a:ea typeface="Arial" panose="020B0604020202020204"/>
              </a:rPr>
              <a:t>7</a:t>
            </a:r>
            <a:endParaRPr lang="en-US" sz="3000" b="1">
              <a:solidFill>
                <a:srgbClr val="B9C6DC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2838450" y="464820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微软雅黑" panose="020B0503020204020204" charset="-122"/>
                <a:ea typeface="微软雅黑" panose="020B0503020204020204" charset="-122"/>
              </a:rPr>
              <a:t>张表</a:t>
            </a:r>
            <a:endParaRPr lang="zh-CN" sz="975">
              <a:solidFill>
                <a:srgbClr val="B9C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3295650" y="45815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</p:spPr>
        <p:txBody>
          <a:bodyPr/>
          <a:p/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3381375" y="4648200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3829050" y="4438650"/>
            <a:ext cx="276225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7</a:t>
            </a:r>
            <a:endParaRPr lang="en-US" sz="390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4152900" y="4819650"/>
            <a:ext cx="266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张图</a:t>
            </a:r>
            <a:endParaRPr lang="zh-CN" sz="105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4705350" y="4543425"/>
            <a:ext cx="6705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同样七个界面，但不用再逐项抄字段：上传截图即可，识别结果可直接校对修改</a:t>
            </a:r>
            <a:endParaRPr lang="zh-CN" sz="900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4705350" y="4819650"/>
            <a:ext cx="6705600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含移动端拍照上传</a:t>
            </a:r>
            <a:endParaRPr lang="zh-CN" sz="790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609600" y="5829300"/>
            <a:ext cx="10972800" cy="533400"/>
          </a:xfrm>
          <a:prstGeom prst="roundRect">
            <a:avLst>
              <a:gd name="adj" fmla="val 16071"/>
            </a:avLst>
          </a:prstGeom>
          <a:gradFill>
            <a:gsLst>
              <a:gs pos="0">
                <a:srgbClr val="1B5FD9">
                  <a:alpha val="10000"/>
                </a:srgbClr>
              </a:gs>
              <a:gs pos="100000">
                <a:srgbClr val="35C8F0">
                  <a:alpha val="1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109" name="圆角矩形 108"/>
          <p:cNvSpPr/>
          <p:nvPr/>
        </p:nvSpPr>
        <p:spPr>
          <a:xfrm>
            <a:off x="800100" y="60674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000125" y="5981700"/>
            <a:ext cx="10391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省下来的不是时间本身，是门店愿意持续做这件事的可能性——运营动作频次上去了，数据才有得看。</a:t>
            </a:r>
            <a:endParaRPr lang="zh-CN" sz="975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09600" y="6543675"/>
            <a:ext cx="2962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940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11220450" y="6543675"/>
            <a:ext cx="361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8494B4"/>
                </a:solidFill>
                <a:latin typeface="Arial" panose="020B0604020202020204"/>
                <a:ea typeface="Arial" panose="020B0604020202020204"/>
              </a:rPr>
              <a:t>11 / 15</a:t>
            </a:r>
            <a:endParaRPr lang="en-US" sz="940">
              <a:solidFill>
                <a:srgbClr val="8494B4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 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</p:spPr>
        <p:txBody>
          <a:bodyPr/>
          <a:p/>
        </p:txBody>
      </p:sp>
      <p:sp>
        <p:nvSpPr>
          <p:cNvPr id="115" name="圆角矩形 114"/>
          <p:cNvSpPr/>
          <p:nvPr/>
        </p:nvSpPr>
        <p:spPr>
          <a:xfrm>
            <a:off x="609600" y="3905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819150" y="266700"/>
            <a:ext cx="3095625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先跑通</a:t>
            </a:r>
            <a:r>
              <a:rPr lang="en-US" sz="22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 28 </a:t>
            </a:r>
            <a:r>
              <a:rPr lang="zh-CN" sz="22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家，再谈铺开</a:t>
            </a:r>
            <a:endParaRPr lang="zh-CN" sz="22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819150" y="714375"/>
            <a:ext cx="30956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辽宁打样</a:t>
            </a:r>
            <a:r>
              <a:rPr lang="en-US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区域复制</a:t>
            </a:r>
            <a:r>
              <a:rPr lang="en-US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集团打通，三级推进</a:t>
            </a:r>
            <a:endParaRPr lang="zh-CN" sz="940" spc="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8" name="图片 117"/>
          <p:cNvPicPr>
            <a:picLocks noChangeAspect="1"/>
          </p:cNvPicPr>
          <p:nvPr/>
        </p:nvPicPr>
        <p:blipFill>
          <a:blip r:embed="rId1">
            <a:alphaModFix amt="55000"/>
          </a:blip>
          <a:srcRect t="110" b="110"/>
          <a:stretch>
            <a:fillRect/>
          </a:stretch>
        </p:blipFill>
        <p:spPr>
          <a:xfrm>
            <a:off x="10515600" y="285750"/>
            <a:ext cx="1066800" cy="457200"/>
          </a:xfrm>
          <a:prstGeom prst="rect">
            <a:avLst/>
          </a:prstGeom>
        </p:spPr>
      </p:pic>
      <p:sp>
        <p:nvSpPr>
          <p:cNvPr id="119" name="圆角矩形 118"/>
          <p:cNvSpPr/>
          <p:nvPr/>
        </p:nvSpPr>
        <p:spPr>
          <a:xfrm>
            <a:off x="657225" y="1009650"/>
            <a:ext cx="6172200" cy="1409700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20" name="任意多边形 119"/>
          <p:cNvSpPr/>
          <p:nvPr/>
        </p:nvSpPr>
        <p:spPr>
          <a:xfrm>
            <a:off x="657225" y="1009650"/>
            <a:ext cx="6172200" cy="1409700"/>
          </a:xfrm>
          <a:custGeom>
            <a:avLst/>
            <a:gdLst/>
            <a:ahLst/>
            <a:cxnLst/>
            <a:pathLst>
              <a:path w="648" h="148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142"/>
                </a:lnTo>
                <a:cubicBezTo>
                  <a:pt x="5" y="145"/>
                  <a:pt x="7" y="147"/>
                  <a:pt x="10" y="148"/>
                </a:cubicBezTo>
                <a:cubicBezTo>
                  <a:pt x="4" y="147"/>
                  <a:pt x="0" y="143"/>
                  <a:pt x="0" y="137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121" name="圆角矩形 120"/>
          <p:cNvSpPr/>
          <p:nvPr/>
        </p:nvSpPr>
        <p:spPr>
          <a:xfrm>
            <a:off x="847725" y="1409700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923925" y="1428750"/>
            <a:ext cx="38100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第一阶段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1476375" y="1390650"/>
            <a:ext cx="1047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辽宁</a:t>
            </a:r>
            <a:r>
              <a:rPr lang="en-US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 28 </a:t>
            </a: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家打样</a:t>
            </a:r>
            <a:endParaRPr lang="zh-CN" sz="12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847725" y="1638300"/>
            <a:ext cx="57435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先让沈阳、盘锦直营门诊跑满一个完整月度周期，把截图采集流程和诊断口径固定下来</a:t>
            </a:r>
            <a:endParaRPr lang="zh-CN" sz="86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圆角矩形 124"/>
          <p:cNvSpPr/>
          <p:nvPr/>
        </p:nvSpPr>
        <p:spPr>
          <a:xfrm>
            <a:off x="847725" y="19621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952500" y="1924050"/>
            <a:ext cx="962025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 b="1" spc="38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口径定型</a:t>
            </a:r>
            <a:r>
              <a:rPr lang="en-US" sz="790" b="1" spc="38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90" b="1" spc="38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流程跑顺</a:t>
            </a:r>
            <a:endParaRPr lang="zh-CN" sz="790" b="1" spc="38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圆角矩形 126"/>
          <p:cNvSpPr/>
          <p:nvPr/>
        </p:nvSpPr>
        <p:spPr>
          <a:xfrm>
            <a:off x="657225" y="2514600"/>
            <a:ext cx="6172200" cy="1771650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28" name="任意多边形 127"/>
          <p:cNvSpPr/>
          <p:nvPr/>
        </p:nvSpPr>
        <p:spPr>
          <a:xfrm>
            <a:off x="657225" y="2514600"/>
            <a:ext cx="6172200" cy="1771650"/>
          </a:xfrm>
          <a:custGeom>
            <a:avLst/>
            <a:gdLst/>
            <a:ahLst/>
            <a:cxnLst/>
            <a:pathLst>
              <a:path w="648" h="186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180"/>
                </a:lnTo>
                <a:cubicBezTo>
                  <a:pt x="5" y="183"/>
                  <a:pt x="7" y="185"/>
                  <a:pt x="10" y="186"/>
                </a:cubicBezTo>
                <a:cubicBezTo>
                  <a:pt x="4" y="185"/>
                  <a:pt x="0" y="181"/>
                  <a:pt x="0" y="175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2E86E8"/>
          </a:solidFill>
        </p:spPr>
        <p:txBody>
          <a:bodyPr/>
          <a:p/>
        </p:txBody>
      </p:sp>
      <p:sp>
        <p:nvSpPr>
          <p:cNvPr id="129" name="圆角矩形 128"/>
          <p:cNvSpPr/>
          <p:nvPr/>
        </p:nvSpPr>
        <p:spPr>
          <a:xfrm>
            <a:off x="847725" y="3095625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2E86E8"/>
          </a:solidFill>
        </p:spPr>
        <p:txBody>
          <a:bodyPr/>
          <a:p/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923925" y="3114675"/>
            <a:ext cx="38100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476375" y="3076575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大区复制</a:t>
            </a:r>
            <a:endParaRPr lang="zh-CN" sz="12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847725" y="3324225"/>
            <a:ext cx="57435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把模板、话术库、评分口径做成可下发的配置，其他省区不再重头搭一遍</a:t>
            </a:r>
            <a:endParaRPr lang="zh-CN" sz="86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847725" y="36480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2E86E8"/>
          </a:solidFill>
        </p:spPr>
        <p:txBody>
          <a:bodyPr/>
          <a:p/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952500" y="3609975"/>
            <a:ext cx="1066800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 b="1" spc="38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配置下发</a:t>
            </a:r>
            <a:r>
              <a:rPr lang="en-US" sz="790" b="1" spc="38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90" b="1" spc="38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无需重开发</a:t>
            </a:r>
            <a:endParaRPr lang="zh-CN" sz="790" b="1" spc="38">
              <a:solidFill>
                <a:srgbClr val="2E8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657225" y="4381500"/>
            <a:ext cx="6172200" cy="2133600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6" name="任意多边形 135"/>
          <p:cNvSpPr/>
          <p:nvPr/>
        </p:nvSpPr>
        <p:spPr>
          <a:xfrm>
            <a:off x="657225" y="4381500"/>
            <a:ext cx="6172200" cy="2133600"/>
          </a:xfrm>
          <a:custGeom>
            <a:avLst/>
            <a:gdLst/>
            <a:ahLst/>
            <a:cxnLst/>
            <a:pathLst>
              <a:path w="648" h="224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218"/>
                </a:lnTo>
                <a:cubicBezTo>
                  <a:pt x="5" y="221"/>
                  <a:pt x="7" y="223"/>
                  <a:pt x="10" y="224"/>
                </a:cubicBezTo>
                <a:cubicBezTo>
                  <a:pt x="4" y="223"/>
                  <a:pt x="0" y="219"/>
                  <a:pt x="0" y="213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137" name="圆角矩形 136"/>
          <p:cNvSpPr/>
          <p:nvPr/>
        </p:nvSpPr>
        <p:spPr>
          <a:xfrm>
            <a:off x="847725" y="5143500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923925" y="5162550"/>
            <a:ext cx="38100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第三阶段</a:t>
            </a:r>
            <a:endParaRPr lang="zh-CN"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1476375" y="51244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集团数据打通</a:t>
            </a:r>
            <a:endParaRPr lang="zh-CN" sz="12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847725" y="5372100"/>
            <a:ext cx="57435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接入集团经营看板，与</a:t>
            </a:r>
            <a:r>
              <a:rPr lang="en-US" sz="86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Ahis </a:t>
            </a:r>
            <a:r>
              <a:rPr lang="zh-CN" sz="86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周报、月会口径对齐，让美团数据进到经营会议题里</a:t>
            </a:r>
            <a:endParaRPr lang="zh-CN" sz="86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847725" y="56959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952500" y="5657850"/>
            <a:ext cx="962025" cy="123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 b="1" spc="38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口径对齐</a:t>
            </a:r>
            <a:r>
              <a:rPr lang="en-US" sz="790" b="1" spc="38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790" b="1" spc="38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进经营会</a:t>
            </a:r>
            <a:endParaRPr lang="zh-CN" sz="790" b="1" spc="38">
              <a:solidFill>
                <a:srgbClr val="35C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圆角矩形 142"/>
          <p:cNvSpPr/>
          <p:nvPr/>
        </p:nvSpPr>
        <p:spPr>
          <a:xfrm>
            <a:off x="6953250" y="1009650"/>
            <a:ext cx="4629150" cy="251460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44" name="图片 143"/>
          <p:cNvPicPr>
            <a:picLocks noChangeAspect="1"/>
          </p:cNvPicPr>
          <p:nvPr/>
        </p:nvPicPr>
        <p:blipFill>
          <a:blip r:embed="rId2"/>
          <a:srcRect t="7627" b="7627"/>
          <a:stretch>
            <a:fillRect/>
          </a:stretch>
        </p:blipFill>
        <p:spPr>
          <a:xfrm>
            <a:off x="7019925" y="1076325"/>
            <a:ext cx="4495800" cy="2381250"/>
          </a:xfrm>
          <a:prstGeom prst="roundRect">
            <a:avLst>
              <a:gd name="adj" fmla="val 2400"/>
            </a:avLst>
          </a:prstGeom>
        </p:spPr>
      </p:pic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6953250" y="3619500"/>
            <a:ext cx="4629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复制时真正要带走的三样东西</a:t>
            </a:r>
            <a:endParaRPr lang="zh-CN" sz="94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圆角矩形 145"/>
          <p:cNvSpPr/>
          <p:nvPr/>
        </p:nvSpPr>
        <p:spPr>
          <a:xfrm>
            <a:off x="6953250" y="3848100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</p:spPr>
        <p:txBody>
          <a:bodyPr/>
          <a:p/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7086600" y="4067175"/>
            <a:ext cx="247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01</a:t>
            </a:r>
            <a:endParaRPr lang="en-US" sz="165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7439025" y="4010025"/>
            <a:ext cx="4010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4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endParaRPr lang="zh-CN" sz="94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7439025" y="4200525"/>
            <a:ext cx="40100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9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总部分月下发的品牌视觉与文案结构</a:t>
            </a:r>
            <a:endParaRPr lang="zh-CN" sz="790">
              <a:solidFill>
                <a:srgbClr val="7A8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圆角矩形 149"/>
          <p:cNvSpPr/>
          <p:nvPr/>
        </p:nvSpPr>
        <p:spPr>
          <a:xfrm>
            <a:off x="6953250" y="4619625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</p:spPr>
        <p:txBody>
          <a:bodyPr/>
          <a:p/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7086600" y="4838700"/>
            <a:ext cx="247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165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7439025" y="4781550"/>
            <a:ext cx="4010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4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口径</a:t>
            </a:r>
            <a:endParaRPr lang="zh-CN" sz="94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7439025" y="4972050"/>
            <a:ext cx="40100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9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评分、转化、价格带的统一算法</a:t>
            </a:r>
            <a:endParaRPr lang="zh-CN" sz="790">
              <a:solidFill>
                <a:srgbClr val="7A8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6953250" y="5391150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</p:spPr>
        <p:txBody>
          <a:bodyPr/>
          <a:p/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7086600" y="5610225"/>
            <a:ext cx="247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165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7439025" y="5553075"/>
            <a:ext cx="4010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4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话术库</a:t>
            </a:r>
            <a:endParaRPr lang="zh-CN" sz="94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7439025" y="5743575"/>
            <a:ext cx="40100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90">
                <a:solidFill>
                  <a:srgbClr val="7A8AAA"/>
                </a:solidFill>
                <a:latin typeface="微软雅黑" panose="020B0503020204020204" charset="-122"/>
                <a:ea typeface="微软雅黑" panose="020B0503020204020204" charset="-122"/>
              </a:rPr>
              <a:t>差评回复与咨询转化的分场景沉淀</a:t>
            </a:r>
            <a:endParaRPr lang="zh-CN" sz="790">
              <a:solidFill>
                <a:srgbClr val="7A8A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609600" y="6562725"/>
            <a:ext cx="2962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940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11210925" y="6562725"/>
            <a:ext cx="3714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8494B4"/>
                </a:solidFill>
                <a:latin typeface="Arial" panose="020B0604020202020204"/>
                <a:ea typeface="Arial" panose="020B0604020202020204"/>
              </a:rPr>
              <a:t>12 / 15</a:t>
            </a:r>
            <a:endParaRPr lang="en-US" sz="940">
              <a:solidFill>
                <a:srgbClr val="8494B4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 1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</p:spPr>
        <p:txBody>
          <a:bodyPr/>
          <a:p/>
        </p:txBody>
      </p:sp>
      <p:pic>
        <p:nvPicPr>
          <p:cNvPr id="162" name="图片 161"/>
          <p:cNvPicPr>
            <a:picLocks noChangeAspect="1"/>
          </p:cNvPicPr>
          <p:nvPr/>
        </p:nvPicPr>
        <p:blipFill>
          <a:blip r:embed="rId1"/>
          <a:srcRect t="2" b="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3" name="矩形 1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6B">
                  <a:alpha val="90000"/>
                </a:srgbClr>
              </a:gs>
              <a:gs pos="50000">
                <a:srgbClr val="0B2A6B">
                  <a:alpha val="72000"/>
                </a:srgbClr>
              </a:gs>
              <a:gs pos="100000">
                <a:srgbClr val="1B5FD9">
                  <a:alpha val="58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164" name="矩形 163"/>
          <p:cNvSpPr/>
          <p:nvPr/>
        </p:nvSpPr>
        <p:spPr>
          <a:xfrm>
            <a:off x="0" y="4857750"/>
            <a:ext cx="12192000" cy="2000250"/>
          </a:xfrm>
          <a:prstGeom prst="rect">
            <a:avLst/>
          </a:prstGeom>
          <a:gradFill>
            <a:gsLst>
              <a:gs pos="0">
                <a:srgbClr val="0B2A6B">
                  <a:alpha val="0"/>
                </a:srgbClr>
              </a:gs>
              <a:gs pos="100000">
                <a:srgbClr val="0B2A6B">
                  <a:alpha val="92000"/>
                </a:srgbClr>
              </a:gs>
            </a:gsLst>
            <a:lin ang="5400000" scaled="1"/>
          </a:gradFill>
        </p:spPr>
        <p:txBody>
          <a:bodyPr/>
          <a:p/>
        </p:txBody>
      </p:sp>
      <p:pic>
        <p:nvPicPr>
          <p:cNvPr id="165" name="图片 164"/>
          <p:cNvPicPr>
            <a:picLocks noChangeAspect="1"/>
          </p:cNvPicPr>
          <p:nvPr/>
        </p:nvPicPr>
        <p:blipFill>
          <a:blip r:embed="rId2"/>
          <a:srcRect t="749" b="749"/>
          <a:stretch>
            <a:fillRect/>
          </a:stretch>
        </p:blipFill>
        <p:spPr>
          <a:xfrm>
            <a:off x="609600" y="400050"/>
            <a:ext cx="1485900" cy="628650"/>
          </a:xfrm>
          <a:prstGeom prst="rect">
            <a:avLst/>
          </a:prstGeom>
        </p:spPr>
      </p:pic>
      <p:sp>
        <p:nvSpPr>
          <p:cNvPr id="166" name="矩形 165"/>
          <p:cNvSpPr/>
          <p:nvPr/>
        </p:nvSpPr>
        <p:spPr>
          <a:xfrm>
            <a:off x="2305050" y="542925"/>
            <a:ext cx="9525" cy="342900"/>
          </a:xfrm>
          <a:prstGeom prst="rect">
            <a:avLst/>
          </a:prstGeom>
          <a:solidFill>
            <a:srgbClr val="FFFFFF">
              <a:alpha val="26000"/>
            </a:srgbClr>
          </a:solidFill>
        </p:spPr>
        <p:txBody>
          <a:bodyPr/>
          <a:p/>
        </p:txBody>
      </p:sp>
      <p:pic>
        <p:nvPicPr>
          <p:cNvPr id="167" name="图片 166"/>
          <p:cNvPicPr>
            <a:picLocks noChangeAspect="1"/>
          </p:cNvPicPr>
          <p:nvPr/>
        </p:nvPicPr>
        <p:blipFill>
          <a:blip r:embed="rId3"/>
          <a:srcRect l="700" r="700"/>
          <a:stretch>
            <a:fillRect/>
          </a:stretch>
        </p:blipFill>
        <p:spPr>
          <a:xfrm>
            <a:off x="2524125" y="466725"/>
            <a:ext cx="1771650" cy="495300"/>
          </a:xfrm>
          <a:prstGeom prst="rect">
            <a:avLst/>
          </a:prstGeom>
        </p:spPr>
      </p:pic>
      <p:sp>
        <p:nvSpPr>
          <p:cNvPr id="168" name="圆角矩形 167"/>
          <p:cNvSpPr/>
          <p:nvPr/>
        </p:nvSpPr>
        <p:spPr>
          <a:xfrm>
            <a:off x="609600" y="21526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</p:spPr>
        <p:txBody>
          <a:bodyPr/>
          <a:p/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800100" y="2209800"/>
            <a:ext cx="1781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225">
                <a:solidFill>
                  <a:srgbClr val="8FE3F8"/>
                </a:solidFill>
                <a:latin typeface="微软雅黑" panose="020B0503020204020204" charset="-122"/>
                <a:ea typeface="微软雅黑" panose="020B0503020204020204" charset="-122"/>
              </a:rPr>
              <a:t>谢谢聆听</a:t>
            </a:r>
            <a:r>
              <a:rPr lang="en-US" sz="1275" b="1" spc="225">
                <a:solidFill>
                  <a:srgbClr val="8FE3F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 spc="225">
                <a:solidFill>
                  <a:srgbClr val="8FE3F8"/>
                </a:solidFill>
                <a:latin typeface="微软雅黑" panose="020B0503020204020204" charset="-122"/>
                <a:ea typeface="微软雅黑" panose="020B0503020204020204" charset="-122"/>
              </a:rPr>
              <a:t>敬请指正</a:t>
            </a:r>
            <a:endParaRPr lang="zh-CN" sz="1275" b="1" spc="225">
              <a:solidFill>
                <a:srgbClr val="8FE3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609600" y="2686050"/>
            <a:ext cx="8572500" cy="1562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让每家门诊都能自己做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美团运营的「专业判断」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609600" y="4495800"/>
            <a:ext cx="8572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00">
                <a:solidFill>
                  <a:srgbClr val="C8D9F5"/>
                </a:solidFill>
                <a:latin typeface="微软雅黑" panose="020B0503020204020204" charset="-122"/>
                <a:ea typeface="微软雅黑" panose="020B0503020204020204" charset="-122"/>
              </a:rPr>
              <a:t>工具只是开始，真正要沉淀的是把好店长的经验变成集团的标准动作。</a:t>
            </a:r>
            <a:endParaRPr lang="zh-CN" sz="1200">
              <a:solidFill>
                <a:srgbClr val="C8D9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609600" y="5953125"/>
            <a:ext cx="18002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spc="75">
                <a:solidFill>
                  <a:srgbClr val="A8CDF5"/>
                </a:solidFill>
                <a:latin typeface="微软雅黑" panose="020B0503020204020204" charset="-122"/>
                <a:ea typeface="微软雅黑" panose="020B0503020204020204" charset="-122"/>
              </a:rPr>
              <a:t>参赛作品</a:t>
            </a:r>
            <a:endParaRPr lang="zh-CN" sz="865" spc="75">
              <a:solidFill>
                <a:srgbClr val="A8CD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609600" y="6143625"/>
            <a:ext cx="1800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2867025" y="5953125"/>
            <a:ext cx="21145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spc="75">
                <a:solidFill>
                  <a:srgbClr val="A8CDF5"/>
                </a:solidFill>
                <a:latin typeface="微软雅黑" panose="020B0503020204020204" charset="-122"/>
                <a:ea typeface="微软雅黑" panose="020B0503020204020204" charset="-122"/>
              </a:rPr>
              <a:t>汇报单位</a:t>
            </a:r>
            <a:endParaRPr lang="zh-CN" sz="865" spc="75">
              <a:solidFill>
                <a:srgbClr val="A8CD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2867025" y="6143625"/>
            <a:ext cx="2114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门诊管理中心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任意多边形 175"/>
          <p:cNvSpPr/>
          <p:nvPr/>
        </p:nvSpPr>
        <p:spPr>
          <a:xfrm>
            <a:off x="10963275" y="5895975"/>
            <a:ext cx="647700" cy="447675"/>
          </a:xfrm>
          <a:custGeom>
            <a:avLst/>
            <a:gdLst/>
            <a:ahLst/>
            <a:cxnLst/>
            <a:pathLst>
              <a:path w="68" h="47">
                <a:moveTo>
                  <a:pt x="0" y="0"/>
                </a:moveTo>
                <a:lnTo>
                  <a:pt x="3" y="0"/>
                </a:lnTo>
                <a:lnTo>
                  <a:pt x="3" y="47"/>
                </a:lnTo>
                <a:lnTo>
                  <a:pt x="0" y="47"/>
                </a:ln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11182350" y="5895975"/>
            <a:ext cx="40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DE8FF"/>
                </a:solidFill>
                <a:latin typeface="微软雅黑" panose="020B0503020204020204" charset="-122"/>
                <a:ea typeface="微软雅黑" panose="020B0503020204020204" charset="-122"/>
              </a:rPr>
              <a:t>答辩人</a:t>
            </a:r>
            <a:endParaRPr lang="zh-CN" sz="1050">
              <a:solidFill>
                <a:srgbClr val="ADE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11182350" y="6096000"/>
            <a:ext cx="400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王皓</a:t>
            </a:r>
            <a:endParaRPr lang="zh-CN"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</p:spPr>
        <p:txBody>
          <a:bodyPr/>
          <a:p/>
        </p:txBody>
      </p:sp>
      <p:sp>
        <p:nvSpPr>
          <p:cNvPr id="181" name="圆角矩形 180"/>
          <p:cNvSpPr/>
          <p:nvPr/>
        </p:nvSpPr>
        <p:spPr>
          <a:xfrm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</p:spPr>
        <p:txBody>
          <a:bodyPr/>
          <a:p/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819150" y="247650"/>
            <a:ext cx="34290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答辩预案：四类问题怎么答</a:t>
            </a:r>
            <a:endParaRPr lang="zh-CN" sz="22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819150" y="695325"/>
            <a:ext cx="34290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技术壁垒</a:t>
            </a:r>
            <a:r>
              <a:rPr lang="en-US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落地成本</a:t>
            </a:r>
            <a:r>
              <a:rPr lang="en-US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数据安全</a:t>
            </a:r>
            <a:r>
              <a:rPr lang="en-US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可复制性</a:t>
            </a:r>
            <a:endParaRPr lang="zh-CN" sz="940" spc="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0734675" y="266700"/>
            <a:ext cx="847725" cy="228600"/>
          </a:xfrm>
          <a:prstGeom prst="roundRect">
            <a:avLst>
              <a:gd name="adj" fmla="val 20833"/>
            </a:avLst>
          </a:prstGeom>
          <a:solidFill>
            <a:srgbClr val="FF8A3D">
              <a:alpha val="12000"/>
            </a:srgbClr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0839450" y="314325"/>
            <a:ext cx="6381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D96B15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825" b="1">
                <a:solidFill>
                  <a:srgbClr val="D96B15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825" b="1">
                <a:solidFill>
                  <a:srgbClr val="D96B15"/>
                </a:solidFill>
                <a:latin typeface="微软雅黑" panose="020B0503020204020204" charset="-122"/>
                <a:ea typeface="微软雅黑" panose="020B0503020204020204" charset="-122"/>
              </a:rPr>
              <a:t>不演讲</a:t>
            </a:r>
            <a:endParaRPr lang="zh-CN" sz="825" b="1">
              <a:solidFill>
                <a:srgbClr val="D96B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09600" y="1009650"/>
            <a:ext cx="2647950" cy="5143500"/>
          </a:xfrm>
          <a:prstGeom prst="roundRect">
            <a:avLst>
              <a:gd name="adj" fmla="val 3957"/>
            </a:avLst>
          </a:prstGeom>
          <a:solidFill>
            <a:srgbClr val="FFFFFF"/>
          </a:solidFill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7" name="任意多边形 186"/>
          <p:cNvSpPr/>
          <p:nvPr/>
        </p:nvSpPr>
        <p:spPr>
          <a:xfrm>
            <a:off x="609600" y="1009650"/>
            <a:ext cx="2647950" cy="5143500"/>
          </a:xfrm>
          <a:custGeom>
            <a:avLst/>
            <a:gdLst/>
            <a:ahLst/>
            <a:cxnLst/>
            <a:pathLst>
              <a:path w="278" h="540">
                <a:moveTo>
                  <a:pt x="268" y="0"/>
                </a:moveTo>
                <a:cubicBezTo>
                  <a:pt x="273" y="0"/>
                  <a:pt x="277" y="4"/>
                  <a:pt x="278" y="9"/>
                </a:cubicBezTo>
                <a:cubicBezTo>
                  <a:pt x="277" y="6"/>
                  <a:pt x="274" y="4"/>
                  <a:pt x="271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7" y="0"/>
                </a:lnTo>
                <a:close/>
              </a:path>
            </a:pathLst>
          </a:custGeom>
          <a:solidFill>
            <a:srgbClr val="1B5FD9"/>
          </a:solidFill>
        </p:spPr>
        <p:txBody>
          <a:bodyPr/>
          <a:p/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762000" y="1162050"/>
            <a:ext cx="23431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技术壁垒</a:t>
            </a:r>
            <a:endParaRPr lang="zh-CN" sz="12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762000" y="1466850"/>
            <a:ext cx="2343150" cy="1304925"/>
          </a:xfrm>
          <a:prstGeom prst="roundRect">
            <a:avLst>
              <a:gd name="adj" fmla="val 5109"/>
            </a:avLst>
          </a:prstGeom>
          <a:solidFill>
            <a:srgbClr val="1B5FD9">
              <a:alpha val="4000"/>
            </a:srgbClr>
          </a:solidFill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66775" y="1571625"/>
            <a:ext cx="2133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为什么用截图而不是</a:t>
            </a:r>
            <a:r>
              <a:rPr lang="en-US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对接？</a:t>
            </a:r>
            <a:endParaRPr lang="zh-CN" sz="825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866775" y="1809750"/>
            <a:ext cx="21336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9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经营参谋本身不开放接口，等下去没有时间表。截图方案让门店零学习成本，今天就能用上。</a:t>
            </a:r>
            <a:endParaRPr lang="zh-CN" sz="79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762000" y="2867025"/>
            <a:ext cx="2343150" cy="1504950"/>
          </a:xfrm>
          <a:prstGeom prst="roundRect">
            <a:avLst>
              <a:gd name="adj" fmla="val 4430"/>
            </a:avLst>
          </a:prstGeom>
          <a:solidFill>
            <a:srgbClr val="1B5FD9">
              <a:alpha val="4000"/>
            </a:srgbClr>
          </a:solidFill>
        </p:spPr>
        <p:txBody>
          <a:bodyPr/>
          <a:p/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866775" y="2971800"/>
            <a:ext cx="2133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OCR </a:t>
            </a:r>
            <a:r>
              <a:rPr lang="zh-CN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准确率怎么保证？</a:t>
            </a:r>
            <a:endParaRPr lang="zh-CN" sz="825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866775" y="3209925"/>
            <a:ext cx="21336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9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七个界面各自对应固定字段，识别范围收窄后准确率可控；同时保留手动录入，识别结果可直接对照修改。</a:t>
            </a:r>
            <a:endParaRPr lang="zh-CN" sz="79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762000" y="4467225"/>
            <a:ext cx="2343150" cy="1495425"/>
          </a:xfrm>
          <a:prstGeom prst="roundRect">
            <a:avLst>
              <a:gd name="adj" fmla="val 4459"/>
            </a:avLst>
          </a:prstGeom>
          <a:solidFill>
            <a:srgbClr val="1B5FD9">
              <a:alpha val="4000"/>
            </a:srgbClr>
          </a:solidFill>
        </p:spPr>
        <p:txBody>
          <a:bodyPr/>
          <a:p/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866775" y="4572000"/>
            <a:ext cx="2133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和通用</a:t>
            </a:r>
            <a:r>
              <a:rPr lang="en-US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 SaaS </a:t>
            </a:r>
            <a:r>
              <a:rPr lang="zh-CN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比差别在哪？</a:t>
            </a:r>
            <a:endParaRPr lang="zh-CN" sz="825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866775" y="4810125"/>
            <a:ext cx="21336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9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通用工具不懂眼科项目结构，也不知道爱尔的评分口径。我们要的是能直接用的口径和话术，不是又一套后台。</a:t>
            </a:r>
            <a:endParaRPr lang="zh-CN" sz="79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圆角矩形 197"/>
          <p:cNvSpPr/>
          <p:nvPr/>
        </p:nvSpPr>
        <p:spPr>
          <a:xfrm>
            <a:off x="3390900" y="1009650"/>
            <a:ext cx="2638425" cy="514350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9" name="任意多边形 198"/>
          <p:cNvSpPr/>
          <p:nvPr/>
        </p:nvSpPr>
        <p:spPr>
          <a:xfrm>
            <a:off x="3390900" y="1009650"/>
            <a:ext cx="2638425" cy="5143500"/>
          </a:xfrm>
          <a:custGeom>
            <a:avLst/>
            <a:gdLst/>
            <a:ahLst/>
            <a:cxnLst/>
            <a:pathLst>
              <a:path w="277" h="540">
                <a:moveTo>
                  <a:pt x="267" y="0"/>
                </a:moveTo>
                <a:cubicBezTo>
                  <a:pt x="272" y="0"/>
                  <a:pt x="276" y="4"/>
                  <a:pt x="277" y="9"/>
                </a:cubicBezTo>
                <a:cubicBezTo>
                  <a:pt x="276" y="6"/>
                  <a:pt x="273" y="4"/>
                  <a:pt x="270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2E86E8"/>
          </a:solidFill>
        </p:spPr>
        <p:txBody>
          <a:bodyPr/>
          <a:p/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3543300" y="1162050"/>
            <a:ext cx="23336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落地成本</a:t>
            </a:r>
            <a:endParaRPr lang="zh-CN" sz="12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圆角矩形 200"/>
          <p:cNvSpPr/>
          <p:nvPr/>
        </p:nvSpPr>
        <p:spPr>
          <a:xfrm>
            <a:off x="3543300" y="1466850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</p:spPr>
        <p:txBody>
          <a:bodyPr/>
          <a:p/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3648075" y="1571625"/>
            <a:ext cx="21240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825" b="1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门店会不会嫌麻烦？</a:t>
            </a:r>
            <a:endParaRPr lang="zh-CN" sz="825" b="1">
              <a:solidFill>
                <a:srgbClr val="2E8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3648075" y="1809750"/>
            <a:ext cx="2124075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9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比原来更省事：原来要抄字段进表，现在拍七张图。手机端做完全程，不用开电脑。</a:t>
            </a:r>
            <a:endParaRPr lang="zh-CN" sz="79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圆角矩形 203"/>
          <p:cNvSpPr/>
          <p:nvPr/>
        </p:nvSpPr>
        <p:spPr>
          <a:xfrm>
            <a:off x="3543300" y="3000375"/>
            <a:ext cx="2333625" cy="1428750"/>
          </a:xfrm>
          <a:prstGeom prst="roundRect">
            <a:avLst>
              <a:gd name="adj" fmla="val 4667"/>
            </a:avLst>
          </a:prstGeom>
          <a:solidFill>
            <a:srgbClr val="1B5FD9">
              <a:alpha val="4000"/>
            </a:srgbClr>
          </a:solidFill>
        </p:spPr>
        <p:txBody>
          <a:bodyPr/>
          <a:p/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3648075" y="3105150"/>
            <a:ext cx="21240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825" b="1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28 </a:t>
            </a:r>
            <a:r>
              <a:rPr lang="zh-CN" sz="825" b="1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家推广要多久？</a:t>
            </a:r>
            <a:endParaRPr lang="zh-CN" sz="825" b="1">
              <a:solidFill>
                <a:srgbClr val="2E8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3648075" y="3343275"/>
            <a:ext cx="2124075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9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辽宁直营门诊按一个月跑通并固定口径，其他门诊主要成本是一轮培训，不需要新增硬件投入。</a:t>
            </a:r>
            <a:endParaRPr lang="zh-CN" sz="79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圆角矩形 206"/>
          <p:cNvSpPr/>
          <p:nvPr/>
        </p:nvSpPr>
        <p:spPr>
          <a:xfrm>
            <a:off x="3543300" y="4524375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</p:spPr>
        <p:txBody>
          <a:bodyPr/>
          <a:p/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3648075" y="4629150"/>
            <a:ext cx="21240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825" b="1">
                <a:solidFill>
                  <a:srgbClr val="2E86E8"/>
                </a:solidFill>
                <a:latin typeface="微软雅黑" panose="020B0503020204020204" charset="-122"/>
                <a:ea typeface="微软雅黑" panose="020B0503020204020204" charset="-122"/>
              </a:rPr>
              <a:t>要不要额外买设备或额度？</a:t>
            </a:r>
            <a:endParaRPr lang="zh-CN" sz="825" b="1">
              <a:solidFill>
                <a:srgbClr val="2E86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3648075" y="4867275"/>
            <a:ext cx="2124075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9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不需要。门店沿用现有手机，集团侧用现有模型服务额度，没有额外采购。</a:t>
            </a:r>
            <a:endParaRPr lang="zh-CN" sz="79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圆角矩形 209"/>
          <p:cNvSpPr/>
          <p:nvPr/>
        </p:nvSpPr>
        <p:spPr>
          <a:xfrm>
            <a:off x="6162675" y="1009650"/>
            <a:ext cx="2647950" cy="5143500"/>
          </a:xfrm>
          <a:prstGeom prst="roundRect">
            <a:avLst>
              <a:gd name="adj" fmla="val 3957"/>
            </a:avLst>
          </a:prstGeom>
          <a:solidFill>
            <a:srgbClr val="FFFFFF"/>
          </a:solidFill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11" name="任意多边形 210"/>
          <p:cNvSpPr/>
          <p:nvPr/>
        </p:nvSpPr>
        <p:spPr>
          <a:xfrm>
            <a:off x="6162675" y="1009650"/>
            <a:ext cx="2647950" cy="5143500"/>
          </a:xfrm>
          <a:custGeom>
            <a:avLst/>
            <a:gdLst/>
            <a:ahLst/>
            <a:cxnLst/>
            <a:pathLst>
              <a:path w="278" h="540">
                <a:moveTo>
                  <a:pt x="268" y="0"/>
                </a:moveTo>
                <a:cubicBezTo>
                  <a:pt x="273" y="0"/>
                  <a:pt x="277" y="4"/>
                  <a:pt x="278" y="9"/>
                </a:cubicBezTo>
                <a:cubicBezTo>
                  <a:pt x="277" y="6"/>
                  <a:pt x="274" y="4"/>
                  <a:pt x="271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7" y="0"/>
                </a:lnTo>
                <a:close/>
              </a:path>
            </a:pathLst>
          </a:custGeom>
          <a:solidFill>
            <a:srgbClr val="35C8F0"/>
          </a:solidFill>
        </p:spPr>
        <p:txBody>
          <a:bodyPr/>
          <a:p/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6315075" y="1162050"/>
            <a:ext cx="23431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数据安全</a:t>
            </a:r>
            <a:endParaRPr lang="zh-CN" sz="12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315075" y="1466850"/>
            <a:ext cx="2343150" cy="1562100"/>
          </a:xfrm>
          <a:prstGeom prst="roundRect">
            <a:avLst>
              <a:gd name="adj" fmla="val 4268"/>
            </a:avLst>
          </a:prstGeom>
          <a:solidFill>
            <a:srgbClr val="1B5FD9">
              <a:alpha val="4000"/>
            </a:srgbClr>
          </a:solidFill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6419850" y="1571625"/>
            <a:ext cx="2133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经营数据会不会外泄？</a:t>
            </a:r>
            <a:endParaRPr lang="zh-CN" sz="825" b="1">
              <a:solidFill>
                <a:srgbClr val="35C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6419850" y="1809750"/>
            <a:ext cx="21336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9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数据只在集团自有环境和已签约的大模型服务间流转，不落到第三方公共平台，前端也不做持久化存储。</a:t>
            </a:r>
            <a:endParaRPr lang="zh-CN" sz="79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圆角矩形 215"/>
          <p:cNvSpPr/>
          <p:nvPr/>
        </p:nvSpPr>
        <p:spPr>
          <a:xfrm>
            <a:off x="6315075" y="3124200"/>
            <a:ext cx="2343150" cy="1371600"/>
          </a:xfrm>
          <a:prstGeom prst="roundRect">
            <a:avLst>
              <a:gd name="adj" fmla="val 4861"/>
            </a:avLst>
          </a:prstGeom>
          <a:solidFill>
            <a:srgbClr val="1B5FD9">
              <a:alpha val="4000"/>
            </a:srgbClr>
          </a:solidFill>
        </p:spPr>
        <p:txBody>
          <a:bodyPr/>
          <a:p/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6419850" y="3228975"/>
            <a:ext cx="2133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截图含患者隐私吗？</a:t>
            </a:r>
            <a:endParaRPr lang="zh-CN" sz="825" b="1">
              <a:solidFill>
                <a:srgbClr val="35C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6419850" y="3467100"/>
            <a:ext cx="21336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9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采集范围限定在经营参谋的经营数据界面，不涉及患者姓名、病历等诊疗信息。</a:t>
            </a:r>
            <a:endParaRPr lang="zh-CN" sz="79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6315075" y="4591050"/>
            <a:ext cx="2343150" cy="1371600"/>
          </a:xfrm>
          <a:prstGeom prst="roundRect">
            <a:avLst>
              <a:gd name="adj" fmla="val 4861"/>
            </a:avLst>
          </a:prstGeom>
          <a:solidFill>
            <a:srgbClr val="1B5FD9">
              <a:alpha val="4000"/>
            </a:srgbClr>
          </a:solidFill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6419850" y="4695825"/>
            <a:ext cx="2133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微软雅黑" panose="020B0503020204020204" charset="-122"/>
                <a:ea typeface="微软雅黑" panose="020B0503020204020204" charset="-122"/>
              </a:rPr>
              <a:t>谁能看到别家门店的数据？</a:t>
            </a:r>
            <a:endParaRPr lang="zh-CN" sz="825" b="1">
              <a:solidFill>
                <a:srgbClr val="35C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6419850" y="4933950"/>
            <a:ext cx="21336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9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按门店账号隔离，跨店汇总只在总部管理视角可见，门店之间互相看不到。</a:t>
            </a:r>
            <a:endParaRPr lang="zh-CN" sz="79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圆角矩形 221"/>
          <p:cNvSpPr/>
          <p:nvPr/>
        </p:nvSpPr>
        <p:spPr>
          <a:xfrm>
            <a:off x="8943975" y="1009650"/>
            <a:ext cx="2638425" cy="514350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23" name="任意多边形 222"/>
          <p:cNvSpPr/>
          <p:nvPr/>
        </p:nvSpPr>
        <p:spPr>
          <a:xfrm>
            <a:off x="8943975" y="1009650"/>
            <a:ext cx="2638425" cy="5143500"/>
          </a:xfrm>
          <a:custGeom>
            <a:avLst/>
            <a:gdLst/>
            <a:ahLst/>
            <a:cxnLst/>
            <a:pathLst>
              <a:path w="277" h="540">
                <a:moveTo>
                  <a:pt x="267" y="0"/>
                </a:moveTo>
                <a:cubicBezTo>
                  <a:pt x="272" y="0"/>
                  <a:pt x="276" y="4"/>
                  <a:pt x="277" y="9"/>
                </a:cubicBezTo>
                <a:cubicBezTo>
                  <a:pt x="276" y="6"/>
                  <a:pt x="273" y="4"/>
                  <a:pt x="270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FF8A3D"/>
          </a:solidFill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9096375" y="1162050"/>
            <a:ext cx="23336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可复制性</a:t>
            </a:r>
            <a:endParaRPr lang="zh-CN" sz="12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圆角矩形 224"/>
          <p:cNvSpPr/>
          <p:nvPr/>
        </p:nvSpPr>
        <p:spPr>
          <a:xfrm>
            <a:off x="9096375" y="1466850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</p:spPr>
        <p:txBody>
          <a:bodyPr/>
          <a:p/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9201150" y="1571625"/>
            <a:ext cx="21240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能给别的业务线用吗？</a:t>
            </a:r>
            <a:endParaRPr lang="zh-CN" sz="825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9201150" y="1809750"/>
            <a:ext cx="2124075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9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评分口径、话术库、模板都是配置项，换业务线只换配置，不动代码结构。</a:t>
            </a:r>
            <a:endParaRPr lang="zh-CN" sz="79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圆角矩形 227"/>
          <p:cNvSpPr/>
          <p:nvPr/>
        </p:nvSpPr>
        <p:spPr>
          <a:xfrm>
            <a:off x="9096375" y="3000375"/>
            <a:ext cx="2333625" cy="1428750"/>
          </a:xfrm>
          <a:prstGeom prst="roundRect">
            <a:avLst>
              <a:gd name="adj" fmla="val 4667"/>
            </a:avLst>
          </a:prstGeom>
          <a:solidFill>
            <a:srgbClr val="1B5FD9">
              <a:alpha val="4000"/>
            </a:srgbClr>
          </a:solidFill>
        </p:spPr>
        <p:txBody>
          <a:bodyPr/>
          <a:p/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9201150" y="3105150"/>
            <a:ext cx="21240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视觉模型权限没开通怎么办？</a:t>
            </a:r>
            <a:endParaRPr lang="zh-CN" sz="825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201150" y="3343275"/>
            <a:ext cx="2124075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9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五个端点自动探测降级，手动录入保底，业务不中断；权限开通即刻启用，不需要改代码。</a:t>
            </a:r>
            <a:endParaRPr lang="zh-CN" sz="79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096375" y="4524375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9201150" y="4629150"/>
            <a:ext cx="21240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后续维护谁来做？</a:t>
            </a:r>
            <a:endParaRPr lang="zh-CN" sz="825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9201150" y="4867275"/>
            <a:ext cx="2124075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90">
                <a:solidFill>
                  <a:srgbClr val="4A5A7A"/>
                </a:solidFill>
                <a:latin typeface="微软雅黑" panose="020B0503020204020204" charset="-122"/>
                <a:ea typeface="微软雅黑" panose="020B0503020204020204" charset="-122"/>
              </a:rPr>
              <a:t>模板和话术库由总部统一维护更新，门店只负责输入和确认，不用自己养技术。</a:t>
            </a:r>
            <a:endParaRPr lang="zh-CN" sz="790">
              <a:solidFill>
                <a:srgbClr val="4A5A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09600" y="6562725"/>
            <a:ext cx="2962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940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11210925" y="6562725"/>
            <a:ext cx="3714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8494B4"/>
                </a:solidFill>
                <a:latin typeface="Arial" panose="020B0604020202020204"/>
                <a:ea typeface="Arial" panose="020B0604020202020204"/>
              </a:rPr>
              <a:t>14 / 15</a:t>
            </a:r>
            <a:endParaRPr lang="en-US" sz="940">
              <a:solidFill>
                <a:srgbClr val="8494B4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矩形 2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</p:spPr>
        <p:txBody>
          <a:bodyPr/>
          <a:p/>
        </p:txBody>
      </p:sp>
      <p:sp>
        <p:nvSpPr>
          <p:cNvPr id="238" name="圆角矩形 237"/>
          <p:cNvSpPr/>
          <p:nvPr/>
        </p:nvSpPr>
        <p:spPr>
          <a:xfrm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819150" y="247650"/>
            <a:ext cx="3362325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10 </a:t>
            </a:r>
            <a:r>
              <a:rPr lang="zh-CN" sz="22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个模块与</a:t>
            </a:r>
            <a:r>
              <a:rPr lang="en-US" sz="22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225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大需求对照</a:t>
            </a:r>
            <a:endParaRPr lang="zh-CN" sz="225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819150" y="695325"/>
            <a:ext cx="33623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每个需求都有对应落地模块，没有悬空的规划</a:t>
            </a:r>
            <a:endParaRPr lang="zh-CN" sz="940" spc="7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10734675" y="266700"/>
            <a:ext cx="847725" cy="228600"/>
          </a:xfrm>
          <a:prstGeom prst="roundRect">
            <a:avLst>
              <a:gd name="adj" fmla="val 20833"/>
            </a:avLst>
          </a:prstGeom>
          <a:solidFill>
            <a:srgbClr val="1B5FD9">
              <a:alpha val="10000"/>
            </a:srgbClr>
          </a:solidFill>
        </p:spPr>
        <p:txBody>
          <a:bodyPr/>
          <a:p/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0839450" y="314325"/>
            <a:ext cx="6381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825" b="1">
                <a:solidFill>
                  <a:srgbClr val="1B5FD9"/>
                </a:solidFill>
                <a:latin typeface="微软雅黑" panose="020B0503020204020204" charset="-122"/>
                <a:ea typeface="微软雅黑" panose="020B0503020204020204" charset="-122"/>
              </a:rPr>
              <a:t>不演讲</a:t>
            </a:r>
            <a:endParaRPr lang="zh-CN" sz="825" b="1">
              <a:solidFill>
                <a:srgbClr val="1B5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609600" y="952500"/>
            <a:ext cx="10972800" cy="5219700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effectLst>
            <a:outerShdw blurRad="171450" dist="38100" dir="5400000">
              <a:srgbClr val="0B2A6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4" name="圆角矩形 243"/>
          <p:cNvSpPr/>
          <p:nvPr/>
        </p:nvSpPr>
        <p:spPr>
          <a:xfrm>
            <a:off x="781050" y="1123950"/>
            <a:ext cx="10629900" cy="352425"/>
          </a:xfrm>
          <a:prstGeom prst="roundRect">
            <a:avLst>
              <a:gd name="adj" fmla="val 18919"/>
            </a:avLst>
          </a:prstGeom>
          <a:solidFill>
            <a:srgbClr val="0B2A6B"/>
          </a:solidFill>
        </p:spPr>
        <p:txBody>
          <a:bodyPr/>
          <a:p/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914400" y="1228725"/>
            <a:ext cx="1257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功能模块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2171700" y="1228725"/>
            <a:ext cx="74104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核心作用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9582150" y="1228725"/>
            <a:ext cx="781050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需求编号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10363200" y="1228725"/>
            <a:ext cx="914400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状态</a:t>
            </a:r>
            <a:endParaRPr lang="zh-CN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圆角矩形 248"/>
          <p:cNvSpPr/>
          <p:nvPr/>
        </p:nvSpPr>
        <p:spPr>
          <a:xfrm>
            <a:off x="781050" y="1552575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</p:spPr>
        <p:txBody>
          <a:bodyPr/>
          <a:p/>
        </p:txBody>
      </p:sp>
      <p:sp>
        <p:nvSpPr>
          <p:cNvPr id="250" name="圆角矩形 249"/>
          <p:cNvSpPr/>
          <p:nvPr/>
        </p:nvSpPr>
        <p:spPr>
          <a:xfrm>
            <a:off x="914400" y="17049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1019175" y="1714500"/>
            <a:ext cx="57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经营驾驶舱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2171700" y="1685925"/>
            <a:ext cx="74104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四维经营视图汇总，跨门店横向对比</a:t>
            </a:r>
            <a:endParaRPr lang="zh-CN" sz="82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9582150" y="1714500"/>
            <a:ext cx="781050" cy="1238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9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REQ-01</a:t>
            </a:r>
            <a:endParaRPr lang="en-US" sz="79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54" name="圆角矩形 253"/>
          <p:cNvSpPr/>
          <p:nvPr/>
        </p:nvSpPr>
        <p:spPr>
          <a:xfrm>
            <a:off x="10591800" y="16954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10677525" y="1724025"/>
            <a:ext cx="2857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微软雅黑" panose="020B0503020204020204" charset="-122"/>
                <a:ea typeface="微软雅黑" panose="020B0503020204020204" charset="-122"/>
              </a:rPr>
              <a:t>已上线</a:t>
            </a:r>
            <a:endParaRPr lang="zh-CN" sz="750" b="1">
              <a:solidFill>
                <a:srgbClr val="0E93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圆角矩形 255"/>
          <p:cNvSpPr/>
          <p:nvPr/>
        </p:nvSpPr>
        <p:spPr>
          <a:xfrm>
            <a:off x="781050" y="2000250"/>
            <a:ext cx="10629900" cy="438150"/>
          </a:xfrm>
          <a:prstGeom prst="roundRect">
            <a:avLst>
              <a:gd name="adj" fmla="val 10870"/>
            </a:avLst>
          </a:prstGeom>
        </p:spPr>
        <p:txBody>
          <a:bodyPr/>
          <a:p/>
        </p:txBody>
      </p:sp>
      <p:sp>
        <p:nvSpPr>
          <p:cNvPr id="257" name="圆角矩形 256"/>
          <p:cNvSpPr/>
          <p:nvPr/>
        </p:nvSpPr>
        <p:spPr>
          <a:xfrm>
            <a:off x="914400" y="214312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1019175" y="21526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门诊采集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2171700" y="2133600"/>
            <a:ext cx="74104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七界面截图上传、识别与手动录入</a:t>
            </a:r>
            <a:endParaRPr lang="zh-CN" sz="82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9582150" y="2162175"/>
            <a:ext cx="781050" cy="1238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9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REQ-01</a:t>
            </a:r>
            <a:endParaRPr lang="en-US" sz="79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61" name="圆角矩形 260"/>
          <p:cNvSpPr/>
          <p:nvPr/>
        </p:nvSpPr>
        <p:spPr>
          <a:xfrm>
            <a:off x="10591800" y="213360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</p:spPr>
        <p:txBody>
          <a:bodyPr/>
          <a:p/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10677525" y="2162175"/>
            <a:ext cx="2857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微软雅黑" panose="020B0503020204020204" charset="-122"/>
                <a:ea typeface="微软雅黑" panose="020B0503020204020204" charset="-122"/>
              </a:rPr>
              <a:t>已上线</a:t>
            </a:r>
            <a:endParaRPr lang="zh-CN" sz="750" b="1">
              <a:solidFill>
                <a:srgbClr val="0E93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781050" y="2438400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</p:spPr>
        <p:txBody>
          <a:bodyPr/>
          <a:p/>
        </p:txBody>
      </p:sp>
      <p:sp>
        <p:nvSpPr>
          <p:cNvPr id="264" name="圆角矩形 263"/>
          <p:cNvSpPr/>
          <p:nvPr/>
        </p:nvSpPr>
        <p:spPr>
          <a:xfrm>
            <a:off x="914400" y="25908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1019175" y="26003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竞品分析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2171700" y="2571750"/>
            <a:ext cx="74104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竞品评分销量价格带对比与缺口识别</a:t>
            </a:r>
            <a:endParaRPr lang="zh-CN" sz="82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9582150" y="2600325"/>
            <a:ext cx="781050" cy="1238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9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REQ-02</a:t>
            </a:r>
            <a:endParaRPr lang="en-US" sz="79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68" name="圆角矩形 267"/>
          <p:cNvSpPr/>
          <p:nvPr/>
        </p:nvSpPr>
        <p:spPr>
          <a:xfrm>
            <a:off x="10591800" y="25812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</p:spPr>
        <p:txBody>
          <a:bodyPr/>
          <a:p/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0677525" y="2609850"/>
            <a:ext cx="2857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微软雅黑" panose="020B0503020204020204" charset="-122"/>
                <a:ea typeface="微软雅黑" panose="020B0503020204020204" charset="-122"/>
              </a:rPr>
              <a:t>已上线</a:t>
            </a:r>
            <a:endParaRPr lang="zh-CN" sz="750" b="1">
              <a:solidFill>
                <a:srgbClr val="0E93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781050" y="2886075"/>
            <a:ext cx="10629900" cy="447675"/>
          </a:xfrm>
          <a:prstGeom prst="roundRect">
            <a:avLst>
              <a:gd name="adj" fmla="val 10638"/>
            </a:avLst>
          </a:prstGeom>
        </p:spPr>
        <p:txBody>
          <a:bodyPr/>
          <a:p/>
        </p:txBody>
      </p:sp>
      <p:sp>
        <p:nvSpPr>
          <p:cNvPr id="271" name="圆角矩形 270"/>
          <p:cNvSpPr/>
          <p:nvPr/>
        </p:nvSpPr>
        <p:spPr>
          <a:xfrm>
            <a:off x="914400" y="30384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1019175" y="3048000"/>
            <a:ext cx="685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美团运营诊断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2171700" y="3019425"/>
            <a:ext cx="74104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五维体检、状态打分与行动项输出</a:t>
            </a:r>
            <a:endParaRPr lang="zh-CN" sz="82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9582150" y="3048000"/>
            <a:ext cx="781050" cy="1238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9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REQ-02 / 05</a:t>
            </a:r>
            <a:endParaRPr lang="en-US" sz="79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75" name="圆角矩形 274"/>
          <p:cNvSpPr/>
          <p:nvPr/>
        </p:nvSpPr>
        <p:spPr>
          <a:xfrm>
            <a:off x="10591800" y="30289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</p:spPr>
        <p:txBody>
          <a:bodyPr/>
          <a:p/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10677525" y="3057525"/>
            <a:ext cx="2857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微软雅黑" panose="020B0503020204020204" charset="-122"/>
                <a:ea typeface="微软雅黑" panose="020B0503020204020204" charset="-122"/>
              </a:rPr>
              <a:t>已上线</a:t>
            </a:r>
            <a:endParaRPr lang="zh-CN" sz="750" b="1">
              <a:solidFill>
                <a:srgbClr val="0E93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圆角矩形 276"/>
          <p:cNvSpPr/>
          <p:nvPr/>
        </p:nvSpPr>
        <p:spPr>
          <a:xfrm>
            <a:off x="781050" y="3333750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</p:spPr>
        <p:txBody>
          <a:bodyPr/>
          <a:p/>
        </p:txBody>
      </p:sp>
      <p:sp>
        <p:nvSpPr>
          <p:cNvPr id="278" name="圆角矩形 277"/>
          <p:cNvSpPr/>
          <p:nvPr/>
        </p:nvSpPr>
        <p:spPr>
          <a:xfrm>
            <a:off x="914400" y="348615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1019175" y="349567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文案生成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2171700" y="3467100"/>
            <a:ext cx="74104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按项目人群语气批量产出可用文案</a:t>
            </a:r>
            <a:endParaRPr lang="zh-CN" sz="82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9582150" y="3495675"/>
            <a:ext cx="781050" cy="1238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9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REQ-03</a:t>
            </a:r>
            <a:endParaRPr lang="en-US" sz="79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82" name="圆角矩形 281"/>
          <p:cNvSpPr/>
          <p:nvPr/>
        </p:nvSpPr>
        <p:spPr>
          <a:xfrm>
            <a:off x="10591800" y="347662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</p:spPr>
        <p:txBody>
          <a:bodyPr/>
          <a:p/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10677525" y="3505200"/>
            <a:ext cx="2857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微软雅黑" panose="020B0503020204020204" charset="-122"/>
                <a:ea typeface="微软雅黑" panose="020B0503020204020204" charset="-122"/>
              </a:rPr>
              <a:t>已上线</a:t>
            </a:r>
            <a:endParaRPr lang="zh-CN" sz="750" b="1">
              <a:solidFill>
                <a:srgbClr val="0E93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圆角矩形 283"/>
          <p:cNvSpPr/>
          <p:nvPr/>
        </p:nvSpPr>
        <p:spPr>
          <a:xfrm>
            <a:off x="781050" y="3781425"/>
            <a:ext cx="10629900" cy="438150"/>
          </a:xfrm>
          <a:prstGeom prst="roundRect">
            <a:avLst>
              <a:gd name="adj" fmla="val 10870"/>
            </a:avLst>
          </a:prstGeom>
        </p:spPr>
        <p:txBody>
          <a:bodyPr/>
          <a:p/>
        </p:txBody>
      </p:sp>
      <p:sp>
        <p:nvSpPr>
          <p:cNvPr id="285" name="圆角矩形 284"/>
          <p:cNvSpPr/>
          <p:nvPr/>
        </p:nvSpPr>
        <p:spPr>
          <a:xfrm>
            <a:off x="914400" y="39243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1019175" y="39338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套图生成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2171700" y="3914775"/>
            <a:ext cx="74104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Seedream </a:t>
            </a:r>
            <a:r>
              <a:rPr lang="zh-CN" sz="82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批量出图，统一品牌视觉</a:t>
            </a:r>
            <a:endParaRPr lang="zh-CN" sz="82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9582150" y="3943350"/>
            <a:ext cx="781050" cy="1238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9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REQ-03</a:t>
            </a:r>
            <a:endParaRPr lang="en-US" sz="79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89" name="圆角矩形 288"/>
          <p:cNvSpPr/>
          <p:nvPr/>
        </p:nvSpPr>
        <p:spPr>
          <a:xfrm>
            <a:off x="10591800" y="39147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</p:spPr>
        <p:txBody>
          <a:bodyPr/>
          <a:p/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10677525" y="3943350"/>
            <a:ext cx="2857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微软雅黑" panose="020B0503020204020204" charset="-122"/>
                <a:ea typeface="微软雅黑" panose="020B0503020204020204" charset="-122"/>
              </a:rPr>
              <a:t>已上线</a:t>
            </a:r>
            <a:endParaRPr lang="zh-CN" sz="750" b="1">
              <a:solidFill>
                <a:srgbClr val="0E93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圆角矩形 290"/>
          <p:cNvSpPr/>
          <p:nvPr/>
        </p:nvSpPr>
        <p:spPr>
          <a:xfrm>
            <a:off x="781050" y="4219575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</p:spPr>
        <p:txBody>
          <a:bodyPr/>
          <a:p/>
        </p:txBody>
      </p:sp>
      <p:sp>
        <p:nvSpPr>
          <p:cNvPr id="292" name="圆角矩形 291"/>
          <p:cNvSpPr/>
          <p:nvPr/>
        </p:nvSpPr>
        <p:spPr>
          <a:xfrm>
            <a:off x="914400" y="43719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019175" y="438150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主图诊断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2171700" y="4352925"/>
            <a:ext cx="74104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构图、卖点、合规三维打分与改法</a:t>
            </a:r>
            <a:endParaRPr lang="zh-CN" sz="82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9582150" y="4381500"/>
            <a:ext cx="781050" cy="1238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9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REQ-03</a:t>
            </a:r>
            <a:endParaRPr lang="en-US" sz="79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96" name="圆角矩形 295"/>
          <p:cNvSpPr/>
          <p:nvPr/>
        </p:nvSpPr>
        <p:spPr>
          <a:xfrm>
            <a:off x="10591800" y="43624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</p:spPr>
        <p:txBody>
          <a:bodyPr/>
          <a:p/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677525" y="4391025"/>
            <a:ext cx="2857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微软雅黑" panose="020B0503020204020204" charset="-122"/>
                <a:ea typeface="微软雅黑" panose="020B0503020204020204" charset="-122"/>
              </a:rPr>
              <a:t>已上线</a:t>
            </a:r>
            <a:endParaRPr lang="zh-CN" sz="750" b="1">
              <a:solidFill>
                <a:srgbClr val="0E93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圆角矩形 297"/>
          <p:cNvSpPr/>
          <p:nvPr/>
        </p:nvSpPr>
        <p:spPr>
          <a:xfrm>
            <a:off x="781050" y="4667250"/>
            <a:ext cx="10629900" cy="447675"/>
          </a:xfrm>
          <a:prstGeom prst="roundRect">
            <a:avLst>
              <a:gd name="adj" fmla="val 10638"/>
            </a:avLst>
          </a:prstGeom>
        </p:spPr>
        <p:txBody>
          <a:bodyPr/>
          <a:p/>
        </p:txBody>
      </p:sp>
      <p:sp>
        <p:nvSpPr>
          <p:cNvPr id="299" name="圆角矩形 298"/>
          <p:cNvSpPr/>
          <p:nvPr/>
        </p:nvSpPr>
        <p:spPr>
          <a:xfrm>
            <a:off x="914400" y="481965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1019175" y="482917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文案优化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2171700" y="4800600"/>
            <a:ext cx="74104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润色改写与医疗广告合规检查</a:t>
            </a:r>
            <a:endParaRPr lang="zh-CN" sz="82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9582150" y="4829175"/>
            <a:ext cx="781050" cy="1238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9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REQ-04</a:t>
            </a:r>
            <a:endParaRPr lang="en-US" sz="79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03" name="圆角矩形 302"/>
          <p:cNvSpPr/>
          <p:nvPr/>
        </p:nvSpPr>
        <p:spPr>
          <a:xfrm>
            <a:off x="10591800" y="481012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</p:spPr>
        <p:txBody>
          <a:bodyPr/>
          <a:p/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0677525" y="4838700"/>
            <a:ext cx="2857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微软雅黑" panose="020B0503020204020204" charset="-122"/>
                <a:ea typeface="微软雅黑" panose="020B0503020204020204" charset="-122"/>
              </a:rPr>
              <a:t>已上线</a:t>
            </a:r>
            <a:endParaRPr lang="zh-CN" sz="750" b="1">
              <a:solidFill>
                <a:srgbClr val="0E93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圆角矩形 304"/>
          <p:cNvSpPr/>
          <p:nvPr/>
        </p:nvSpPr>
        <p:spPr>
          <a:xfrm>
            <a:off x="781050" y="5114925"/>
            <a:ext cx="10629900" cy="438150"/>
          </a:xfrm>
          <a:prstGeom prst="roundRect">
            <a:avLst>
              <a:gd name="adj" fmla="val 10870"/>
            </a:avLst>
          </a:prstGeom>
          <a:solidFill>
            <a:srgbClr val="1B5FD9">
              <a:alpha val="3500"/>
            </a:srgbClr>
          </a:solidFill>
        </p:spPr>
        <p:txBody>
          <a:bodyPr/>
          <a:p/>
        </p:txBody>
      </p:sp>
      <p:sp>
        <p:nvSpPr>
          <p:cNvPr id="306" name="圆角矩形 305"/>
          <p:cNvSpPr/>
          <p:nvPr/>
        </p:nvSpPr>
        <p:spPr>
          <a:xfrm>
            <a:off x="914400" y="52578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1019175" y="52673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评价管理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2171700" y="5248275"/>
            <a:ext cx="74104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差评分类归因与分层回复建议</a:t>
            </a:r>
            <a:endParaRPr lang="zh-CN" sz="82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9582150" y="5276850"/>
            <a:ext cx="781050" cy="1238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9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REQ-04</a:t>
            </a:r>
            <a:endParaRPr lang="en-US" sz="79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10" name="圆角矩形 309"/>
          <p:cNvSpPr/>
          <p:nvPr/>
        </p:nvSpPr>
        <p:spPr>
          <a:xfrm>
            <a:off x="10591800" y="52482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</p:spPr>
        <p:txBody>
          <a:bodyPr/>
          <a:p/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10677525" y="5276850"/>
            <a:ext cx="2857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微软雅黑" panose="020B0503020204020204" charset="-122"/>
                <a:ea typeface="微软雅黑" panose="020B0503020204020204" charset="-122"/>
              </a:rPr>
              <a:t>已上线</a:t>
            </a:r>
            <a:endParaRPr lang="zh-CN" sz="750" b="1">
              <a:solidFill>
                <a:srgbClr val="0E93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圆角矩形 311"/>
          <p:cNvSpPr/>
          <p:nvPr/>
        </p:nvSpPr>
        <p:spPr>
          <a:xfrm>
            <a:off x="781050" y="5553075"/>
            <a:ext cx="10629900" cy="447675"/>
          </a:xfrm>
          <a:prstGeom prst="roundRect">
            <a:avLst>
              <a:gd name="adj" fmla="val 10638"/>
            </a:avLst>
          </a:prstGeom>
        </p:spPr>
        <p:txBody>
          <a:bodyPr/>
          <a:p/>
        </p:txBody>
      </p:sp>
      <p:sp>
        <p:nvSpPr>
          <p:cNvPr id="313" name="圆角矩形 312"/>
          <p:cNvSpPr/>
          <p:nvPr/>
        </p:nvSpPr>
        <p:spPr>
          <a:xfrm>
            <a:off x="914400" y="57054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</p:spPr>
        <p:txBody>
          <a:bodyPr/>
          <a:p/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1019175" y="571500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微软雅黑" panose="020B0503020204020204" charset="-122"/>
                <a:ea typeface="微软雅黑" panose="020B0503020204020204" charset="-122"/>
              </a:rPr>
              <a:t>话术建议</a:t>
            </a:r>
            <a:endParaRPr lang="zh-CN" sz="900" b="1">
              <a:solidFill>
                <a:srgbClr val="0B2A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2171700" y="5686425"/>
            <a:ext cx="74104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微软雅黑" panose="020B0503020204020204" charset="-122"/>
                <a:ea typeface="微软雅黑" panose="020B0503020204020204" charset="-122"/>
              </a:rPr>
              <a:t>咨询、到店、随访分场景转化话术</a:t>
            </a:r>
            <a:endParaRPr lang="zh-CN" sz="825">
              <a:solidFill>
                <a:srgbClr val="5A6B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9582150" y="5715000"/>
            <a:ext cx="781050" cy="1238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90" b="1">
                <a:solidFill>
                  <a:srgbClr val="1B5FD9"/>
                </a:solidFill>
                <a:latin typeface="Arial" panose="020B0604020202020204"/>
                <a:ea typeface="Arial" panose="020B0604020202020204"/>
              </a:rPr>
              <a:t>REQ-05</a:t>
            </a:r>
            <a:endParaRPr lang="en-US" sz="790" b="1">
              <a:solidFill>
                <a:srgbClr val="1B5FD9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17" name="圆角矩形 316"/>
          <p:cNvSpPr/>
          <p:nvPr/>
        </p:nvSpPr>
        <p:spPr>
          <a:xfrm>
            <a:off x="10591800" y="56959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</p:spPr>
        <p:txBody>
          <a:bodyPr/>
          <a:p/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10677525" y="5724525"/>
            <a:ext cx="285750" cy="114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微软雅黑" panose="020B0503020204020204" charset="-122"/>
                <a:ea typeface="微软雅黑" panose="020B0503020204020204" charset="-122"/>
              </a:rPr>
              <a:t>已上线</a:t>
            </a:r>
            <a:endParaRPr lang="zh-CN" sz="750" b="1">
              <a:solidFill>
                <a:srgbClr val="0E93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609600" y="6562725"/>
            <a:ext cx="2962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美团电商眼科运营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助手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爱尔眼科集团</a:t>
            </a:r>
            <a:r>
              <a:rPr lang="en-US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8494B4"/>
                </a:solidFill>
                <a:latin typeface="微软雅黑" panose="020B0503020204020204" charset="-122"/>
                <a:ea typeface="微软雅黑" panose="020B0503020204020204" charset="-122"/>
              </a:rPr>
              <a:t>创新应用大赛</a:t>
            </a:r>
            <a:endParaRPr lang="zh-CN" sz="940">
              <a:solidFill>
                <a:srgbClr val="8494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11210925" y="6562725"/>
            <a:ext cx="3714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8494B4"/>
                </a:solidFill>
                <a:latin typeface="Arial" panose="020B0604020202020204"/>
                <a:ea typeface="Arial" panose="020B0604020202020204"/>
              </a:rPr>
              <a:t>15 / 15</a:t>
            </a:r>
            <a:endParaRPr lang="en-US" sz="940">
              <a:solidFill>
                <a:srgbClr val="8494B4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.75,&quot;left&quot;:48,&quot;top&quot;:467.25,&quot;width&quot;:581.25}"/>
</p:tagLst>
</file>

<file path=ppt/tags/tag2.xml><?xml version="1.0" encoding="utf-8"?>
<p:tagLst xmlns:p="http://schemas.openxmlformats.org/presentationml/2006/main">
  <p:tag name="KSO_WM_DIAGRAM_VIRTUALLY_FRAME" val="{&quot;height&quot;:33.75,&quot;left&quot;:48,&quot;top&quot;:467.25,&quot;width&quot;:581.25}"/>
</p:tagLst>
</file>

<file path=ppt/tags/tag3.xml><?xml version="1.0" encoding="utf-8"?>
<p:tagLst xmlns:p="http://schemas.openxmlformats.org/presentationml/2006/main">
  <p:tag name="KSO_WM_DIAGRAM_VIRTUALLY_FRAME" val="{&quot;height&quot;:33.75,&quot;left&quot;:48,&quot;top&quot;:467.25,&quot;width&quot;:581.25}"/>
</p:tagLst>
</file>

<file path=ppt/tags/tag4.xml><?xml version="1.0" encoding="utf-8"?>
<p:tagLst xmlns:p="http://schemas.openxmlformats.org/presentationml/2006/main">
  <p:tag name="KSO_WM_DIAGRAM_VIRTUALLY_FRAME" val="{&quot;height&quot;:33.75,&quot;left&quot;:48,&quot;top&quot;:467.25,&quot;width&quot;:581.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5190</Words>
  <Application>WPS 演示</Application>
  <PresentationFormat/>
  <Paragraphs>791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王皓</cp:lastModifiedBy>
  <cp:revision>1</cp:revision>
  <dcterms:created xsi:type="dcterms:W3CDTF">2026-10-23T09:08:38Z</dcterms:created>
  <dcterms:modified xsi:type="dcterms:W3CDTF">2026-10-23T09:08:38Z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{"AIGC":{"Label":"1","ContentProducer":"00119111010856365494821B355","ProduceID":"01a166b347847c1489eb69cb1df52c72","ReservedCode1":"","ContentPropagator":"00119111010856365494821B355","PropagateID":"01a166b347847c1489eb69cb1df52c72","ReservedCode2":""}}</vt:lpwstr>
  </property>
  <property fmtid="{D5CDD505-2E9C-101B-9397-08002B2CF9AE}" pid="3" name="ICV">
    <vt:lpwstr>22905E88F4124505A050A2105D277B35_12</vt:lpwstr>
  </property>
  <property fmtid="{D5CDD505-2E9C-101B-9397-08002B2CF9AE}" pid="4" name="KSOProductBuildVer">
    <vt:lpwstr>2052-12.1.0.29161</vt:lpwstr>
  </property>
</Properties>
</file>