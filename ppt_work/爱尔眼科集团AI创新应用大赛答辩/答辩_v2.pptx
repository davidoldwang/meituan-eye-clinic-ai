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10" Type="http://schemas.openxmlformats.org/officeDocument/2006/relationships/notesMaster" Target="notesMasters/notesMaster1.xml" /><Relationship Id="rId13" Type="http://schemas.openxmlformats.org/officeDocument/2006/relationships/viewProps" Target="viewProps.xml" /><Relationship Id="rId11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Relationship Id="rId2" Type="http://schemas.openxmlformats.org/officeDocument/2006/relationships/image" Target="media/image2.png" /><Relationship Id="rId3" Type="http://schemas.openxmlformats.org/officeDocument/2006/relationships/image" Target="media/image3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Relationship Id="rId2" Type="http://schemas.openxmlformats.org/officeDocument/2006/relationships/image" Target="media/image2.png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Relationship Id="rId2" Type="http://schemas.openxmlformats.org/officeDocument/2006/relationships/image" Target="media/image2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Relationship Id="rId2" Type="http://schemas.openxmlformats.org/officeDocument/2006/relationships/image" Target="media/image7.png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9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0.png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1.png" /><Relationship Id="rId3" Type="http://schemas.openxmlformats.org/officeDocument/2006/relationships/image" Target="media/image12.png" /><Relationship Id="rId4" Type="http://schemas.openxmlformats.org/officeDocument/2006/relationships/image" Target="media/image13.png" /></Relationships>
</file>

<file path=ppt/slides/_rels/slide9.xml.rels><?xml version="1.0" encoding="UTF-8" standalone="yes"?><Relationships xmlns="http://schemas.openxmlformats.org/package/2006/relationships"><Relationship Id="rId3" Type="http://schemas.openxmlformats.org/officeDocument/2006/relationships/image" Target="media/image15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Relationship Id="rId2" Type="http://schemas.openxmlformats.org/officeDocument/2006/relationships/image" Target="media/image14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42000">
                <a:srgbClr val="0B2A6B">
                  <a:alpha val="80000"/>
                </a:srgbClr>
              </a:gs>
              <a:gs pos="72000">
                <a:srgbClr val="1B5FD9">
                  <a:alpha val="28000"/>
                </a:srgbClr>
              </a:gs>
              <a:gs pos="100000">
                <a:srgbClr val="1B5FD9">
                  <a:alpha val="12000"/>
                </a:srgbClr>
              </a:gs>
            </a:gsLst>
            <a:lin ang="6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 r:embed="rId2"/>
          <a:srcRect l="0" t="110" r="0" b="110"/>
          <a:stretch>
            <a:fillRect/>
          </a:stretch>
        </p:blipFill>
        <p:spPr>
          <a:xfrm rot="0" flipH="0" flipV="0">
            <a:off x="609600" y="419100"/>
            <a:ext cx="1600200" cy="6858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2438400" y="571500"/>
            <a:ext cx="9525" cy="3810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2676525" y="676275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3"/>
          <a:srcRect l="97" t="0" r="97" b="0"/>
          <a:stretch>
            <a:fillRect/>
          </a:stretch>
        </p:blipFill>
        <p:spPr>
          <a:xfrm rot="0" flipH="0" flipV="0">
            <a:off x="9582150" y="419100"/>
            <a:ext cx="2000250" cy="552450"/>
          </a:xfrm>
          <a:prstGeom prst="rect">
            <a:avLst/>
          </a:prstGeom>
          <a:ln/>
        </p:spPr>
      </p:pic>
      <p:sp>
        <p:nvSpPr>
          <p:cNvPr id="9" name=""/>
          <p:cNvSpPr/>
          <p:nvPr/>
        </p:nvSpPr>
        <p:spPr>
          <a:xfrm rot="0" flipH="0" flipV="0">
            <a:off x="609600" y="18097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18669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美团电商运营</a:t>
            </a:r>
            <a:r>
              <a:rPr lang="en-US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7239000" cy="1638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让门店的经营截图，</a:t>
            </a:r>
            <a:endParaRPr/>
          </a:p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变成集团的经营结论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4286250"/>
            <a:ext cx="7239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覆盖美团经营全链路的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运营工作台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采集、分析、创作、评价、决策五位一体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5934075"/>
            <a:ext cx="2009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参赛作品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2009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057525" y="593407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057525" y="6143625"/>
            <a:ext cx="236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门诊管理中心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857875" y="5934075"/>
            <a:ext cx="2133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答辩时长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857875" y="6143625"/>
            <a:ext cx="2133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演讲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答辩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0887075" y="5867400"/>
            <a:ext cx="723900" cy="495300"/>
          </a:xfrm>
          <a:custGeom>
            <a:pathLst>
              <a:path w="76" h="52">
                <a:moveTo>
                  <a:pt x="0" y="0"/>
                </a:moveTo>
                <a:lnTo>
                  <a:pt x="3" y="0"/>
                </a:lnTo>
                <a:lnTo>
                  <a:pt x="3" y="52"/>
                </a:lnTo>
                <a:lnTo>
                  <a:pt x="0" y="52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125200" y="58674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DE8FF"/>
                </a:solidFill>
                <a:latin typeface="Microsoft YaHei"/>
                <a:ea typeface="Microsoft YaHei"/>
              </a:rPr>
              <a:t>答辩人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125200" y="6105525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王皓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4" name=""/>
          <p:cNvPicPr>
            <a:picLocks noChangeAspect="1"/>
          </p:cNvPicPr>
          <p:nvPr/>
        </p:nvPicPr>
        <p:blipFill>
          <a:blip r:embed="rId1"/>
          <a:srcRect l="6954" t="0" r="6954" b="0"/>
          <a:stretch>
            <a:fillRect/>
          </a:stretch>
        </p:blipFill>
        <p:spPr>
          <a:xfrm rot="0" flipH="0" flipV="0">
            <a:off x="0" y="0"/>
            <a:ext cx="12192000" cy="1123950"/>
          </a:xfrm>
          <a:prstGeom prst="rect">
            <a:avLst/>
          </a:prstGeom>
          <a:ln/>
        </p:spPr>
      </p:pic>
      <p:sp>
        <p:nvSpPr>
          <p:cNvPr id="25" name=""/>
          <p:cNvSpPr/>
          <p:nvPr/>
        </p:nvSpPr>
        <p:spPr>
          <a:xfrm rot="0" flipH="0" flipV="0">
            <a:off x="0" y="0"/>
            <a:ext cx="12192000" cy="112395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60000">
                <a:srgbClr val="1B5FD9">
                  <a:alpha val="82000"/>
                </a:srgbClr>
              </a:gs>
              <a:gs pos="100000">
                <a:srgbClr val="1B5FD9">
                  <a:alpha val="5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09600" y="4000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门诊做美团，卡在三个地方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19150" y="762000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数据拿不到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内容做不快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决策靠经验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 r:embed="rId2">
            <a:alphaModFix amt="50000"/>
          </a:blip>
          <a:srcRect l="0" t="613" r="0" b="613"/>
          <a:stretch>
            <a:fillRect/>
          </a:stretch>
        </p:blipFill>
        <p:spPr>
          <a:xfrm rot="0" flipH="0" flipV="0">
            <a:off x="10325100" y="285750"/>
            <a:ext cx="1257300" cy="53340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09600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876300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09650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371600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数据散在门店里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76300" y="2171700"/>
            <a:ext cx="2981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28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家辽宁门诊的经营数据，总部拿不到横向对比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76300" y="3257550"/>
            <a:ext cx="2981325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美团「经营参谋」在每家门店的手机里，评分、曝光、转化、评价各自分散。要看全省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家门诊的经营评分，只能一家一家登录截图，再用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手工拼表——一个周期下来两三天，数据还没法实时。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904875" y="5162550"/>
            <a:ext cx="2981325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904875" y="5162550"/>
            <a:ext cx="2981325" cy="666750"/>
          </a:xfrm>
          <a:custGeom>
            <a:pathLst>
              <a:path w="313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38225" y="5257800"/>
            <a:ext cx="26860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后果：总部只能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事后看总分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，发现不了过程问题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333875" y="1428750"/>
            <a:ext cx="3524250" cy="470535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333875" y="1428750"/>
            <a:ext cx="3524250" cy="4705350"/>
          </a:xfrm>
          <a:custGeom>
            <a:pathLst>
              <a:path w="370" h="494">
                <a:moveTo>
                  <a:pt x="357" y="0"/>
                </a:moveTo>
                <a:cubicBezTo>
                  <a:pt x="363" y="0"/>
                  <a:pt x="368" y="5"/>
                  <a:pt x="370" y="11"/>
                </a:cubicBezTo>
                <a:cubicBezTo>
                  <a:pt x="368" y="7"/>
                  <a:pt x="364" y="4"/>
                  <a:pt x="360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6005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7339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095875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内容产能跟不上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600575" y="2171700"/>
            <a:ext cx="381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057775" y="25717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5FD9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600575" y="2943225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写一条美团文案，还要配图、排版、凑满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600575" y="3257550"/>
            <a:ext cx="2990850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门诊没有专职设计，暑期档、开学季、活动期文案需求集中爆发。写文案、配图、查违禁词、调整主图，一轮下来两小时起。门店没有美术资源，集团统一的品牌视觉也落不了地。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629150" y="5162550"/>
            <a:ext cx="2990850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629150" y="5162550"/>
            <a:ext cx="2990850" cy="666750"/>
          </a:xfrm>
          <a:custGeom>
            <a:pathLst>
              <a:path w="314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762500" y="5257800"/>
            <a:ext cx="26955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后果：活动期只能仓促发图，质量与合规都难保证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067675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8067675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83343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4677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829675" y="17240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判断全凭经验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334375" y="2171700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Microsoft YaHei"/>
                <a:ea typeface="Microsoft YaHei"/>
              </a:rPr>
              <a:t>60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163050" y="2571750"/>
            <a:ext cx="200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8A3D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334375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的近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天差评没被回复（抽样）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34375" y="3257550"/>
            <a:ext cx="2981325" cy="2028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差评要不要回、怎么回、差评背后是哪类问题；团购定价该定多少、和隔壁哪家比；这月该做哪个活动、拉哪个客——全看店长个人经验。人一走，判断就断档，经验也没法沉淀成集团资产。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8362950" y="5400675"/>
            <a:ext cx="2981325" cy="428625"/>
          </a:xfrm>
          <a:prstGeom prst="roundRect">
            <a:avLst>
              <a:gd name="adj" fmla="val 8889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362950" y="5400675"/>
            <a:ext cx="2981325" cy="428625"/>
          </a:xfrm>
          <a:custGeom>
            <a:pathLst>
              <a:path w="313" h="4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4"/>
                </a:lnTo>
                <a:cubicBezTo>
                  <a:pt x="3" y="44"/>
                  <a:pt x="3" y="45"/>
                  <a:pt x="4" y="45"/>
                </a:cubicBezTo>
                <a:cubicBezTo>
                  <a:pt x="2" y="45"/>
                  <a:pt x="0" y="43"/>
                  <a:pt x="0" y="4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496300" y="5495925"/>
            <a:ext cx="26860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后果：好经验留在个人脑子里，集团拿不走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201400" y="64960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0B2A6B"/>
              </a:gs>
              <a:gs pos="70000">
                <a:srgbClr val="1B5FD9"/>
              </a:gs>
              <a:gs pos="100000">
                <a:srgbClr val="1B5FD9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8191500" y="0"/>
            <a:ext cx="4000500" cy="914400"/>
          </a:xfrm>
          <a:prstGeom prst="rect">
            <a:avLst/>
          </a:prstGeom>
          <a:gradFill>
            <a:gsLst>
              <a:gs pos="0">
                <a:srgbClr val="1B5FD9">
                  <a:alpha val="0"/>
                </a:srgbClr>
              </a:gs>
              <a:gs pos="100000">
                <a:srgbClr val="35C8F0">
                  <a:alpha val="2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一个工作台，串起美团经营全链路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看数据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判问题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产内容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管评价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991100" y="114300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991100" y="114300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162550" y="1438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753100" y="136207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看数据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53100" y="159067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经营驾驶舱汇总评分、漏斗、评价、星级四维视图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4991100" y="2152650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4991100" y="2152650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162550" y="245745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753100" y="237172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判问题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53100" y="260032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竞品比价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项目结构分析，定位定价与品类缺口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991100" y="3171825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991100" y="3171825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162550" y="346710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753100" y="339090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产内容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753100" y="361950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文案生成、套图生成、主图诊断、话术建议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991100" y="4181475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991100" y="4181475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162550" y="4486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753100" y="440055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管评价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53100" y="462915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差评智能分析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分级回复建议，不漏一条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991100" y="520065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4991100" y="520065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162550" y="54959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8A3D"/>
                </a:solidFill>
                <a:latin typeface="Arial"/>
                <a:ea typeface="Arial"/>
              </a:rPr>
              <a:t>05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753100" y="5419725"/>
            <a:ext cx="5657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53100" y="5648325"/>
            <a:ext cx="56578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五维运营诊断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P0/P1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优先级行动项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09600" y="1143000"/>
            <a:ext cx="4095750" cy="4953000"/>
          </a:xfrm>
          <a:prstGeom prst="roundRect">
            <a:avLst>
              <a:gd name="adj" fmla="val 3721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3600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经营闭环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57250" y="164782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数据进来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结论出去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动作落地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857250" y="5219700"/>
            <a:ext cx="3600450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990600" y="55054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33475" y="5324475"/>
            <a:ext cx="31908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全部数据来自门店真实经营参谋截图，分析结论可回溯到具体数字</a:t>
            </a:r>
            <a:endParaRPr/>
          </a:p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43000" y="2076450"/>
            <a:ext cx="3028950" cy="3028950"/>
          </a:xfrm>
          <a:prstGeom prst="rect">
            <a:avLst/>
          </a:prstGeom>
          <a:ln/>
        </p:spPr>
      </p:pic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gradFill>
            <a:gsLst>
              <a:gs pos="0">
                <a:srgbClr val="35C8F0">
                  <a:alpha val="16000"/>
                </a:srgbClr>
              </a:gs>
              <a:gs pos="60000">
                <a:srgbClr val="35C8F0">
                  <a:alpha val="0"/>
                </a:srgbClr>
              </a:gs>
            </a:gsLst>
            <a:lin ang="6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技术架构：轻量、可控、不中断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6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单文件前端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轻量后端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国产大模型</a:t>
            </a:r>
            <a:endParaRPr/>
          </a:p>
        </p:txBody>
      </p:sp>
      <p:pic>
        <p:nvPicPr>
          <p:cNvPr id="126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889" r="0" b="889"/>
          <a:stretch>
            <a:fillRect/>
          </a:stretch>
        </p:blipFill>
        <p:spPr>
          <a:xfrm rot="0" flipH="0" flipV="0">
            <a:off x="10363200" y="304800"/>
            <a:ext cx="1219200" cy="514350"/>
          </a:xfrm>
          <a:prstGeom prst="rect">
            <a:avLst/>
          </a:prstGeom>
          <a:ln/>
        </p:spPr>
      </p:pic>
      <p:sp>
        <p:nvSpPr>
          <p:cNvPr id="127" name=""/>
          <p:cNvSpPr/>
          <p:nvPr/>
        </p:nvSpPr>
        <p:spPr>
          <a:xfrm rot="0" flipH="0" flipV="0">
            <a:off x="647700" y="1162050"/>
            <a:ext cx="10972800" cy="1181100"/>
          </a:xfrm>
          <a:prstGeom prst="roundRect">
            <a:avLst>
              <a:gd name="adj" fmla="val 967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47700" y="1162050"/>
            <a:ext cx="10972800" cy="1181100"/>
          </a:xfrm>
          <a:custGeom>
            <a:pathLst>
              <a:path w="1152" h="12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6"/>
                </a:lnTo>
                <a:cubicBezTo>
                  <a:pt x="4" y="120"/>
                  <a:pt x="7" y="123"/>
                  <a:pt x="10" y="124"/>
                </a:cubicBezTo>
                <a:cubicBezTo>
                  <a:pt x="4" y="123"/>
                  <a:pt x="0" y="118"/>
                  <a:pt x="0" y="11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76300" y="15525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76300" y="17335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门店用户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1962150" y="1581150"/>
            <a:ext cx="7048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028825" y="1666875"/>
            <a:ext cx="5715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2762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2828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门诊采集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3448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514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4133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200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4819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886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55054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5721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191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257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877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943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评价管理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562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629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运营诊断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8248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315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47700" y="2457450"/>
            <a:ext cx="10972800" cy="1724025"/>
          </a:xfrm>
          <a:prstGeom prst="roundRect">
            <a:avLst>
              <a:gd name="adj" fmla="val 663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47700" y="2457450"/>
            <a:ext cx="10972800" cy="1724025"/>
          </a:xfrm>
          <a:custGeom>
            <a:pathLst>
              <a:path w="1152" h="18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73"/>
                </a:lnTo>
                <a:cubicBezTo>
                  <a:pt x="4" y="177"/>
                  <a:pt x="7" y="180"/>
                  <a:pt x="10" y="181"/>
                </a:cubicBezTo>
                <a:cubicBezTo>
                  <a:pt x="4" y="180"/>
                  <a:pt x="0" y="175"/>
                  <a:pt x="0" y="16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76300" y="30003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76300" y="3181350"/>
            <a:ext cx="8763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单文件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SPA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1962150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095500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前端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meituan-agent.html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2095500" y="3209925"/>
            <a:ext cx="43719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单文件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HTML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原生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JS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，零框架依赖，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个功能页面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移动端自适应（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视口可直接拍照上传）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715125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848475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后端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server.js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48475" y="3209925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>Node.js + Express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个业务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端点，负责模型编排、数据清洗与降级兜底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47700" y="4295775"/>
            <a:ext cx="10972800" cy="1495425"/>
          </a:xfrm>
          <a:prstGeom prst="roundRect">
            <a:avLst>
              <a:gd name="adj" fmla="val 7643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47700" y="4295775"/>
            <a:ext cx="10972800" cy="1495425"/>
          </a:xfrm>
          <a:custGeom>
            <a:pathLst>
              <a:path w="1152" h="15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9"/>
                </a:lnTo>
                <a:cubicBezTo>
                  <a:pt x="4" y="153"/>
                  <a:pt x="7" y="156"/>
                  <a:pt x="10" y="157"/>
                </a:cubicBezTo>
                <a:cubicBezTo>
                  <a:pt x="4" y="156"/>
                  <a:pt x="0" y="151"/>
                  <a:pt x="0" y="14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76300" y="48387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模型层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76300" y="5019675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火山引擎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1962150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2095500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2238375" y="4819650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图像生成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095500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套图批量生成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主图质量诊断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门店实景素材，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2028×2028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出图已实测可用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715125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848475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991350" y="48196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豆包视觉模型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OCR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848475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经营参谋截图识别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个端点自动探测降级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权限开通即启用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93C8"/>
                </a:solidFill>
                <a:latin typeface="Arial"/>
                <a:ea typeface="Arial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77" name=""/>
          <p:cNvPicPr>
            <a:picLocks noChangeAspect="1"/>
          </p:cNvPicPr>
          <p:nvPr/>
        </p:nvPicPr>
        <p:blipFill>
          <a:blip r:embed="rId1"/>
          <a:srcRect l="1159" t="0" r="1159" b="0"/>
          <a:stretch>
            <a:fillRect/>
          </a:stretch>
        </p:blipFill>
        <p:spPr>
          <a:xfrm rot="0" flipH="0" flipV="0">
            <a:off x="0" y="0"/>
            <a:ext cx="12192000" cy="990600"/>
          </a:xfrm>
          <a:prstGeom prst="rect">
            <a:avLst/>
          </a:prstGeom>
          <a:ln/>
        </p:spPr>
      </p:pic>
      <p:sp>
        <p:nvSpPr>
          <p:cNvPr id="178" name=""/>
          <p:cNvSpPr/>
          <p:nvPr/>
        </p:nvSpPr>
        <p:spPr>
          <a:xfrm rot="0" flipH="0" flipV="0">
            <a:off x="0" y="0"/>
            <a:ext cx="12192000" cy="990600"/>
          </a:xfrm>
          <a:prstGeom prst="rect">
            <a:avLst/>
          </a:prstGeom>
          <a:gradFill>
            <a:gsLst>
              <a:gs pos="0">
                <a:srgbClr val="0B2A6B">
                  <a:alpha val="95000"/>
                </a:srgbClr>
              </a:gs>
              <a:gs pos="55000">
                <a:srgbClr val="1B5FD9">
                  <a:alpha val="85000"/>
                </a:srgbClr>
              </a:gs>
              <a:gs pos="100000">
                <a:srgbClr val="1B5FD9">
                  <a:alpha val="6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五个场景，全部对齐集团需求规格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《爱尔小龙虾美团商家版需求规格说明书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v1.0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》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>REQ-01 ~ REQ-05</a:t>
            </a:r>
            <a:endParaRPr/>
          </a:p>
        </p:txBody>
      </p:sp>
      <p:pic>
        <p:nvPicPr>
          <p:cNvPr id="182" name=""/>
          <p:cNvPicPr>
            <a:picLocks noChangeAspect="1"/>
          </p:cNvPicPr>
          <p:nvPr/>
        </p:nvPicPr>
        <p:blipFill>
          <a:blip r:embed="rId2">
            <a:alphaModFix amt="42000"/>
          </a:blip>
          <a:srcRect l="0" t="889" r="0" b="889"/>
          <a:stretch>
            <a:fillRect/>
          </a:stretch>
        </p:blipFill>
        <p:spPr>
          <a:xfrm rot="0" flipH="0" flipV="0">
            <a:off x="10363200" y="247650"/>
            <a:ext cx="1219200" cy="514350"/>
          </a:xfrm>
          <a:prstGeom prst="rect">
            <a:avLst/>
          </a:prstGeom>
          <a:ln/>
        </p:spPr>
      </p:pic>
      <p:sp>
        <p:nvSpPr>
          <p:cNvPr id="183" name=""/>
          <p:cNvSpPr/>
          <p:nvPr/>
        </p:nvSpPr>
        <p:spPr>
          <a:xfrm rot="0" flipH="0" flipV="0">
            <a:off x="6096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001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858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经营数据采集与驾驶舱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经营参谋截图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/ API /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页面操作三种方式采集，统一汇总至集团后台，形成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维经营驾驶舱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00100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14400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个界面分图上传指引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800100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门店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周期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数据类型三维筛选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00100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914400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经营评分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漏斗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评价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星级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8001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144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144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经营驾驶舱、门诊采集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282892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282892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301942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310515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REQ-02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019425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项目智能分析与竞争定价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019425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综合竞品门店评分、销量、价格带，判断项目卖得好不好、定价合不合理，识别价格缺口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019425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133725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竞品门店横向对比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019425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133725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价格带缺口识别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3019425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133725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高销量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低销量双向预警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301942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13372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13372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竞品分析、运营诊断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04825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04825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523875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32447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23875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图片与营销素材智能生成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23875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总部按月提供品牌视觉模板，门店一键生成符合集团视觉规范的文案、套图与主图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523875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35305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总部模板机制下发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23875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35305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批量出图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23875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35305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主图构图与合规诊断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238750" y="5057775"/>
            <a:ext cx="1714500" cy="809625"/>
          </a:xfrm>
          <a:prstGeom prst="roundRect">
            <a:avLst>
              <a:gd name="adj" fmla="val 8235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353050" y="515302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353050" y="5343525"/>
            <a:ext cx="14859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文案生成、套图生成、主图诊断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726757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726757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745807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54380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458075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458075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支持文本粘贴与差评截图输入，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提取内容后自动分类并生成分层回复建议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7458075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572375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差评自动分类归因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7458075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572375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分层回复话术建议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458075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572375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文案润色与合规检查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745807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57237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57237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评价管理、文案优化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94869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94869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96774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7631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67740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流量活动与促销智能决策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67740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持续监测经营指标，识别异常波动，主动输出运营策略与活动建议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967740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979170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经营指标异常识别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967740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79170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分场景转化话术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967740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79170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活动与促销策略建议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96774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7917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B4560F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7917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D96B15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5248275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0B2A6B"/>
                </a:solidFill>
                <a:latin typeface="Microsoft YaHei"/>
                <a:ea typeface="Microsoft YaHei"/>
              </a:rPr>
              <a:t>经营驾驶舱：一眼看清</a:t>
            </a:r>
            <a:r>
              <a:rPr lang="en-US" sz="240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2400" b="1">
                <a:solidFill>
                  <a:srgbClr val="0B2A6B"/>
                </a:solidFill>
                <a:latin typeface="Microsoft YaHei"/>
                <a:ea typeface="Microsoft YaHei"/>
              </a:rPr>
              <a:t>家门店的家底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5248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经营评分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转化漏斗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评价分析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星级分析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四维联动</a:t>
            </a:r>
            <a:endParaRPr/>
          </a:p>
        </p:txBody>
      </p:sp>
      <p:pic>
        <p:nvPicPr>
          <p:cNvPr id="265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673" r="0" b="673"/>
          <a:stretch>
            <a:fillRect/>
          </a:stretch>
        </p:blipFill>
        <p:spPr>
          <a:xfrm rot="0" flipH="0" flipV="0">
            <a:off x="10458450" y="304800"/>
            <a:ext cx="1123950" cy="476250"/>
          </a:xfrm>
          <a:prstGeom prst="rect">
            <a:avLst/>
          </a:prstGeom>
          <a:ln/>
        </p:spPr>
      </p:pic>
      <p:sp>
        <p:nvSpPr>
          <p:cNvPr id="266" name=""/>
          <p:cNvSpPr/>
          <p:nvPr/>
        </p:nvSpPr>
        <p:spPr>
          <a:xfrm rot="0" flipH="0" flipV="0">
            <a:off x="533400" y="1123950"/>
            <a:ext cx="6724650" cy="493395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28600" dist="57150" dir="5400000">
              <a:srgbClr val="0B2A6B">
                <a:alpha val="12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267" name=""/>
          <p:cNvPicPr>
            <a:picLocks noChangeAspect="1"/>
          </p:cNvPicPr>
          <p:nvPr/>
        </p:nvPicPr>
        <p:blipFill>
          <a:blip r:embed="rId2"/>
          <a:srcRect l="6952" t="0" r="6952" b="0"/>
          <a:stretch>
            <a:fillRect/>
          </a:stretch>
        </p:blipFill>
        <p:spPr>
          <a:xfrm rot="0" flipH="0" flipV="0">
            <a:off x="628650" y="1219200"/>
            <a:ext cx="6534150" cy="4743450"/>
          </a:xfrm>
          <a:prstGeom prst="roundRect">
            <a:avLst>
              <a:gd name="adj" fmla="val 1606"/>
            </a:avLst>
          </a:prstGeom>
          <a:ln/>
        </p:spPr>
      </p:pic>
      <p:sp>
        <p:nvSpPr>
          <p:cNvPr id="268" name=""/>
          <p:cNvSpPr/>
          <p:nvPr/>
        </p:nvSpPr>
        <p:spPr>
          <a:xfrm rot="0" flipH="0" flipV="0">
            <a:off x="7448550" y="1123950"/>
            <a:ext cx="4210050" cy="1504950"/>
          </a:xfrm>
          <a:prstGeom prst="roundRect">
            <a:avLst>
              <a:gd name="adj" fmla="val 759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620000" y="1295400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全部门店平均总分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620000" y="1476375"/>
            <a:ext cx="11525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35C8F0"/>
                </a:solidFill>
                <a:latin typeface="Arial"/>
                <a:ea typeface="Arial"/>
              </a:rPr>
              <a:t>62.9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848725" y="18669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ADE8FF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620000" y="2247900"/>
            <a:ext cx="38671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累计总分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8306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最高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105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最低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7448550" y="27241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581900" y="28289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服务质量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0953750" y="2828925"/>
            <a:ext cx="352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5C8F0"/>
                </a:solidFill>
                <a:latin typeface="Arial"/>
                <a:ea typeface="Arial"/>
              </a:rPr>
              <a:t>16.6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1334750" y="282892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581900" y="320992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97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7448550" y="35433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581900" y="364807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基础信息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1049000" y="3648075"/>
            <a:ext cx="257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/>
                <a:ea typeface="Arial"/>
              </a:rPr>
              <a:t>7.3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1334750" y="364807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581900" y="402907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62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7448550" y="43624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581900" y="44672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商品货架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096625" y="4467225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/>
                <a:ea typeface="Arial"/>
              </a:rPr>
              <a:t>19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1334750" y="446722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581900" y="484822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61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7448550" y="51816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581900" y="528637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交易表现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953750" y="5286375"/>
            <a:ext cx="352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Arial"/>
                <a:ea typeface="Arial"/>
              </a:rPr>
              <a:t>18.1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1334750" y="528637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581900" y="566737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仅</a:t>
            </a: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 21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7581900" y="31051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7581900" y="3105150"/>
            <a:ext cx="3276600" cy="571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7581900" y="39243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581900" y="3924300"/>
            <a:ext cx="2876550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7581900" y="47434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581900" y="4743450"/>
            <a:ext cx="2486025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7581900" y="55626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7581900" y="5562600"/>
            <a:ext cx="177165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653415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数据源：临沂爱尔眼科金水河畔店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美团经营参谋真实数据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201400" y="65341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03" name="" descr="&lt;Slide style={{&#10;    width: 1280, height: 720,&#10;    position: 'relative',&#10;    background: '#F2F6FD',&#10;    fontFamily: &quot;'Microsoft YaHei', '微软雅黑', sans-serif&quot;,&#10;    overflow: 'hidden',&#10;}}&gt;&#10;    {/* A 标题块 */}&#10;    &lt;Box style={{ position: 'absolute', top: 26, left: 64, flexDirection: 'row', alignItems: 'center', gap: 16 }}&gt;&#10;        &lt;Box style={{ width: 6, height: 36, background: '#1B5FD9', borderRadius: 3 }} /&gt;&#10;        &lt;Box&gt;&#10;            &lt;Text style={{ fontSize: 30, fontWeight: 'bold', color: '#0B2A6B', lineHeight: 1.2 }}&gt;门诊采集：7 张截图，替代一张手填表&lt;/Text&gt;&#10;            &lt;Text style={{ fontSize: 12.5, color: '#5A6B8C', marginTop: 3, letterSpacing: 1 }}&gt;&#10;                按界面分图上传 → AI 识别提取 → 生成诊断报告&#10;            &lt;/Text&gt;&#10;        &lt;/Box&gt;&#10;    &lt;/Box&gt;&#10;    &lt;Image src=&quot;assets/logo_2026.png&quot; style={{&#10;        position: 'absolute', top: 28, right: 64,&#10;        width: 112, height: 48, objectFit: 'contain', opacity: 0.55,&#10;    }} /&gt;&#10;&#10;    {/* B 内容区 */}&#10;    &lt;Box style={{&#10;        position: 'absolute', top: 108, left: 56, right: 56, height: 530,&#10;        flexDirection: 'row', gap: 14,&#10;    }}&gt;&#10;        {/* 左：主截图 */}&#10;        &lt;Box style={{&#10;            width: 596,&#10;            background: '#FFFFFF', borderRadius: 11, padding: 8,&#10;            boxShadow: '0 6px 22px rgba(11,42,107,0.12)',&#10;            border: '1px solid rgba(27,95,217,0.12)',&#10;        }}&gt;&#10;            &lt;Image src=&quot;assets/ui_clinic.png&quot; style={{ width: '100%', height: '100%', objectFit: 'contain', borderRadius: 7 }} /&gt;&#10;        &lt;/Box&gt;&#10;&#10;        {/* 中：7 个界面清单 */}&#10;        &lt;Box style={{ width: 358, flexDirection: 'column', gap: 8 }}&gt;&#10;            &lt;Box style={{ flexDirection: 'row', alignItems: 'center', justifyContent: 'space-between', marginBottom: 2 }}&gt;&#10;                &lt;Text style={{ fontSize: 15, fontWeight: 'bold', color: '#0B2A6B' }}&gt;7 个界面，逐个对应&lt;/Text&gt;&#10;                &lt;Box style={{ background: '#FF8A3D', borderRadius: 4, padding: '3px 8px' }}&gt;&#10;                    &lt;Text style={{ fontSize: 10.5, fontWeight: 'bold', color: '#FFFFFF' }}&gt;分图上传指引&lt;/Text&gt;&#10;                &lt;/Box&gt;&#10;            &lt;/Box&gt;&#10;&#10;            {[&#10;                { n: '1', t: '星级概览', s: '点评星级 · 美团星级 · 昨日新增评价' },&#10;                { n: '2', t: '评价数据', s: '新增评价数 · 累计评价数 · 好评率' },&#10;                { n: '3', t: '客流数据', s: '曝光人数 · 访问人数 · 意向转化' },&#10;                { n: '4', t: '交易数据', s: '下单人数 · 成交金额 · 客单价' },&#10;                { n: '5', t: '经营评分', s: '交易表现 · 服务质量分项得分' },&#10;                { n: '6', t: '基础信息', s: '门店名称 · 地址 · 营业时间' },&#10;                { n: '7', t: '服务质量', s: '响应速度 · 履约完成率' },&#10;            ].map((k, i) =&gt; (&#10;                &lt;Box key={k.n} style={{&#10;                    flex: 1,&#10;                    background: '#FFFFFF', borderRadius: 8,&#10;                    paddingLeft: 12, paddingRight: 12, paddingTop: 7, paddingBottom: 7,&#10;                    flexDirection: 'row', alignItems: 'center', gap: 10,&#10;                    borderLeft: i &lt; 4 ? '3px solid #1B5FD9' : '3px solid #35C8F0',&#10;                }}&gt;&#10;                    &lt;Box style={{&#10;                        width: 22, height: 22, borderRadius: 11,&#10;                        background: i &lt; 4 ? 'rgba(27,95,217,0.12)' : 'rgba(53,200,240,0.18)',&#10;                        justifyContent: 'center', alignItems: 'center',&#10;                    }}&gt;&#10;                        &lt;Text style={{ fontSize: 11, fontWeight: 'bold', color: i &lt; 4 ? '#1B5FD9' : '#0E93C4', fontFamily: 'Arial, sans-serif' }}&gt;{k.n}&lt;/Text&gt;&#10;                    &lt;/Box&gt;&#10;                    &lt;Box style={{ flex: 1 }}&gt;&#10;                        &lt;Text style={{ fontSize: 12.5, fontWeight: 'bold', color: '#0B2A6B', lineHeight: 1.3 }}&gt;{k.t}&lt;/Text&gt;&#10;                        &lt;Text style={{ fontSize: 10, color: '#7A8AAA', lineHeight: 1.3 }}&gt;{k.s}&lt;/Text&gt;&#10;                    &lt;/Box&gt;&#10;                &lt;/Box&gt;&#10;            ))}&#10;        &lt;/Box&gt;&#10;&#10;        {/* 右：移动端 + 说明 */}&#10;        &lt;Box style={{ flex: 1, flexDirection: 'column', gap: 10 }}&gt;&#10;            &lt;Box style={{&#10;                background: '#FFFFFF', borderRadius: 10, padding: 8,&#10;                boxShadow: '0 4px 16px rgba(11,42,107,0.10)',&#10;                alignItems: 'center',&#10;            }}&gt;&#10;                &lt;Image src=&quot;assets/ui_clinic_mobile.png&quot; style={{&#10;                    width: 168, height: 320, objectFit: 'cover', borderRadius: 8,&#10;                    border: '3px solid #0B2A6B',&#10;                }} /&gt;&#10;            &lt;/Box&gt;&#10;            &lt;Box style={{&#10;                background: 'linear-gradient(140deg, #0B2A6B 0%, #1B5FD9 100%)',&#10;                borderRadius: 10, padding: 14, flex: 1,&#10;            }}&gt;&#10;                &lt;Text style={{ fontSize: 12.5, fontWeight: 'bold', color: '#35C8F0', marginBottom: 7 }}&gt;&#10;                    店长在手机上就能做完&#10;                &lt;/Text&gt;&#10;                &lt;Text style={{ fontSize: 10.5, color: '#C8D9F5', lineHeight: 1.65 }}&gt;&#10;                    414px 视口适配，支持相机拍照、相册选图、剪贴板粘贴，底部常驻操作条，不用回办公室开电脑。&#10;                &lt;/Text&gt;&#10;            &lt;/Box&gt;&#10;        &lt;/Box&gt;&#10;    &lt;/Box&gt;&#10;&#10;    {/* C 页脚条 */}&#10;    &lt;Box style={{&#10;        position: 'absolute', left: 64, right: 64, bottom: 16,&#10;        flexDirection: 'row', alignItems: 'center', justifyContent: 'space-between',&#10;    }}&gt;&#10;        &lt;Text style={{ fontSize: 12.5, color: '#8494B4' }}&gt;美团电商眼科运营AI助手 · 爱尔眼科集团AI创新应用大赛&lt;/Text&gt;&#10;        &lt;Text style={{ fontSize: 12.5, color: '#8494B4', fontFamily: 'Arial, sans-serif' }}&gt;07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83870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门诊采集：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张截图，替代一张手填表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按界面分图上传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AI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识别提取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生成诊断报告</a:t>
            </a:r>
            <a:endParaRPr/>
          </a:p>
        </p:txBody>
      </p:sp>
      <p:pic>
        <p:nvPicPr>
          <p:cNvPr id="308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309" name=""/>
          <p:cNvSpPr/>
          <p:nvPr/>
        </p:nvSpPr>
        <p:spPr>
          <a:xfrm rot="0" flipH="0" flipV="0">
            <a:off x="533400" y="1028700"/>
            <a:ext cx="5676900" cy="5048250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09550" dist="57150" dir="5400000">
              <a:srgbClr val="0B2A6B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310" name=""/>
          <p:cNvPicPr>
            <a:picLocks noChangeAspect="1"/>
          </p:cNvPicPr>
          <p:nvPr/>
        </p:nvPicPr>
        <p:blipFill>
          <a:blip r:embed="rId2"/>
          <a:srcRect l="14737" t="0" r="14737" b="0"/>
          <a:stretch>
            <a:fillRect/>
          </a:stretch>
        </p:blipFill>
        <p:spPr>
          <a:xfrm rot="0" flipH="0" flipV="0">
            <a:off x="609600" y="1104900"/>
            <a:ext cx="5524500" cy="4895850"/>
          </a:xfrm>
          <a:prstGeom prst="roundRect">
            <a:avLst>
              <a:gd name="adj" fmla="val 1362"/>
            </a:avLst>
          </a:prstGeom>
          <a:ln/>
        </p:spPr>
      </p:pic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343650" y="10382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125" b="1">
                <a:solidFill>
                  <a:srgbClr val="0B2A6B"/>
                </a:solidFill>
                <a:latin typeface="Microsoft YaHei"/>
                <a:ea typeface="Microsoft YaHei"/>
              </a:rPr>
              <a:t>个界面，逐个对应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9001125" y="1028700"/>
            <a:ext cx="752475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077325" y="1057275"/>
            <a:ext cx="600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FFFFF"/>
                </a:solidFill>
                <a:latin typeface="Microsoft YaHei"/>
                <a:ea typeface="Microsoft YaHei"/>
              </a:rPr>
              <a:t>分图上传指引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372225" y="13049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6372225" y="130492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6486525" y="1514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562725" y="15525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1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791325" y="14478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星级概览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791325" y="16383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点评星级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美团星级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昨日新增评价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372225" y="2000250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6372225" y="2000250"/>
            <a:ext cx="3409950" cy="609600"/>
          </a:xfrm>
          <a:custGeom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6486525" y="2200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562725" y="22383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791325" y="21336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评价数据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791325" y="23241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新增评价数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累计评价数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好评率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372225" y="268605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6372225" y="2686050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6486525" y="2895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562725" y="29337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791325" y="282892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客流数据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791325" y="301942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曝光人数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访问人数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意向转化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372225" y="338137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6372225" y="338137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6486525" y="35909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562725" y="36290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4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791325" y="352425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交易数据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791325" y="371475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下单人数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成交金额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客单价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372225" y="407670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6372225" y="4076700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6486525" y="4286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562725" y="43243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5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791325" y="42195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经营评分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791325" y="441007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交易表现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服务质量分项得分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372225" y="4772025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6372225" y="4772025"/>
            <a:ext cx="3409950" cy="609600"/>
          </a:xfrm>
          <a:custGeom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6486525" y="49720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562725" y="50101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6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791325" y="49053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基础信息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791325" y="509587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门店名称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地址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营业时间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372225" y="54578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6372225" y="545782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486525" y="56673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562725" y="57054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791325" y="56007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服务质量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791325" y="57912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响应速度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履约完成率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9886950" y="1028700"/>
            <a:ext cx="1771650" cy="320040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9972675" y="1104900"/>
            <a:ext cx="1600200" cy="3048000"/>
          </a:xfrm>
          <a:prstGeom prst="rect">
            <a:avLst/>
          </a:prstGeom>
          <a:ln w="38100">
            <a:solidFill>
              <a:srgbClr val="0B2A6B"/>
            </a:solidFill>
            <a:prstDash val="solid"/>
          </a:ln>
        </p:spPr>
        <p:txBody>
          <a:bodyPr/>
          <a:p/>
        </p:txBody>
      </p:sp>
      <p:pic>
        <p:nvPicPr>
          <p:cNvPr id="358" name=""/>
          <p:cNvPicPr>
            <a:picLocks noChangeAspect="1"/>
          </p:cNvPicPr>
          <p:nvPr/>
        </p:nvPicPr>
        <p:blipFill>
          <a:blip r:embed="rId3"/>
          <a:srcRect l="0" t="5994" r="0" b="5994"/>
          <a:stretch>
            <a:fillRect/>
          </a:stretch>
        </p:blipFill>
        <p:spPr>
          <a:xfrm rot="0" flipH="0" flipV="0">
            <a:off x="9972675" y="1104900"/>
            <a:ext cx="1600200" cy="3048000"/>
          </a:xfrm>
          <a:prstGeom prst="roundRect">
            <a:avLst>
              <a:gd name="adj" fmla="val 4762"/>
            </a:avLst>
          </a:prstGeom>
          <a:ln/>
        </p:spPr>
      </p:pic>
      <p:sp>
        <p:nvSpPr>
          <p:cNvPr id="359" name=""/>
          <p:cNvSpPr/>
          <p:nvPr/>
        </p:nvSpPr>
        <p:spPr>
          <a:xfrm rot="0" flipH="0" flipV="0">
            <a:off x="9886950" y="4324350"/>
            <a:ext cx="1771650" cy="1752600"/>
          </a:xfrm>
          <a:prstGeom prst="roundRect">
            <a:avLst>
              <a:gd name="adj" fmla="val 543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0020300" y="4457700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35C8F0"/>
                </a:solidFill>
                <a:latin typeface="Microsoft YaHei"/>
                <a:ea typeface="Microsoft YaHei"/>
              </a:rPr>
              <a:t>店长在手机上就能做完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0020300" y="4667250"/>
            <a:ext cx="15049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788">
                <a:solidFill>
                  <a:srgbClr val="C8D9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788">
                <a:solidFill>
                  <a:srgbClr val="C8D9F5"/>
                </a:solidFill>
                <a:latin typeface="Microsoft YaHei"/>
                <a:ea typeface="Microsoft YaHei"/>
              </a:rPr>
              <a:t>视口适配，支持相机拍照、相册选图、剪贴板粘贴，底部常驻操作条，不用回办公室开电脑。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64" name="" descr="&lt;Slide style={{&#10;    width: 1280, height: 720,&#10;    position: 'relative',&#10;    background: '#0B2A6B',&#10;    fontFamily: &quot;'Microsoft YaHei', '微软雅黑', sans-serif&quot;,&#10;    overflow: 'hidden',&#10;}}&gt;&#10;    {/* 背景光晕 */}&#10;    &lt;Box style={{&#10;        position: 'absolute', top: -120, right: -80, width: 620, height: 620,&#10;        background: 'radial-gradient(circle, rgba(53,200,240,0.20) 0%, rgba(53,200,240,0) 68%)',&#10;    }} /&gt;&#10;&#10;    {/* A 标题块 */}&#10;    &lt;Box style={{ position: 'absolute', top: 26, left: 64, flexDirection: 'row', alignItems: 'center', gap: 16 }}&gt;&#10;        &lt;Box style={{ width: 6, height: 36, background: '#35C8F0', borderRadius: 3 }} /&gt;&#10;        &lt;Box&gt;&#10;            &lt;Text style={{ fontSize: 30, fontWeight: 'bold', color: '#FFFFFF', lineHeight: 1.2 }}&gt;AI 内容生产：从 2 小时到分钟级&lt;/Text&gt;&#10;            &lt;Text style={{ fontSize: 12.5, color: '#8FC4F8', marginTop: 3, letterSpacing: 1 }}&gt;&#10;                文案 · 套图 · 主图诊断 · 文案优化 · 话术建议，五件套全在同一个工作台&#10;            &lt;/Text&gt;&#10;        &lt;/Box&gt;&#10;    &lt;/Box&gt;&#10;    &lt;Image src=&quot;assets/logo_2026.png&quot; style={{&#10;        position: 'absolute', top: 28, right: 64,&#10;        width: 112, height: 48, objectFit: 'contain', opacity: 0.38,&#10;    }} /&gt;&#10;&#10;    {/* B 内容区 */}&#10;    &lt;Box style={{&#10;        position: 'absolute', top: 104, left: 56, right: 56, height: 532,&#10;        flexDirection: 'row', gap: 16,&#10;    }}&gt;&#10;        {/* 左：三张截图 */}&#10;        &lt;Box style={{ width: 630, flexDirection: 'column', gap: 9 }}&gt;&#10;            &lt;Box style={{&#10;                background: 'rgba(255,255,255,0.94)', borderRadius: 9, padding: 6,&#10;                border: '1px solid rgba(53,200,240,0.28)',&#10;            }}&gt;&#10;                &lt;Image src=&quot;assets/ui_copy.png&quot; style={{ width: '100%', height: 246, objectFit: 'cover', borderRadius: 5 }} /&gt;&#10;            &lt;/Box&gt;&#10;            &lt;Box style={{ flexDirection: 'row', gap: 9 }}&gt;&#10;                &lt;Box style={{&#10;                    flex: 1, background: 'rgba(255,255,255,0.94)', borderRadius: 9, padding: 6,&#10;                    border: '1px solid rgba(53,200,240,0.28)',&#10;                }}&gt;&#10;                    &lt;Image src=&quot;assets/ui_img.png&quot; style={{ width: '100%', height: 226, objectFit: 'cover', borderRadius: 5 }} /&gt;&#10;                &lt;/Box&gt;&#10;                &lt;Box style={{&#10;                    flex: 1, background: 'rgba(255,255,255,0.94)', borderRadius: 9, padding: 6,&#10;                    border: '1px solid rgba(53,200,240,0.28)',&#10;                }}&gt;&#10;                    &lt;Image src=&quot;assets/ui_imgdiag.png&quot; style={{ width: '100%', height: 226, objectFit: 'cover', borderRadius: 5 }} /&gt;&#10;                &lt;/Box&gt;&#10;            &lt;/Box&gt;&#10;        &lt;/Box&gt;&#10;&#10;        {/* 右：能力矩阵 */}&#10;        &lt;Box style={{ flex: 1, flexDirection: 'column', gap: 9 }}&gt;&#10;            {[&#10;                { t: '文案生成', d: '按项目 / 人群 / 语气出多版本文案，直接可用', tag: 'REQ-03', c: '#35C8F0' },&#10;                { t: '套图生成', d: 'Seedream 批量出图，统一集团品牌视觉与尺寸规范', tag: 'REQ-03', c: '#35C8F0' },&#10;                { t: '主图诊断', d: '构图、卖点、合规三维打分，指出具体改哪一处', tag: 'REQ-03', c: '#ADE8FF' },&#10;                { t: '文案优化', d: '原有文案润色 + 违禁词与医疗广告合规检查', tag: 'REQ-04', c: '#ADE8FF' },&#10;                { t: '话术建议', d: '咨询、到店、术后随访分场景转化话术', tag: 'REQ-05', c: '#FF8A3D' },&#10;            ].map((r, i) =&gt; (&#10;                &lt;Box key={r.t} style={{&#10;                    flex: 1,&#10;                    background: 'rgba(255,255,255,0.07)',&#10;                    borderRadius: 9,&#10;                    paddingLeft: 14, paddingRight: 14, paddingTop: 10, paddingBottom: 10,&#10;                    flexDirection: 'row', alignItems: 'center', gap: 12,&#10;                    borderLeft: `3px solid ${r.c}`,&#10;                }}&gt;&#10;                    &lt;Box style={{ flex: 1 }}&gt;&#10;                        &lt;Box style={{ flexDirection: 'row', alignItems: 'center', gap: 8, marginBottom: 3 }}&gt;&#10;                            &lt;Text style={{ fontSize: 15, fontWeight: 'bold', color: '#FFFFFF' }}&gt;{r.t}&lt;/Text&gt;&#10;                            &lt;Box style={{ background: 'rgba(255,255,255,0.12)', borderRadius: 3, padding: '1px 5px' }}&gt;&#10;                                &lt;Text style={{ fontSize: 9, color: r.c, fontFamily: 'Arial, sans-serif', fontWeight: 'bold' }}&gt;{r.tag}&lt;/Text&gt;&#10;                            &lt;/Box&gt;&#10;                        &lt;/Box&gt;&#10;                        &lt;Text style={{ fontSize: 11, color: '#AFC8E8', lineHeight: 1.5 }}&gt;{r.d}&lt;/Text&gt;&#10;                    &lt;/Box&gt;&#10;                &lt;/Box&gt;&#10;            ))}&#10;&#10;            &lt;Box style={{&#10;                background: 'linear-gradient(120deg, rgba(53,200,240,0.24) 0%, rgba(53,200,240,0.08) 100%)',&#10;                borderRadius: 9, padding: 13,&#10;                flexDirection: 'row', alignItems: 'center', gap: 14,&#10;            }}&gt;&#10;                &lt;Box style={{ alignItems: 'center' }}&gt;&#10;                    &lt;Text style={{ fontSize: 34, fontWeight: 'bold', color: '#35C8F0', lineHeight: 1.0, fontFamily: 'Arial, sans-serif' }}&gt;5&lt;/Text&gt;&#10;                    &lt;Text style={{ fontSize: 10, color: '#8FC4F8' }}&gt;类能力&lt;/Text&gt;&#10;                &lt;/Box&gt;&#10;                &lt;Box style={{ width: 1, height: 38, background: 'rgba(255,255,255,0.18)' }} /&gt;&#10;                &lt;Text style={{ fontSize: 11, color: '#C8D9F5', lineHeight: 1.55, flex: 1 }}&gt;&#10;                    一次生成后可原地改写、换语气、再出图，不用在多个工具间来回搬运&#10;                &lt;/Text&gt;&#10;            &lt;/Box&gt;&#10;        &lt;/Box&gt;&#10;    &lt;/Box&gt;&#10;&#10;    {/* C 页脚条 */}&#10;    &lt;Box style={{&#10;        position: 'absolute', left: 64, right: 64, bottom: 14,&#10;        flexDirection: 'row', alignItems: 'center', justifyContent: 'space-between',&#10;    }}&gt;&#10;        &lt;Text style={{ fontSize: 12.5, color: '#6E93C8' }}&gt;美团电商眼科运营AI助手 · 爱尔眼科集团AI创新应用大赛&lt;/Text&gt;&#10;        &lt;Text style={{ fontSize: 12.5, color: '#6E93C8', fontFamily: 'Arial, sans-serif' }}&gt;08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7048500" y="-1143000"/>
            <a:ext cx="5905500" cy="5905500"/>
          </a:xfrm>
          <a:custGeom>
            <a:pathLst>
              <a:path w="620" h="620">
                <a:moveTo>
                  <a:pt x="540" y="620"/>
                </a:moveTo>
                <a:lnTo>
                  <a:pt x="0" y="620"/>
                </a:lnTo>
                <a:lnTo>
                  <a:pt x="0" y="120"/>
                </a:lnTo>
                <a:lnTo>
                  <a:pt x="540" y="120"/>
                </a:lnTo>
                <a:close/>
              </a:path>
            </a:pathLst>
          </a:custGeom>
          <a:gradFill>
            <a:gsLst>
              <a:gs pos="0">
                <a:srgbClr val="35C8F0">
                  <a:alpha val="20000"/>
                </a:srgbClr>
              </a:gs>
              <a:gs pos="68000">
                <a:srgbClr val="35C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1719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内容生产：从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小时到分钟级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17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文案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套图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主图诊断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文案优化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话术建议，五件套全在同一个工作台</a:t>
            </a:r>
            <a:endParaRPr/>
          </a:p>
        </p:txBody>
      </p:sp>
      <p:pic>
        <p:nvPicPr>
          <p:cNvPr id="370" name=""/>
          <p:cNvPicPr>
            <a:picLocks noChangeAspect="1"/>
          </p:cNvPicPr>
          <p:nvPr/>
        </p:nvPicPr>
        <p:blipFill>
          <a:blip r:embed="rId1">
            <a:alphaModFix amt="38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371" name=""/>
          <p:cNvSpPr/>
          <p:nvPr/>
        </p:nvSpPr>
        <p:spPr>
          <a:xfrm rot="0" flipH="0" flipV="0">
            <a:off x="533400" y="990600"/>
            <a:ext cx="6000750" cy="2457450"/>
          </a:xfrm>
          <a:prstGeom prst="roundRect">
            <a:avLst>
              <a:gd name="adj" fmla="val 348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72" name=""/>
          <p:cNvPicPr>
            <a:picLocks noChangeAspect="1"/>
          </p:cNvPicPr>
          <p:nvPr/>
        </p:nvPicPr>
        <p:blipFill>
          <a:blip r:embed="rId2"/>
          <a:srcRect l="0" t="18155" r="0" b="18155"/>
          <a:stretch>
            <a:fillRect/>
          </a:stretch>
        </p:blipFill>
        <p:spPr>
          <a:xfrm rot="0" flipH="0" flipV="0">
            <a:off x="590550" y="1047750"/>
            <a:ext cx="5886450" cy="2343150"/>
          </a:xfrm>
          <a:prstGeom prst="roundRect">
            <a:avLst>
              <a:gd name="adj" fmla="val 2033"/>
            </a:avLst>
          </a:prstGeom>
          <a:ln/>
        </p:spPr>
      </p:pic>
      <p:sp>
        <p:nvSpPr>
          <p:cNvPr id="373" name=""/>
          <p:cNvSpPr/>
          <p:nvPr/>
        </p:nvSpPr>
        <p:spPr>
          <a:xfrm rot="0" flipH="0" flipV="0">
            <a:off x="533400" y="3533775"/>
            <a:ext cx="2962275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74" name=""/>
          <p:cNvPicPr>
            <a:picLocks noChangeAspect="1"/>
          </p:cNvPicPr>
          <p:nvPr/>
        </p:nvPicPr>
        <p:blipFill>
          <a:blip r:embed="rId3"/>
          <a:srcRect l="8655" t="0" r="8655" b="0"/>
          <a:stretch>
            <a:fillRect/>
          </a:stretch>
        </p:blipFill>
        <p:spPr>
          <a:xfrm rot="0" flipH="0" flipV="0">
            <a:off x="590550" y="3590925"/>
            <a:ext cx="2847975" cy="2152650"/>
          </a:xfrm>
          <a:prstGeom prst="roundRect">
            <a:avLst>
              <a:gd name="adj" fmla="val 2212"/>
            </a:avLst>
          </a:prstGeom>
          <a:ln/>
        </p:spPr>
      </p:pic>
      <p:sp>
        <p:nvSpPr>
          <p:cNvPr id="375" name=""/>
          <p:cNvSpPr/>
          <p:nvPr/>
        </p:nvSpPr>
        <p:spPr>
          <a:xfrm rot="0" flipH="0" flipV="0">
            <a:off x="3581400" y="3533775"/>
            <a:ext cx="2952750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76" name=""/>
          <p:cNvPicPr>
            <a:picLocks noChangeAspect="1"/>
          </p:cNvPicPr>
          <p:nvPr/>
        </p:nvPicPr>
        <p:blipFill>
          <a:blip r:embed="rId4"/>
          <a:srcRect l="8794" t="0" r="8794" b="0"/>
          <a:stretch>
            <a:fillRect/>
          </a:stretch>
        </p:blipFill>
        <p:spPr>
          <a:xfrm rot="0" flipH="0" flipV="0">
            <a:off x="3638550" y="3590925"/>
            <a:ext cx="2838450" cy="2152650"/>
          </a:xfrm>
          <a:prstGeom prst="roundRect">
            <a:avLst>
              <a:gd name="adj" fmla="val 2212"/>
            </a:avLst>
          </a:prstGeom>
          <a:ln/>
        </p:spPr>
      </p:pic>
      <p:sp>
        <p:nvSpPr>
          <p:cNvPr id="377" name=""/>
          <p:cNvSpPr/>
          <p:nvPr/>
        </p:nvSpPr>
        <p:spPr>
          <a:xfrm rot="0" flipH="0" flipV="0">
            <a:off x="6715125" y="99060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6715125" y="990600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848475" y="11906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7496175" y="121920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7543800" y="122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848475" y="139065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按项目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人群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语气出多版本文案，直接可用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715125" y="1857375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6715125" y="1857375"/>
            <a:ext cx="4972050" cy="771525"/>
          </a:xfrm>
          <a:custGeom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848475" y="20478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7496175" y="20764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543800" y="20859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848475" y="224790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批量出图，统一集团品牌视觉与尺寸规范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715125" y="2714625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6715125" y="2714625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848475" y="29146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496175" y="294322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543800" y="295275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848475" y="3114675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构图、卖点、合规三维打分，指出具体改哪一处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715125" y="3581400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6715125" y="3581400"/>
            <a:ext cx="4972050" cy="771525"/>
          </a:xfrm>
          <a:custGeom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848475" y="3771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7496175" y="380047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543800" y="381000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848475" y="3971925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原有文案润色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违禁词与医疗广告合规检查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715125" y="443865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6715125" y="4438650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848475" y="4638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7496175" y="46672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543800" y="46767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FF8A3D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848475" y="483870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咨询、到店、术后随访分场景转化话术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6686550" y="5305425"/>
            <a:ext cx="4972050" cy="752475"/>
          </a:xfrm>
          <a:prstGeom prst="roundRect">
            <a:avLst>
              <a:gd name="adj" fmla="val 11392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8000"/>
                </a:srgbClr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867525" y="5429250"/>
            <a:ext cx="180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5C8F0"/>
                </a:solidFill>
                <a:latin typeface="Arial"/>
                <a:ea typeface="Arial"/>
              </a:rPr>
              <a:t>5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810375" y="58197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FC4F8"/>
                </a:solidFill>
                <a:latin typeface="Microsoft YaHei"/>
                <a:ea typeface="Microsoft YaHei"/>
              </a:rPr>
              <a:t>类能力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7229475" y="5505450"/>
            <a:ext cx="9525" cy="3619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372350" y="5581650"/>
            <a:ext cx="4162425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C8D9F5"/>
                </a:solidFill>
                <a:latin typeface="Microsoft YaHei"/>
                <a:ea typeface="Microsoft YaHei"/>
              </a:rPr>
              <a:t>一次生成后可原地改写、换语气、再出图，不用在多个工具间来回搬运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210925" y="65817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6E93C8"/>
                </a:solidFill>
                <a:latin typeface="Arial"/>
                <a:ea typeface="Arial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14" name="" descr="&lt;Slide style={{&#10;    width: 1280, height: 720,&#10;    position: 'relative',&#10;    background: '#F2F6FD',&#10;    fontFamily: &quot;'Microsoft YaHei', '微软雅黑', sans-serif&quot;,&#10;    overflow: 'hidden',&#10;}}&gt;&#10;    {/* A 标题块 */}&#10;    &lt;Box style={{ position: 'absolute', top: 26, left: 64, flexDirection: 'row', alignItems: 'center', gap: 16 }}&gt;&#10;        &lt;Box style={{ width: 6, height: 36, background: '#1B5FD9', borderRadius: 3 }} /&gt;&#10;        &lt;Box&gt;&#10;            &lt;Text style={{ fontSize: 30, fontWeight: 'bold', color: '#0B2A6B', lineHeight: 1.2 }}&gt;评价与诊断：把差评当成经营线索&lt;/Text&gt;&#10;            &lt;Text style={{ fontSize: 12.5, color: '#5A6B8C', marginTop: 3, letterSpacing: 1 }}&gt;&#10;                差评分类归因 → 分层回复建议 · 五维体检 → P0/P1 行动项&#10;            &lt;/Text&gt;&#10;        &lt;/Box&gt;&#10;    &lt;/Box&gt;&#10;    &lt;Image src=&quot;assets/logo_2026.png&quot; style={{&#10;        position: 'absolute', top: 28, right: 64,&#10;        width: 112, height: 48, objectFit: 'contain', opacity: 0.55,&#10;    }} /&gt;&#10;&#10;    {/* B 内容区：上下两栏 */}&#10;    &lt;Box style={{&#10;        position: 'absolute', top: 102, left: 56, right: 56, height: 536,&#10;        flexDirection: 'column', gap: 12,&#10;    }}&gt;&#10;        {/* 上：评价管理 */}&#10;        &lt;Box style={{ flex: 1, flexDirection: 'row', gap: 14 }}&gt;&#10;            &lt;Box style={{&#10;                width: 500, background: '#FFFFFF', borderRadius: 10, padding: 8,&#10;                boxShadow: '0 4px 18px rgba(11,42,107,0.10)',&#10;                border: '1px solid rgba(27,95,217,0.12)',&#10;            }}&gt;&#10;                &lt;Image src=&quot;assets/ui_review.png&quot; style={{ width: '100%', height: '100%', objectFit: 'cover', borderRadius: 6 }} /&gt;&#10;            &lt;/Box&gt;&#10;&#10;            &lt;Box style={{ flex: 1, flexDirection: 'column', justifyContent: 'center', gap: 9 }}&gt;&#10;                &lt;Box style={{ flexDirection: 'row', alignItems: 'center', gap: 10 }}&gt;&#10;                    &lt;Box style={{ background: '#1B5FD9', borderRadius: 4, padding: '3px 8px' }}&gt;&#10;                        &lt;Text style={{ fontSize: 10.5, fontWeight: 'bold', color: '#FFFFFF', fontFamily: 'Arial, sans-serif' }}&gt;REQ-04&lt;/Text&gt;&#10;                    &lt;/Box&gt;&#10;                    &lt;Text style={{ fontSize: 16, fontWeight: 'bold', color: '#0B2A6B' }}&gt;差评智能分析与回复&lt;/Text&gt;&#10;                &lt;/Box&gt;&#10;                &lt;Text style={{ fontSize: 12, color: '#5A6B8C', lineHeight: 1.7 }}&gt;&#10;                    贴一条差评、或者直接上传截图，系统自动判断它属于哪类问题、该用什么口径回，给出可直接使用的回复稿。&#10;                &lt;/Text&gt;&#10;                &lt;Box style={{ flexDirection: 'row', gap: 8 }}&gt;&#10;                    {[&#10;                        { t: '等待时间长', c: '#1B5FD9' },&#10;                        { t: '服务态度', c: '#1B5FD9' },&#10;                        { t: '效果不满意', c: '#FF8A3D' },&#10;                        { t: '价格问题', c: '#FF8A3D' },&#10;                    ].map((x) =&gt; (&#10;                        &lt;Box key={x.t} style={{&#10;                            flex: 1, background: 'rgba(27,95,217,0.06)',&#10;                            borderRadius: 6, paddingTop: 9, paddingBottom: 9,&#10;                            alignItems: 'center', borderTop: `2px solid ${x.c}`,&#10;                        }}&gt;&#10;                            &lt;Text style={{ fontSize: 11, fontWeight: 'bold', color: '#0B2A6B', textAlign: 'center' }}&gt;{x.t}&lt;/Text&gt;&#10;                        &lt;/Box&gt;&#10;                    ))}&#10;                &lt;/Box&gt;&#10;            &lt;/Box&gt;&#10;        &lt;/Box&gt;&#10;&#10;        {/* 下：运营诊断 */}&#10;        &lt;Box style={{ flex: 1, flexDirection: 'row', gap: 14 }}&gt;&#10;            &lt;Box style={{ width: 500, flexDirection: 'column', justifyContent: 'center', gap: 9 }}&gt;&#10;                &lt;Box style={{ flexDirection: 'row', alignItems: 'center', gap: 10 }}&gt;&#10;                    &lt;Box style={{ background: '#FF8A3D', borderRadius: 4, padding: '3px 8px' }}&gt;&#10;                        &lt;Text style={{ fontSize: 10.5, fontWeight: 'bold', color: '#FFFFFF', fontFamily: 'Arial, sans-serif' }}&gt;REQ-05&lt;/Text&gt;&#10;                    &lt;/Box&gt;&#10;                    &lt;Text style={{ fontSize: 16, fontWeight: 'bold', color: '#0B2A6B' }}&gt;五维运营诊断&lt;/Text&gt;&#10;                &lt;/Box&gt;&#10;                &lt;Text style={{ fontSize: 12, color: '#5A6B8C', lineHeight: 1.7 }}&gt;&#10;                    店铺装修、团购项目、评价管理、推广投放、活动策划五个维度逐项打分，直接给出带优先级的行动清单，而不是笼统的「建议优化」。&#10;                &lt;/Text&gt;&#10;                &lt;Box style={{ flexDirection: 'row', gap: 8 }}&gt;&#10;                    &lt;Box style={{&#10;                        background: 'rgba(255,138,61,0.10)', borderRadius: 6,&#10;                        padding: '9px 12px', flex: 1, borderLeft: '2px solid #FF8A3D',&#10;                    }}&gt;&#10;                        &lt;Text style={{ fontSize: 10.5, fontWeight: 'bold', color: '#D96B15', marginBottom: 3 }}&gt;P0 立刻做&lt;/Text&gt;&#10;                        &lt;Text style={{ fontSize: 10, color: '#7A5A3A', lineHeight: 1.5 }}&gt;差评回复、引流款定价&lt;/Text&gt;&#10;                    &lt;/Box&gt;&#10;                    &lt;Box style={{&#10;                        background: 'rgba(27,95,217,0.07)', borderRadius: 6,&#10;                        padding: '9px 12px', flex: 1, borderLeft: '2px solid #1B5FD9',&#10;                    }}&gt;&#10;                        &lt;Text style={{ fontSize: 10.5, fontWeight: 'bold', color: '#1B5FD9', marginBottom: 3 }}&gt;P1 本周做&lt;/Text&gt;&#10;                        &lt;Text style={{ fontSize: 10, color: '#4A5A7A', lineHeight: 1.5 }}&gt;品类补充、关键词扩量&lt;/Text&gt;&#10;                    &lt;/Box&gt;&#10;                &lt;/Box&gt;&#10;            &lt;/Box&gt;&#10;&#10;            &lt;Box style={{&#10;                flex: 1, background: '#FFFFFF', borderRadius: 10, padding: 8,&#10;                boxShadow: '0 4px 18px rgba(11,42,107,0.10)',&#10;                border: '1px solid rgba(255,138,61,0.18)',&#10;            }}&gt;&#10;                &lt;Image src=&quot;assets/ui_ops.png&quot; style={{ width: '100%', height: '100%', objectFit: 'cover', borderRadius: 6 }} /&gt;&#10;            &lt;/Box&gt;&#10;        &lt;/Box&gt;&#10;    &lt;/Box&gt;&#10;&#10;    {/* C 页脚条 */}&#10;    &lt;Box style={{&#10;        position: 'absolute', left: 64, right: 64, bottom: 14,&#10;        flexDirection: 'row', alignItems: 'center', justifyContent: 'space-between',&#10;    }}&gt;&#10;        &lt;Text style={{ fontSize: 12.5, color: '#8494B4' }}&gt;美团电商眼科运营AI助手 · 爱尔眼科集团AI创新应用大赛&lt;/Text&gt;&#10;        &lt;Text style={{ fontSize: 12.5, color: '#8494B4', fontFamily: 'Arial, sans-serif' }}&gt;09 / 1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2862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评价与诊断：把差评当成经营线索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28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差评分类归因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分层回复建议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五维体检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P0/P1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行动项</a:t>
            </a:r>
            <a:endParaRPr/>
          </a:p>
        </p:txBody>
      </p:sp>
      <p:pic>
        <p:nvPicPr>
          <p:cNvPr id="419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420" name=""/>
          <p:cNvSpPr/>
          <p:nvPr/>
        </p:nvSpPr>
        <p:spPr>
          <a:xfrm rot="0" flipH="0" flipV="0">
            <a:off x="533400" y="971550"/>
            <a:ext cx="4762500" cy="2295525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21" name=""/>
          <p:cNvPicPr>
            <a:picLocks noChangeAspect="1"/>
          </p:cNvPicPr>
          <p:nvPr/>
        </p:nvPicPr>
        <p:blipFill>
          <a:blip r:embed="rId2"/>
          <a:srcRect l="0" t="12809" r="0" b="12809"/>
          <a:stretch>
            <a:fillRect/>
          </a:stretch>
        </p:blipFill>
        <p:spPr>
          <a:xfrm rot="0" flipH="0" flipV="0">
            <a:off x="609600" y="1047750"/>
            <a:ext cx="4610100" cy="2143125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422" name=""/>
          <p:cNvSpPr/>
          <p:nvPr/>
        </p:nvSpPr>
        <p:spPr>
          <a:xfrm rot="0" flipH="0" flipV="0">
            <a:off x="5429250" y="1666875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1B5FD9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505450" y="1695450"/>
            <a:ext cx="361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038850" y="16573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429250" y="1933575"/>
            <a:ext cx="6229350" cy="238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贴一条差评、或者直接上传截图，系统自动判断它属于哪类问题、该用什么口径回，给出可直接使用的回复稿。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5429250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5429250" y="2276475"/>
            <a:ext cx="1504950" cy="323850"/>
          </a:xfrm>
          <a:custGeom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5924550" y="2362200"/>
            <a:ext cx="523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等待时间长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7010400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7010400" y="2276475"/>
            <a:ext cx="1495425" cy="323850"/>
          </a:xfrm>
          <a:custGeom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553325" y="2362200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服务态度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8582025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8582025" y="2276475"/>
            <a:ext cx="1504950" cy="323850"/>
          </a:xfrm>
          <a:custGeom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9077325" y="2362200"/>
            <a:ext cx="523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效果不满意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10163175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10163175" y="2276475"/>
            <a:ext cx="1495425" cy="323850"/>
          </a:xfrm>
          <a:custGeom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10706100" y="2362200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价格问题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533400" y="4076700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361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143000" y="40671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五维运营诊断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33400" y="4343400"/>
            <a:ext cx="47625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店铺装修、团购项目、评价管理、推广投放、活动策划五个维度逐项打分，直接给出带优先级的行动清单，而不是笼统的「建议优化」。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55245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552450" y="4895850"/>
            <a:ext cx="2343150" cy="495300"/>
          </a:xfrm>
          <a:custGeom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66750" y="4981575"/>
            <a:ext cx="2095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D96B15"/>
                </a:solidFill>
                <a:latin typeface="Microsoft YaHei"/>
                <a:ea typeface="Microsoft YaHei"/>
              </a:rPr>
              <a:t xml:space="preserve">P0 </a:t>
            </a:r>
            <a:r>
              <a:rPr lang="zh-CN" sz="788" b="1">
                <a:solidFill>
                  <a:srgbClr val="D96B15"/>
                </a:solidFill>
                <a:latin typeface="Microsoft YaHei"/>
                <a:ea typeface="Microsoft YaHei"/>
              </a:rPr>
              <a:t>立刻做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66750" y="51339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7A5A3A"/>
                </a:solidFill>
                <a:latin typeface="Microsoft YaHei"/>
                <a:ea typeface="Microsoft YaHei"/>
              </a:rPr>
              <a:t>差评回复、引流款定价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297180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2971800" y="4895850"/>
            <a:ext cx="2343150" cy="495300"/>
          </a:xfrm>
          <a:custGeom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3086100" y="4981575"/>
            <a:ext cx="2095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P1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本周做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3086100" y="51339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4A5A7A"/>
                </a:solidFill>
                <a:latin typeface="Microsoft YaHei"/>
                <a:ea typeface="Microsoft YaHei"/>
              </a:rPr>
              <a:t>品类补充、关键词扩量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5429250" y="3381375"/>
            <a:ext cx="6229350" cy="2695575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FF8A3D">
                <a:alpha val="18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51" name=""/>
          <p:cNvPicPr>
            <a:picLocks noChangeAspect="1"/>
          </p:cNvPicPr>
          <p:nvPr/>
        </p:nvPicPr>
        <p:blipFill>
          <a:blip r:embed="rId3"/>
          <a:srcRect l="0" t="16520" r="0" b="16520"/>
          <a:stretch>
            <a:fillRect/>
          </a:stretch>
        </p:blipFill>
        <p:spPr>
          <a:xfrm rot="0" flipH="0" flipV="0">
            <a:off x="5505450" y="3457575"/>
            <a:ext cx="6076950" cy="2543175"/>
          </a:xfrm>
          <a:prstGeom prst="roundRect">
            <a:avLst>
              <a:gd name="adj" fmla="val 2247"/>
            </a:avLst>
          </a:prstGeom>
          <a:ln/>
        </p:spPr>
      </p:pic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1210925" y="65817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09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2026-10-23T14:04:08Z</dcterms:created>
  <dcterms:modified xsi:type="dcterms:W3CDTF">2026-10-23T14:04:08Z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{"AIGC":{"Label":"1","ContentProducer":"00119111010856365494821B355","ProduceID":"01a166b347847c1489eb69cb1df52c72","ReservedCode1":"","ContentPropagator":"00119111010856365494821B355","PropagateID":"01a166b347847c1489eb69cb1df52c72","ReservedCode2":""}}</vt:lpwstr>
  </property>
</Properties>
</file>