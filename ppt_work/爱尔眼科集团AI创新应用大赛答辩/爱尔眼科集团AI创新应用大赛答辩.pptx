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svg" ContentType="image/svg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3.xml" ContentType="application/vnd.openxmlformats-officedocument.presentationml.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6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7" Type="http://schemas.openxmlformats.org/officeDocument/2006/relationships/presProps" Target="presProps.xml" /><Relationship Id="rId5" Type="http://schemas.openxmlformats.org/officeDocument/2006/relationships/slide" Target="slides/slide5.xml" /><Relationship Id="rId6" Type="http://schemas.openxmlformats.org/officeDocument/2006/relationships/notesMaster" Target="notesMasters/notesMaster1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3.png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Relationship Id="rId2" Type="http://schemas.openxmlformats.org/officeDocument/2006/relationships/image" Target="media/image2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&#10;    width: 1280, height: 720,&#10;    position: 'relative',&#10;    background: '#0B2A6B',&#10;    fontFamily: &quot;'Microsoft YaHei', '微软雅黑', sans-serif&quot;,&#10;    overflow: 'hidden',&#10;}}&gt;&#10;    {/* 全幅城市天际线底图 */}&#10;    &lt;Image src=&quot;assets/bg_city.jpg&quot; style={{&#10;        position: 'absolute', top: 0, left: 0,&#10;        width: 1280, height: 720, objectFit: 'cover',&#10;    }} /&gt;&#10;    {/* 深蓝保护蒙版，保证左侧文字可读 */}&#10;    &lt;Box style={{&#10;        position: 'absolute', top: 0, left: 0,&#10;        width: 1280, height: 720,&#10;        background: 'linear-gradient(100deg, rgba(11,42,107,0.94) 0%, rgba(11,42,107,0.80) 42%, rgba(27,95,217,0.28) 72%, rgba(27,95,217,0.12) 100%)',&#10;    }} /&gt;&#10;&#10;    {/* 顶部：2026 线框标识 + 白色爱尔 LOGO */}&#10;    &lt;Box style={{&#10;        position: 'absolute', top: 44, left: 64,&#10;        flexDirection: 'row', alignItems: 'center', gap: 24,&#10;    }}&gt;&#10;        &lt;Image src=&quot;assets/logo_2026.png&quot; style={{ width: 168, height: 72, objectFit: 'contain' }} /&gt;&#10;        &lt;Box style={{ width: 1, height: 40, background: 'rgba(255,255,255,0.28)' }} /&gt;&#10;        &lt;Text style={{ fontSize: 15, color: '#ADE8FF', letterSpacing: 2, fontWeight: 'bold' }}&gt;&#10;            AI 创新应用大赛&#10;        &lt;/Text&gt;&#10;    &lt;/Box&gt;&#10;&#10;    &lt;Box style={{ position: 'absolute', top: 44, right: 64, alignItems: 'flex-end' }}&gt;&#10;        &lt;Image src=&quot;assets/logo_eyer.png&quot; style={{ width: 210, height: 58, objectFit: 'contain' }} /&gt;&#10;    &lt;/Box&gt;&#10;&#10;    {/* 主标题区 */}&#10;    &lt;Box style={{&#10;        position: 'absolute', top: 190, left: 64,&#10;        width: 760,&#10;        flexDirection: 'column',&#10;    }}&gt;&#10;        &lt;Box style={{ flexDirection: 'row', alignItems: 'center', gap: 14, marginBottom: 26 }}&gt;&#10;            &lt;Box style={{ width: 6, height: 34, background: '#35C8F0', borderRadius: 3 }} /&gt;&#10;            &lt;Text style={{ fontSize: 19, color: '#8FE3F8', letterSpacing: 3, fontWeight: 'bold' }}&gt;&#10;                美团电商运营 · AI 助手&#10;            &lt;/Text&gt;&#10;        &lt;/Box&gt;&#10;&#10;        &lt;Text style={{&#10;            fontSize: 62, fontWeight: 'bold', color: '#FFFFFF', lineHeight: 1.15, letterSpacing: 1,&#10;        }}&gt;&#10;            让门店的经营截图，&lt;br /&gt;变成集团的经营结论&#10;        &lt;/Text&gt;&#10;&#10;        &lt;Text style={{&#10;            fontSize: 19, color: '#C8D9F5', lineHeight: 1.7, marginTop: 28,&#10;        }}&gt;&#10;            覆盖美团经营全链路的 AI 运营工作台 —— 采集、分析、创作、评价、决策五位一体&#10;        &lt;/Text&gt;&#10;    &lt;/Box&gt;&#10;&#10;    {/* 底部信息条 */}&#10;    &lt;Box style={{&#10;        position: 'absolute', left: 64, right: 64, bottom: 52,&#10;        flexDirection: 'row', alignItems: 'flex-end', justifyContent: 'space-between',&#10;    }}&gt;&#10;        &lt;Box style={{ flexDirection: 'row', gap: 46 }}&gt;&#10;            &lt;Box&gt;&#10;                &lt;Text style={{ fontSize: 12, color: '#7FA8E8', letterSpacing: 1, marginBottom: 7 }}&gt;参赛作品&lt;/Text&gt;&#10;                &lt;Text style={{ fontSize: 19, color: '#FFFFFF', fontWeight: 'bold' }}&gt;美团电商眼科运营AI助手&lt;/Text&gt;&#10;            &lt;/Box&gt;&#10;            &lt;Box&gt;&#10;                &lt;Text style={{ fontSize: 12, color: '#7FA8E8', letterSpacing: 1, marginBottom: 7 }}&gt;汇报单位&lt;/Text&gt;&#10;                &lt;Text style={{ fontSize: 19, color: '#FFFFFF', fontWeight: 'bold' }}&gt;爱尔眼科集团 · 门诊管理中心&lt;/Text&gt;&#10;            &lt;/Box&gt;&#10;            &lt;Box&gt;&#10;                &lt;Text style={{ fontSize: 12, color: '#7FA8E8', letterSpacing: 1, marginBottom: 7 }}&gt;答辩时长&lt;/Text&gt;&#10;                &lt;Text style={{ fontSize: 19, color: '#FFFFFF', fontWeight: 'bold' }}&gt;演讲 7 分钟 + 答辩 3 分钟&lt;/Text&gt;&#10;            &lt;/Box&gt;&#10;        &lt;/Box&gt;&#10;&#10;        &lt;Box style={{&#10;            paddingLeft: 22,&#10;            borderLeft: '3px solid #35C8F0',&#10;        }}&gt;&#10;            &lt;Text style={{ fontSize: 16, color: '#ADE8FF', marginBottom: 5 }}&gt;答辩人&lt;/Text&gt;&#10;            &lt;Text style={{ fontSize: 22, color: '#FFFFFF', fontWeight: 'bold' }}&gt;王皓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42000">
                <a:srgbClr val="0B2A6B">
                  <a:alpha val="80000"/>
                </a:srgbClr>
              </a:gs>
              <a:gs pos="72000">
                <a:srgbClr val="1B5FD9">
                  <a:alpha val="28000"/>
                </a:srgbClr>
              </a:gs>
              <a:gs pos="100000">
                <a:srgbClr val="1B5FD9">
                  <a:alpha val="1200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pic>
        <p:nvPicPr>
          <p:cNvPr id="5" name=""/>
          <p:cNvPicPr>
            <a:picLocks noChangeAspect="1"/>
          </p:cNvPicPr>
          <p:nvPr/>
        </p:nvPicPr>
        <p:blipFill>
          <a:blip r:embed="rId2"/>
          <a:srcRect l="0" t="110" r="0" b="110"/>
          <a:stretch>
            <a:fillRect/>
          </a:stretch>
        </p:blipFill>
        <p:spPr>
          <a:xfrm rot="0" flipH="0" flipV="0">
            <a:off x="609600" y="419100"/>
            <a:ext cx="1600200" cy="6858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2438400" y="571500"/>
            <a:ext cx="9525" cy="3810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2676525" y="676275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3"/>
          <a:srcRect l="97" t="0" r="97" b="0"/>
          <a:stretch>
            <a:fillRect/>
          </a:stretch>
        </p:blipFill>
        <p:spPr>
          <a:xfrm rot="0" flipH="0" flipV="0">
            <a:off x="9582150" y="419100"/>
            <a:ext cx="2000250" cy="552450"/>
          </a:xfrm>
          <a:prstGeom prst="rect">
            <a:avLst/>
          </a:prstGeom>
          <a:ln/>
        </p:spPr>
      </p:pic>
      <p:sp>
        <p:nvSpPr>
          <p:cNvPr id="9" name=""/>
          <p:cNvSpPr/>
          <p:nvPr/>
        </p:nvSpPr>
        <p:spPr>
          <a:xfrm rot="0" flipH="0" flipV="0">
            <a:off x="609600" y="18097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18669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美团电商运营</a:t>
            </a:r>
            <a:r>
              <a:rPr lang="en-US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7239000" cy="1638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让门店的经营截图，</a:t>
            </a:r>
            <a:endParaRPr/>
          </a:p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变成集团的经营结论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4286250"/>
            <a:ext cx="7239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覆盖美团经营全链路的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运营工作台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采集、分析、创作、评价、决策五位一体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5934075"/>
            <a:ext cx="2009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2009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057525" y="59340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057525" y="6143625"/>
            <a:ext cx="236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857875" y="5934075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答辩时长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857875" y="6143625"/>
            <a:ext cx="2133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演讲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答辩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0887075" y="5867400"/>
            <a:ext cx="723900" cy="495300"/>
          </a:xfrm>
          <a:custGeom>
            <a:pathLst>
              <a:path w="76" h="52">
                <a:moveTo>
                  <a:pt x="0" y="0"/>
                </a:moveTo>
                <a:lnTo>
                  <a:pt x="3" y="0"/>
                </a:lnTo>
                <a:lnTo>
                  <a:pt x="3" y="52"/>
                </a:lnTo>
                <a:lnTo>
                  <a:pt x="0" y="52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125200" y="58674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125200" y="6105525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" name="" descr="&lt;Slide style={{&#10;    width: 1280, height: 720,&#10;    position: 'relative',&#10;    background: '#F2F6FD',&#10;    fontFamily: &quot;'Microsoft YaHei', '微软雅黑', sans-serif&quot;,&#10;    overflow: 'hidden',&#10;}}&gt;&#10;    {/* 顶部斜切色带 */}&#10;    &lt;Image src=&quot;assets/bg_bar.jpg&quot; style={{&#10;        position: 'absolute', top: 0, left: 0,&#10;        width: 1280, height: 118, objectFit: 'cover',&#10;    }} /&gt;&#10;    &lt;Box style={{&#10;        position: 'absolute', top: 0, left: 0,&#10;        width: 1280, height: 118,&#10;        background: 'linear-gradient(90deg, rgba(11,42,107,0.94) 0%, rgba(27,95,217,0.82) 60%, rgba(27,95,217,0.55) 100%)',&#10;    }} /&gt;&#10;&#10;    {/* A 标题块 */}&#10;    &lt;Box style={{&#10;        position: 'absolute', top: 26, left: 64,&#10;        flexDirection: 'row', alignItems: 'center', gap: 16,&#10;    }}&gt;&#10;        &lt;Box style={{ width: 6, height: 40, background: '#35C8F0', borderRadius: 3 }} /&gt;&#10;        &lt;Box&gt;&#10;            &lt;Text style={{ fontSize: 34, fontWeight: 'bold', color: '#FFFFFF', lineHeight: 1.2 }}&gt;&#10;                门诊做美团，卡在三个地方&#10;            &lt;/Text&gt;&#10;            &lt;Text style={{ fontSize: 14, color: '#ADE8FF', marginTop: 5, letterSpacing: 1 }}&gt;&#10;                数据拿不到 · 内容做不快 · 决策靠经验&#10;            &lt;/Text&gt;&#10;        &lt;/Box&gt;&#10;    &lt;/Box&gt;&#10;    &lt;Image src=&quot;assets/logo_2026.png&quot; style={{&#10;        position: 'absolute', top: 30, right: 64,&#10;        width: 132, height: 56, objectFit: 'contain', opacity: 0.5,&#10;    }} /&gt;&#10;&#10;    {/* B 内容区：三张痛点卡 */}&#10;    &lt;Box style={{&#10;        position: 'absolute', top: 146, left: 64, right: 64,&#10;        height: 494,&#10;        flexDirection: 'row', gap: 22,&#10;    }}&gt;&#10;        {/* 卡片 1 */}&#10;        &lt;Box style={{&#10;            flex: 1,&#10;            background: '#FFFFFF',&#10;            borderRadius: 14,&#10;            borderTop: '4px solid #1B5FD9',&#10;            padding: 28, paddingTop: 24,&#10;            flexDirection: 'column',&#10;            boxShadow: '0 6px 22px rgba(11,42,107,0.08)',&#10;        }}&gt;&#10;            &lt;Box style={{ flexDirection: 'row', alignItems: 'center', gap: 12, marginBottom: 14 }}&gt;&#10;                &lt;Box style={{&#10;                    width: 40, height: 40, borderRadius: 20,&#10;                    background: 'rgba(27,95,217,0.10)',&#10;                    justifyContent: 'center', alignItems: 'center',&#10;                }}&gt;&#10;                    &lt;Text style={{ fontSize: 19, fontWeight: 'bold', color: '#1B5FD9' }}&gt;1&lt;/Text&gt;&#10;                &lt;/Box&gt;&#10;                &lt;Text style={{ fontSize: 21, fontWeight: 'bold', color: '#0B2A6B' }}&gt;数据散在门店里&lt;/Text&gt;&#10;            &lt;/Box&gt;&#10;            &lt;Text style={{ fontSize: 64, fontWeight: 'bold', color: '#1B5FD9', lineHeight: 1.0, marginBottom: 4 }}&gt;&#10;                28&#10;            &lt;/Text&gt;&#10;            &lt;Text style={{ fontSize: 14, color: '#5A6B8C', marginBottom: 16 }}&gt;家辽宁门诊的经营数据，总部拿不到横向对比&lt;/Text&gt;&#10;            &lt;Text style={{ fontSize: 14, color: '#3A4A66', lineHeight: 1.75, flex: 1 }}&gt;&#10;                美团「经营参谋」在每家门店的手机里，评分、曝光、转化、评价各自分散。要看全省 28 家门诊的经营评分，只能一家一家登录截图，再用 Excel 手工拼表——一个周期下来两三天，数据还没法实时。&#10;            &lt;/Text&gt;&#10;            &lt;Box style={{&#10;                marginTop: 12, padding: '10px 14px',&#10;                background: 'rgba(255,138,61,0.10)',&#10;                borderLeft: '3px solid #FF8A3D', borderRadius: 4,&#10;            }}&gt;&#10;                &lt;Text style={{ fontSize: 13, color: '#B4560F', lineHeight: 1.6 }}&gt;&#10;                    后果：总部只能&quot;事后看总分&quot;，发现不了过程问题&#10;                &lt;/Text&gt;&#10;            &lt;/Box&gt;&#10;        &lt;/Box&gt;&#10;&#10;        {/* 卡片 2 */}&#10;        &lt;Box style={{&#10;            flex: 1,&#10;            background: '#FFFFFF',&#10;            borderRadius: 14,&#10;            borderTop: '4px solid #1B5FD9',&#10;            padding: 28, paddingTop: 24,&#10;            flexDirection: 'column',&#10;            boxShadow: '0 6px 22px rgba(11,42,107,0.08)',&#10;        }}&gt;&#10;            &lt;Box style={{ flexDirection: 'row', alignItems: 'center', gap: 12, marginBottom: 14 }}&gt;&#10;                &lt;Box style={{&#10;                    width: 40, height: 40, borderRadius: 20,&#10;                    background: 'rgba(27,95,217,0.10)',&#10;                    justifyContent: 'center', alignItems: 'center',&#10;                }}&gt;&#10;                    &lt;Text style={{ fontSize: 19, fontWeight: 'bold', color: '#1B5FD9' }}&gt;2&lt;/Text&gt;&#10;                &lt;/Box&gt;&#10;                &lt;Text style={{ fontSize: 21, fontWeight: 'bold', color: '#0B2A6B' }}&gt;内容产能跟不上&lt;/Text&gt;&#10;            &lt;/Box&gt;&#10;            &lt;Box style={{ flexDirection: 'row', alignItems: 'flex-end', gap: 8, marginBottom: 4 }}&gt;&#10;                &lt;Text style={{ fontSize: 64, fontWeight: 'bold', color: '#1B5FD9', lineHeight: 1.0 }}&gt;2&lt;/Text&gt;&#10;                &lt;Text style={{ fontSize: 22, fontWeight: 'bold', color: '#1B5FD9', marginBottom: 8 }}&gt;小时&lt;/Text&gt;&#10;            &lt;/Box&gt;&#10;            &lt;Text style={{ fontSize: 14, color: '#5A6B8C', marginBottom: 16 }}&gt;写一条美团文案，还要配图、排版、凑满 5 张&lt;/Text&gt;&#10;            &lt;Text style={{ fontSize: 14, color: '#3A4A66', lineHeight: 1.75, flex: 1 }}&gt;&#10;                门诊没有专职设计，暑期档、开学季、活动期文案需求集中爆发。写文案、配图、查违禁词、调整主图，一轮下来两小时起。门店没有美术资源，集团统一的品牌视觉也落不了地。&#10;            &lt;/Text&gt;&#10;            &lt;Box style={{&#10;                marginTop: 12, padding: '10px 14px',&#10;                background: 'rgba(255,138,61,0.10)',&#10;                borderLeft: '3px solid #FF8A3D', borderRadius: 4,&#10;            }}&gt;&#10;                &lt;Text style={{ fontSize: 13, color: '#B4560F', lineHeight: 1.6 }}&gt;&#10;                    后果：活动期只能仓促发图，质量与合规都难保证&#10;                &lt;/Text&gt;&#10;            &lt;/Box&gt;&#10;        &lt;/Box&gt;&#10;&#10;        {/* 卡片 3 */}&#10;        &lt;Box style={{&#10;            flex: 1,&#10;            background: '#FFFFFF',&#10;            borderRadius: 14,&#10;            borderTop: '4px solid #FF8A3D',&#10;            padding: 28, paddingTop: 24,&#10;            flexDirection: 'column',&#10;            boxShadow: '0 6px 22px rgba(11,42,107,0.08)',&#10;        }}&gt;&#10;            &lt;Box style={{ flexDirection: 'row', alignItems: 'center', gap: 12, marginBottom: 14 }}&gt;&#10;                &lt;Box style={{&#10;                    width: 40, height: 40, borderRadius: 20,&#10;                    background: 'rgba(255,138,61,0.14)',&#10;                    justifyContent: 'center', alignItems: 'center',&#10;                }}&gt;&#10;                    &lt;Text style={{ fontSize: 19, fontWeight: 'bold', color: '#FF8A3D' }}&gt;3&lt;/Text&gt;&#10;                &lt;/Box&gt;&#10;                &lt;Text style={{ fontSize: 21, fontWeight: 'bold', color: '#0B2A6B' }}&gt;判断全凭经验&lt;/Text&gt;&#10;            &lt;/Box&gt;&#10;            &lt;Box style={{ flexDirection: 'row', alignItems: 'flex-end', gap: 8, marginBottom: 4 }}&gt;&#10;                &lt;Text style={{ fontSize: 64, fontWeight: 'bold', color: '#FF8A3D', lineHeight: 1.0 }}&gt;60&lt;/Text&gt;&#10;                &lt;Text style={{ fontSize: 22, fontWeight: 'bold', color: '#FF8A3D', marginBottom: 8 }}&gt;%&lt;/Text&gt;&#10;            &lt;/Box&gt;&#10;            &lt;Text style={{ fontSize: 14, color: '#5A6B8C', marginBottom: 16 }}&gt;的近 30 天差评没被回复（抽样）&lt;/Text&gt;&#10;            &lt;Text style={{ fontSize: 14, color: '#3A4A66', lineHeight: 1.75, flex: 1 }}&gt;&#10;                差评要不要回、怎么回、差评背后是哪类问题；团购定价该定多少、和隔壁哪家比；这月该做哪个活动、拉哪个客——全看店长个人经验。人一走，判断就断档，经验也没法沉淀成集团资产。&#10;            &lt;/Text&gt;&#10;            &lt;Box style={{&#10;                marginTop: 12, padding: '10px 14px',&#10;                background: 'rgba(255,138,61,0.10)',&#10;                borderLeft: '3px solid #FF8A3D', borderRadius: 4,&#10;            }}&gt;&#10;                &lt;Text style={{ fontSize: 13, color: '#B4560F', lineHeight: 1.6 }}&gt;&#10;                    后果：好经验留在个人脑子里，集团拿不走&#10;                &lt;/Text&gt;&#10;            &lt;/Box&gt;&#10;        &lt;/Box&gt;&#10;    &lt;/Box&gt;&#10;&#10;    {/* C 页脚条 */}&#10;    &lt;Box style={{&#10;        position: 'absolute', left: 64, right: 64, bottom: 22,&#10;        flexDirection: 'row', alignItems: 'center', justifyContent: 'space-between',&#10;    }}&gt;&#10;        &lt;Text style={{ fontSize: 13, color: '#8494B4' }}&gt;&#10;            美团电商眼科运营AI助手 · 爱尔眼科集团AI创新应用大赛&#10;        &lt;/Text&gt;&#10;        &lt;Text style={{ fontSize: 13, color: '#8494B4', fontFamily: 'Arial, sans-serif' }}&gt;02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 r:embed="rId1"/>
          <a:srcRect l="6954" t="0" r="6954" b="0"/>
          <a:stretch>
            <a:fillRect/>
          </a:stretch>
        </p:blipFill>
        <p:spPr>
          <a:xfrm rot="0" flipH="0" flipV="0">
            <a:off x="0" y="0"/>
            <a:ext cx="12192000" cy="1123950"/>
          </a:xfrm>
          <a:prstGeom prst="rect">
            <a:avLst/>
          </a:prstGeom>
          <a:ln/>
        </p:spPr>
      </p:pic>
      <p:sp>
        <p:nvSpPr>
          <p:cNvPr id="25" name=""/>
          <p:cNvSpPr/>
          <p:nvPr/>
        </p:nvSpPr>
        <p:spPr>
          <a:xfrm rot="0" flipH="0" flipV="0">
            <a:off x="0" y="0"/>
            <a:ext cx="12192000" cy="112395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60000">
                <a:srgbClr val="1B5FD9">
                  <a:alpha val="82000"/>
                </a:srgbClr>
              </a:gs>
              <a:gs pos="100000">
                <a:srgbClr val="1B5FD9">
                  <a:alpha val="5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609600" y="4000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门诊做美团，卡在三个地方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19150" y="7620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数据拿不到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内容做不快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决策靠经验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 r:embed="rId2">
            <a:alphaModFix amt="50000"/>
          </a:blip>
          <a:srcRect l="0" t="613" r="0" b="613"/>
          <a:stretch>
            <a:fillRect/>
          </a:stretch>
        </p:blipFill>
        <p:spPr>
          <a:xfrm rot="0" flipH="0" flipV="0">
            <a:off x="10325100" y="285750"/>
            <a:ext cx="1257300" cy="53340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09600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876300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09650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371600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数据散在门店里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6300" y="2171700"/>
            <a:ext cx="2981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28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家辽宁门诊的经营数据，总部拿不到横向对比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76300" y="3257550"/>
            <a:ext cx="2981325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美团「经营参谋」在每家门店的手机里，评分、曝光、转化、评价各自分散。要看全省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家门诊的经营评分，只能一家一家登录截图，再用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手工拼表——一个周期下来两三天，数据还没法实时。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904875" y="5162550"/>
            <a:ext cx="2981325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904875" y="5162550"/>
            <a:ext cx="2981325" cy="666750"/>
          </a:xfrm>
          <a:custGeom>
            <a:pathLst>
              <a:path w="313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38225" y="5257800"/>
            <a:ext cx="26860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后果：总部只能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事后看总分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，发现不了过程问题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333875" y="1428750"/>
            <a:ext cx="3524250" cy="47053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4333875" y="1428750"/>
            <a:ext cx="3524250" cy="4705350"/>
          </a:xfrm>
          <a:custGeom>
            <a:pathLst>
              <a:path w="370" h="494">
                <a:moveTo>
                  <a:pt x="357" y="0"/>
                </a:moveTo>
                <a:cubicBezTo>
                  <a:pt x="363" y="0"/>
                  <a:pt x="368" y="5"/>
                  <a:pt x="370" y="11"/>
                </a:cubicBezTo>
                <a:cubicBezTo>
                  <a:pt x="368" y="7"/>
                  <a:pt x="364" y="4"/>
                  <a:pt x="360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46005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7339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095875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内容产能跟不上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600575" y="2171700"/>
            <a:ext cx="381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057775" y="25717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FD9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600575" y="294322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写一条美团文案，还要配图、排版、凑满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600575" y="3257550"/>
            <a:ext cx="2990850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门诊没有专职设计，暑期档、开学季、活动期文案需求集中爆发。写文案、配图、查违禁词、调整主图，一轮下来两小时起。门店没有美术资源，集团统一的品牌视觉也落不了地。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629150" y="5162550"/>
            <a:ext cx="2990850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4629150" y="5162550"/>
            <a:ext cx="2990850" cy="666750"/>
          </a:xfrm>
          <a:custGeom>
            <a:pathLst>
              <a:path w="314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762500" y="5257800"/>
            <a:ext cx="26955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后果：活动期只能仓促发图，质量与合规都难保证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067675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8067675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83343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4677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829675" y="17240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判断全凭经验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334375" y="2171700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Microsoft YaHei"/>
                <a:ea typeface="Microsoft YaHei"/>
              </a:rPr>
              <a:t>60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163050" y="2571750"/>
            <a:ext cx="200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8A3D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334375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的近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天差评没被回复（抽样）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34375" y="3257550"/>
            <a:ext cx="2981325" cy="2028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差评要不要回、怎么回、差评背后是哪类问题；团购定价该定多少、和隔壁哪家比；这月该做哪个活动、拉哪个客——全看店长个人经验。人一走，判断就断档，经验也没法沉淀成集团资产。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8362950" y="5400675"/>
            <a:ext cx="2981325" cy="428625"/>
          </a:xfrm>
          <a:prstGeom prst="roundRect">
            <a:avLst>
              <a:gd name="adj" fmla="val 8889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8362950" y="5400675"/>
            <a:ext cx="2981325" cy="428625"/>
          </a:xfrm>
          <a:custGeom>
            <a:pathLst>
              <a:path w="313" h="4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4"/>
                </a:lnTo>
                <a:cubicBezTo>
                  <a:pt x="3" y="44"/>
                  <a:pt x="3" y="45"/>
                  <a:pt x="4" y="45"/>
                </a:cubicBezTo>
                <a:cubicBezTo>
                  <a:pt x="2" y="45"/>
                  <a:pt x="0" y="43"/>
                  <a:pt x="0" y="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496300" y="5495925"/>
            <a:ext cx="26860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后果：好经验留在个人脑子里，集团拿不走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201400" y="64960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7" name="" descr="&lt;Slide style={{&#10;    width: 1280, height: 720,&#10;    position: 'relative',&#10;    background: '#F2F6FD',&#10;    fontFamily: &quot;'Microsoft YaHei', '微软雅黑', sans-serif&quot;,&#10;    overflow: 'hidden',&#10;}}&gt;&#10;    {/* 顶部色带 */}&#10;    &lt;Box style={{&#10;        position: 'absolute', top: 0, left: 0, width: 1280, height: 96,&#10;        background: 'linear-gradient(90deg, #0B2A6B 0%, #1B5FD9 70%, #1B5FD9 100%)',&#10;    }} /&gt;&#10;    &lt;Box style={{&#10;        position: 'absolute', top: 0, right: 0, width: 420, height: 96,&#10;        background: 'linear-gradient(90deg, rgba(27,95,217,0) 0%, rgba(53,200,240,0.28) 100%)',&#10;    }} /&gt;&#10;&#10;    &lt;Box style={{ position: 'absolute', top: 24, left: 64, flexDirection: 'row', alignItems: 'center', gap: 16 }}&gt;&#10;        &lt;Box style={{ width: 6, height: 38, background: '#35C8F0', borderRadius: 3 }} /&gt;&#10;        &lt;Box&gt;&#10;            &lt;Text style={{ fontSize: 32, fontWeight: 'bold', color: '#FFFFFF', lineHeight: 1.2 }}&gt;&#10;                一个工作台，串起美团经营全链路&#10;            &lt;/Text&gt;&#10;            &lt;Text style={{ fontSize: 13, color: '#ADE8FF', marginTop: 4, letterSpacing: 1 }}&gt;&#10;                看数据 → 判问题 → 产内容 → 管评价 → 给建议&#10;            &lt;/Text&gt;&#10;        &lt;/Box&gt;&#10;    &lt;/Box&gt;&#10;&#10;    {/* B 内容区：左环形闭环 + 右五步链路 */}&#10;    &lt;Box style={{&#10;        position: 'absolute', top: 120, left: 64, right: 64, height: 520,&#10;        flexDirection: 'row', gap: 26,&#10;    }}&gt;&#10;        {/* 左：闭环示意 */}&#10;        &lt;Box style={{&#10;            width: 430,&#10;            background: 'linear-gradient(160deg, #0B2A6B 0%, #1B5FD9 100%)',&#10;            borderRadius: 16,&#10;            padding: 26,&#10;            flexDirection: 'column',&#10;            position: 'relative',&#10;            overflow: 'hidden',&#10;        }}&gt;&#10;            &lt;Text style={{ fontSize: 19, fontWeight: 'bold', color: '#FFFFFF', marginBottom: 4 }}&gt;&#10;                经营闭环&#10;            &lt;/Text&gt;&#10;            &lt;Text style={{ fontSize: 12, color: '#8FC4F8', marginBottom: 10, lineHeight: 1.5 }}&gt;&#10;                数据进来 → 结论出去 → 动作落地&#10;            &lt;/Text&gt;&#10;&#10;            &lt;Box style={{ alignItems: 'center', justifyContent: 'center', flex: 1, position: 'relative' }}&gt;&#10;                &lt;svg width={318} height={318} viewBox='0 0 318 318'&gt;&#10;                    {/* 外环 */}&#10;                    &lt;circle cx='159' cy='159' r='132' fill='none' stroke='rgba(53,200,240,0.30)' strokeWidth='2' strokeDasharray='7 9' /&gt;&#10;                    {/* 内环实线 */}&#10;                    &lt;circle cx='159' cy='159' r='92' fill='none' stroke='#35C8F0' strokeWidth='2.5' opacity='0.5' /&gt;&#10;&#10;                    {/* 五个节点 */}&#10;                    &lt;circle cx='159' cy='27' r='27' fill='#35C8F0' /&gt;&#10;                    &lt;text x='159' y='34' fontSize='17' fontWeight='bold' fill='#0B2A6B' textAnchor='middle' fontFamily='Microsoft YaHei'&gt;采集&lt;/text&gt;&#10;&#10;                    &lt;circle cx='281' cy='124' r='27' fill='#35C8F0' /&gt;&#10;                    &lt;text x='281' y='131' fontSize='17' fontWeight='bold' fill='#0B2A6B' textAnchor='middle' fontFamily='Microsoft YaHei'&gt;分析&lt;/text&gt;&#10;&#10;                    &lt;circle cx='222' cy='266' r='27' fill='#35C8F0' /&gt;&#10;                    &lt;text x='222' y='273' fontSize='17' fontWeight='bold' fill='#0B2A6B' textAnchor='middle' fontFamily='Microsoft YaHei'&gt;创作&lt;/text&gt;&#10;&#10;                    &lt;circle cx='96' cy='266' r='27' fill='#35C8F0' /&gt;&#10;                    &lt;text x='96' y='273' fontSize='17' fontWeight='bold' fill='#0B2A6B' textAnchor='middle' fontFamily='Microsoft YaHei'&gt;评价&lt;/text&gt;&#10;&#10;                    &lt;circle cx='37' cy='124' r='27' fill='#35C8F0' /&gt;&#10;                    &lt;text x='37' y='131' fontSize='17' fontWeight='bold' fill='#0B2A6B' textAnchor='middle' fontFamily='Microsoft YaHei'&gt;决策&lt;/text&gt;&#10;&#10;                    {/* 中心 */}&#10;                    &lt;text x='159' y='150' fontSize='26' fontWeight='bold' fill='#FFFFFF' textAnchor='middle' fontFamily='Microsoft YaHei'&gt;AI 助手&lt;/text&gt;&#10;                    &lt;text x='159' y='180' fontSize='13' fill='#ADE8FF' textAnchor='middle' fontFamily='Microsoft YaHei'&gt;10 个功能模块&lt;/text&gt;&#10;                &lt;/svg&gt;&#10;            &lt;/Box&gt;&#10;&#10;            &lt;Box style={{&#10;                flexDirection: 'row', alignItems: 'center', gap: 8,&#10;                background: 'rgba(255,255,255,0.10)',&#10;                borderRadius: 8, padding: '11px 14px',&#10;            }}&gt;&#10;                &lt;Box style={{ width: 7, height: 7, borderRadius: 4, background: '#35C8F0' }} /&gt;&#10;                &lt;Text style={{ fontSize: 12, color: '#D6E8FF', lineHeight: 1.5, flex: 1 }}&gt;&#10;                    全部数据来自门店真实经营参谋截图，分析结论可回溯到具体数字&#10;                &lt;/Text&gt;&#10;            &lt;/Box&gt;&#10;        &lt;/Box&gt;&#10;&#10;        {/* 右：五步链路 */}&#10;        &lt;Box style={{ flex: 1, flexDirection: 'column', gap: 12 }}&gt;&#10;            {[&#10;                { n: '01', t: '看数据', d: '经营驾驶舱汇总评分、漏斗、评价、星级四维视图', c: '#1B5FD9' },&#10;                { n: '02', t: '判问题', d: '竞品比价 + 项目结构分析，定位定价与品类缺口', c: '#1B5FD9' },&#10;                { n: '03', t: '产内容', d: '文案生成、套图生成、主图诊断、话术建议', c: '#35C8F0' },&#10;                { n: '04', t: '管评价', d: '差评智能分析 + 分级回复建议，不漏一条', c: '#35C8F0' },&#10;                { n: '05', t: '给建议', d: '五维运营诊断 + P0/P1 优先级行动项', c: '#FF8A3D' },&#10;            ].map((s, i) =&gt; (&#10;                &lt;Box key={s.n} style={{&#10;                    flex: 1,&#10;                    background: '#FFFFFF',&#10;                    borderRadius: 10,&#10;                    paddingLeft: 18, paddingRight: 18, paddingTop: 12, paddingBottom: 12,&#10;                    flexDirection: 'row', alignItems: 'center', gap: 16,&#10;                    borderLeft: `4px solid ${s.c}`,&#10;                    boxShadow: '0 3px 14px rgba(11,42,107,0.06)',&#10;                }}&gt;&#10;                    &lt;Text style={{ fontSize: 26, fontWeight: 'bold', color: s.c, fontFamily: 'Arial, sans-serif', width: 46 }}&gt;{s.n}&lt;/Text&gt;&#10;                    &lt;Box style={{ flex: 1 }}&gt;&#10;                        &lt;Text style={{ fontSize: 17, fontWeight: 'bold', color: '#0B2A6B', marginBottom: 3 }}&gt;{s.t}&lt;/Text&gt;&#10;                        &lt;Text style={{ fontSize: 13, color: '#5A6B8C', lineHeight: 1.55 }}&gt;{s.d}&lt;/Text&gt;&#10;                    &lt;/Box&gt;&#10;                    {i &lt; 4 ? (&#10;                        &lt;Box style={{ width: 0, height: 0, borderTop: '5px solid transparent', borderBottom: '5px solid transparent', borderLeft: '7px solid #B9CBE8' }} /&gt;&#10;                    ) : null}&#10;                &lt;/Box&gt;&#10;            ))}&#10;        &lt;/Box&gt;&#10;    &lt;/Box&gt;&#10;&#10;    {/* C 页脚条 */}&#10;    &lt;Box style={{&#10;        position: 'absolute', left: 64, right: 64, bottom: 20,&#10;        flexDirection: 'row', alignItems: 'center', justifyContent: 'space-between',&#10;    }}&gt;&#10;        &lt;Text style={{ fontSize: 13, color: '#8494B4' }}&gt;美团电商眼科运营AI助手 · 爱尔眼科集团AI创新应用大赛&lt;/Text&gt;&#10;        &lt;Text style={{ fontSize: 13, color: '#8494B4', fontFamily: 'Arial, sans-serif' }}&gt;03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0B2A6B"/>
              </a:gs>
              <a:gs pos="70000">
                <a:srgbClr val="1B5FD9"/>
              </a:gs>
              <a:gs pos="100000">
                <a:srgbClr val="1B5FD9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191500" y="0"/>
            <a:ext cx="4000500" cy="914400"/>
          </a:xfrm>
          <a:prstGeom prst="rect">
            <a:avLst/>
          </a:prstGeom>
          <a:gradFill>
            <a:gsLst>
              <a:gs pos="0">
                <a:srgbClr val="1B5FD9">
                  <a:alpha val="0"/>
                </a:srgbClr>
              </a:gs>
              <a:gs pos="100000">
                <a:srgbClr val="35C8F0">
                  <a:alpha val="2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一个工作台，串起美团经营全链路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看数据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判问题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产内容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管评价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991100" y="114300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4991100" y="114300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162550" y="1438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753100" y="136207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看数据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53100" y="159067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经营驾驶舱汇总评分、漏斗、评价、星级四维视图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4991100" y="2152650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4991100" y="2152650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162550" y="24574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53100" y="237172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判问题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53100" y="260032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竞品比价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项目结构分析，定位定价与品类缺口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4991100" y="3171825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4991100" y="3171825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162550" y="34671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753100" y="339090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产内容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753100" y="361950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文案生成、套图生成、主图诊断、话术建议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4991100" y="4181475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4991100" y="4181475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162550" y="4486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53100" y="440055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管评价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53100" y="462915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差评智能分析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分级回复建议，不漏一条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4991100" y="520065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4991100" y="520065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162550" y="54959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8A3D"/>
                </a:solidFill>
                <a:latin typeface="Arial"/>
                <a:ea typeface="Arial"/>
              </a:rPr>
              <a:t>05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753100" y="5419725"/>
            <a:ext cx="5657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53100" y="5648325"/>
            <a:ext cx="56578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五维运营诊断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P0/P1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优先级行动项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09600" y="1143000"/>
            <a:ext cx="4095750" cy="4953000"/>
          </a:xfrm>
          <a:prstGeom prst="roundRect">
            <a:avLst>
              <a:gd name="adj" fmla="val 3721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3600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经营闭环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57250" y="164782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数据进来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结论出去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动作落地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57250" y="5219700"/>
            <a:ext cx="360045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990600" y="550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33475" y="5324475"/>
            <a:ext cx="31908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全部数据来自门店真实经营参谋截图，分析结论可回溯到具体数字</a:t>
            </a:r>
            <a:endParaRPr/>
          </a:p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43000" y="2076450"/>
            <a:ext cx="3028950" cy="302895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0" name="" descr="&lt;Slide style={{&#10;    width: 1280, height: 720,&#10;    position: 'relative',&#10;    background: '#0B2A6B',&#10;    fontFamily: &quot;'Microsoft YaHei', '微软雅黑', sans-serif&quot;,&#10;    overflow: 'hidden',&#10;}}&gt;&#10;    {/* 背景装饰网格 */}&#10;    &lt;Box style={{&#10;        position: 'absolute', top: 0, right: 0, width: 520, height: 720,&#10;        background: 'linear-gradient(200deg, rgba(53,200,240,0.16) 0%, rgba(53,200,240,0) 60%)',&#10;    }} /&gt;&#10;&#10;    {/* A 标题块 */}&#10;    &lt;Box style={{ position: 'absolute', top: 30, left: 64, flexDirection: 'row', alignItems: 'center', gap: 16 }}&gt;&#10;        &lt;Box style={{ width: 6, height: 38, background: '#35C8F0', borderRadius: 3 }} /&gt;&#10;        &lt;Box&gt;&#10;            &lt;Text style={{ fontSize: 32, fontWeight: 'bold', color: '#FFFFFF', lineHeight: 1.2 }}&gt;技术架构：轻量、可控、不中断&lt;/Text&gt;&#10;            &lt;Text style={{ fontSize: 13, color: '#8FC4F8', marginTop: 4, letterSpacing: 1 }}&gt;单文件前端 + 轻量后端 + 国产大模型&lt;/Text&gt;&#10;        &lt;/Box&gt;&#10;    &lt;/Box&gt;&#10;    &lt;Image src=&quot;assets/logo_2026.png&quot; style={{&#10;        position: 'absolute', top: 32, right: 64,&#10;        width: 128, height: 54, objectFit: 'contain', opacity: 0.4,&#10;    }} /&gt;&#10;&#10;    {/* B 内容区：三层堆叠 */}&#10;    &lt;Box style={{&#10;        position: 'absolute', top: 122, left: 64, right: 64, height: 486,&#10;        flexDirection: 'column', gap: 12,&#10;    }}&gt;&#10;        {/* L1 用户层 */}&#10;        &lt;Box style={{&#10;            flex: 1,&#10;            background: 'rgba(255,255,255,0.07)',&#10;            borderRadius: 12,&#10;            borderLeft: '4px solid #35C8F0',&#10;            paddingLeft: 24, paddingRight: 24, paddingTop: 16, paddingBottom: 16,&#10;            flexDirection: 'row', alignItems: 'center', gap: 22,&#10;        }}&gt;&#10;            &lt;Box style={{ width: 92 }}&gt;&#10;                &lt;Text style={{ fontSize: 12, color: '#8FC4F8', letterSpacing: 1, marginBottom: 4 }}&gt;接入层&lt;/Text&gt;&#10;                &lt;Text style={{ fontSize: 20, fontWeight: 'bold', color: '#FFFFFF' }}&gt;门店用户&lt;/Text&gt;&#10;            &lt;/Box&gt;&#10;            &lt;Box style={{ flex: 1, flexDirection: 'row', gap: 10 }}&gt;&#10;                {['经营驾驶舱', '门诊采集', '竞品分析', '文案生成', '套图生成', '主图诊断', '文案优化', '评价管理', '运营诊断', '话术建议'].map((m, i) =&gt; (&#10;                    &lt;Box key={m} style={{&#10;                        background: i % 3 === 0 ? '#35C8F0' : 'rgba(255,255,255,0.14)',&#10;                        borderRadius: 6, padding: '9px 7px',&#10;                        alignItems: 'center', justifyContent: 'center',&#10;                    }}&gt;&#10;                        &lt;Text style={{&#10;                            fontSize: 12,&#10;                            color: i % 3 === 0 ? '#0B2A6B' : '#D6E8FF',&#10;                            fontWeight: i % 3 === 0 ? 'bold' : 'normal',&#10;                            textAlign: 'center', lineHeight: 1.3,&#10;                        }}&gt;{m}&lt;/Text&gt;&#10;                    &lt;/Box&gt;&#10;                ))}&#10;            &lt;/Box&gt;&#10;        &lt;/Box&gt;&#10;&#10;        {/* L2 应用层 */}&#10;        &lt;Box style={{&#10;            flex: 1,&#10;            background: 'rgba(255,255,255,0.07)',&#10;            borderRadius: 12,&#10;            borderLeft: '4px solid #35C8F0',&#10;            paddingLeft: 24, paddingRight: 24, paddingTop: 16, paddingBottom: 16,&#10;            flexDirection: 'row', alignItems: 'center', gap: 22,&#10;        }}&gt;&#10;            &lt;Box style={{ width: 92 }}&gt;&#10;                &lt;Text style={{ fontSize: 12, color: '#8FC4F8', letterSpacing: 1, marginBottom: 4 }}&gt;应用层&lt;/Text&gt;&#10;                &lt;Text style={{ fontSize: 20, fontWeight: 'bold', color: '#FFFFFF' }}&gt;单文件 SPA&lt;/Text&gt;&#10;            &lt;/Box&gt;&#10;            &lt;Box style={{ flex: 1, flexDirection: 'row', gap: 12 }}&gt;&#10;                &lt;Box style={{&#10;                    flex: 1, background: 'rgba(53,200,240,0.16)',&#10;                    borderRadius: 8, padding: 14,&#10;                    border: '1px solid rgba(53,200,240,0.35)',&#10;                }}&gt;&#10;                    &lt;Text style={{ fontSize: 15, fontWeight: 'bold', color: '#ADE8FF', marginBottom: 6 }}&gt;前端 meituan-agent.html&lt;/Text&gt;&#10;                    &lt;Text style={{ fontSize: 12, color: '#B8D6F5', lineHeight: 1.6 }}&gt;&#10;                        单文件 HTML + 原生 JS，零框架依赖，10 个功能页面 + 移动端自适应（414px 视口可直接拍照上传）&#10;                    &lt;/Text&gt;&#10;                &lt;/Box&gt;&#10;                &lt;Box style={{&#10;                    flex: 1, background: 'rgba(53,200,240,0.16)',&#10;                    borderRadius: 8, padding: 14,&#10;                    border: '1px solid rgba(53,200,240,0.35)',&#10;                }}&gt;&#10;                    &lt;Text style={{ fontSize: 15, fontWeight: 'bold', color: '#ADE8FF', marginBottom: 6 }}&gt;后端 server.js&lt;/Text&gt;&#10;                    &lt;Text style={{ fontSize: 12, color: '#B8D6F5', lineHeight: 1.6 }}&gt;&#10;                        Node.js + Express，8 个业务 API 端点，负责模型编排、数据清洗与降级兜底&#10;                    &lt;/Text&gt;&#10;                &lt;/Box&gt;&#10;            &lt;/Box&gt;&#10;        &lt;/Box&gt;&#10;&#10;        {/* L3 模型层 */}&#10;        &lt;Box style={{&#10;            flex: 1,&#10;            background: 'linear-gradient(90deg, rgba(53,200,240,0.24) 0%, rgba(53,200,240,0.10) 100%)',&#10;            borderRadius: 12,&#10;            borderLeft: '4px solid #FF8A3D',&#10;            paddingLeft: 24, paddingRight: 24, paddingTop: 16, paddingBottom: 16,&#10;            flexDirection: 'row', alignItems: 'center', gap: 22,&#10;        }}&gt;&#10;            &lt;Box style={{ width: 92 }}&gt;&#10;                &lt;Text style={{ fontSize: 12, color: '#8FC4F8', letterSpacing: 1, marginBottom: 4 }}&gt;模型层&lt;/Text&gt;&#10;                &lt;Text style={{ fontSize: 20, fontWeight: 'bold', color: '#FFFFFF' }}&gt;火山引擎&lt;/Text&gt;&#10;            &lt;/Box&gt;&#10;            &lt;Box style={{ flex: 1, flexDirection: 'row', gap: 12 }}&gt;&#10;                &lt;Box style={{ flex: 1, background: 'rgba(11,42,107,0.45)', borderRadius: 8, padding: 14 }}&gt;&#10;                    &lt;Box style={{ flexDirection: 'row', alignItems: 'center', gap: 8, marginBottom: 6 }}&gt;&#10;                        &lt;Box style={{ width: 7, height: 7, borderRadius: 4, background: '#35C8F0' }} /&gt;&#10;                        &lt;Text style={{ fontSize: 15, fontWeight: 'bold', color: '#FFFFFF' }}&gt;Seedream 图像生成&lt;/Text&gt;&#10;                    &lt;/Box&gt;&#10;                    &lt;Text style={{ fontSize: 12, color: '#B8D6F5', lineHeight: 1.6 }}&gt;&#10;                        套图批量生成 · 主图质量诊断 · 门店实景素材，2028×2028 出图已实测可用&#10;                    &lt;/Text&gt;&#10;                &lt;/Box&gt;&#10;                &lt;Box style={{ flex: 1, background: 'rgba(11,42,107,0.45)', borderRadius: 8, padding: 14 }}&gt;&#10;                    &lt;Box style={{ flexDirection: 'row', alignItems: 'center', gap: 8, marginBottom: 6 }}&gt;&#10;                        &lt;Box style={{ width: 7, height: 7, borderRadius: 4, background: '#FF8A3D' }} /&gt;&#10;                        &lt;Text style={{ fontSize: 15, fontWeight: 'bold', color: '#FFFFFF' }}&gt;豆包视觉模型 OCR&lt;/Text&gt;&#10;                    &lt;/Box&gt;&#10;                    &lt;Text style={{ fontSize: 12, color: '#B8D6F5', lineHeight: 1.6 }}&gt;&#10;                        经营参谋截图识别 · 5 个端点自动探测降级 · 权限开通即启用&#10;                    &lt;/Text&gt;&#10;                &lt;/Box&gt;&#10;            &lt;/Box&gt;&#10;        &lt;/Box&gt;&#10;    &lt;/Box&gt;&#10;&#10;    {/* C 页脚条 */}&#10;    &lt;Box style={{&#10;        position: 'absolute', left: 64, right: 64, bottom: 20,&#10;        flexDirection: 'row', alignItems: 'center', justifyContent: 'space-between',&#10;    }}&gt;&#10;        &lt;Text style={{ fontSize: 13, color: '#6E93C8' }}&gt;美团电商眼科运营AI助手 · 爱尔眼科集团AI创新应用大赛&lt;/Text&gt;&#10;        &lt;Text style={{ fontSize: 13, color: '#6E93C8', fontFamily: 'Arial, sans-serif' }}&gt;04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gradFill>
            <a:gsLst>
              <a:gs pos="0">
                <a:srgbClr val="35C8F0">
                  <a:alpha val="16000"/>
                </a:srgbClr>
              </a:gs>
              <a:gs pos="60000">
                <a:srgbClr val="35C8F0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技术架构：轻量、可控、不中断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单文件前端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轻量后端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国产大模型</a:t>
            </a:r>
            <a:endParaRPr/>
          </a:p>
        </p:txBody>
      </p:sp>
      <p:pic>
        <p:nvPicPr>
          <p:cNvPr id="126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" r="0" b="889"/>
          <a:stretch>
            <a:fillRect/>
          </a:stretch>
        </p:blipFill>
        <p:spPr>
          <a:xfrm rot="0" flipH="0" flipV="0">
            <a:off x="10363200" y="304800"/>
            <a:ext cx="1219200" cy="514350"/>
          </a:xfrm>
          <a:prstGeom prst="rect">
            <a:avLst/>
          </a:prstGeom>
          <a:ln/>
        </p:spPr>
      </p:pic>
      <p:sp>
        <p:nvSpPr>
          <p:cNvPr id="127" name=""/>
          <p:cNvSpPr/>
          <p:nvPr/>
        </p:nvSpPr>
        <p:spPr>
          <a:xfrm rot="0" flipH="0" flipV="0">
            <a:off x="647700" y="1162050"/>
            <a:ext cx="10972800" cy="1181100"/>
          </a:xfrm>
          <a:prstGeom prst="roundRect">
            <a:avLst>
              <a:gd name="adj" fmla="val 967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47700" y="1162050"/>
            <a:ext cx="10972800" cy="1181100"/>
          </a:xfrm>
          <a:custGeom>
            <a:pathLst>
              <a:path w="1152" h="12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6"/>
                </a:lnTo>
                <a:cubicBezTo>
                  <a:pt x="4" y="120"/>
                  <a:pt x="7" y="123"/>
                  <a:pt x="10" y="124"/>
                </a:cubicBezTo>
                <a:cubicBezTo>
                  <a:pt x="4" y="123"/>
                  <a:pt x="0" y="118"/>
                  <a:pt x="0" y="11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76300" y="15525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76300" y="17335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门店用户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1962150" y="1581150"/>
            <a:ext cx="7048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028825" y="1666875"/>
            <a:ext cx="5715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2762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2828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448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514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133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200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4819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886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55054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5721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191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57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877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943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562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629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8248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315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47700" y="2457450"/>
            <a:ext cx="10972800" cy="1724025"/>
          </a:xfrm>
          <a:prstGeom prst="roundRect">
            <a:avLst>
              <a:gd name="adj" fmla="val 663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647700" y="2457450"/>
            <a:ext cx="10972800" cy="1724025"/>
          </a:xfrm>
          <a:custGeom>
            <a:pathLst>
              <a:path w="1152" h="18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73"/>
                </a:lnTo>
                <a:cubicBezTo>
                  <a:pt x="4" y="177"/>
                  <a:pt x="7" y="180"/>
                  <a:pt x="10" y="181"/>
                </a:cubicBezTo>
                <a:cubicBezTo>
                  <a:pt x="4" y="180"/>
                  <a:pt x="0" y="175"/>
                  <a:pt x="0" y="16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76300" y="30003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876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单文件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SPA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1962150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095500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前端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meituan-agent.html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2095500" y="3209925"/>
            <a:ext cx="43719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单文件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HTML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原生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JS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，零框架依赖，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个功能页面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移动端自适应（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视口可直接拍照上传）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715125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848475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后端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server.js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48475" y="3209925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>Node.js + Express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个业务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端点，负责模型编排、数据清洗与降级兜底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47700" y="4295775"/>
            <a:ext cx="10972800" cy="1495425"/>
          </a:xfrm>
          <a:prstGeom prst="roundRect">
            <a:avLst>
              <a:gd name="adj" fmla="val 7643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47700" y="4295775"/>
            <a:ext cx="10972800" cy="1495425"/>
          </a:xfrm>
          <a:custGeom>
            <a:pathLst>
              <a:path w="1152" h="15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9"/>
                </a:lnTo>
                <a:cubicBezTo>
                  <a:pt x="4" y="153"/>
                  <a:pt x="7" y="156"/>
                  <a:pt x="10" y="157"/>
                </a:cubicBezTo>
                <a:cubicBezTo>
                  <a:pt x="4" y="156"/>
                  <a:pt x="0" y="151"/>
                  <a:pt x="0" y="14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76300" y="48387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76300" y="5019675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火山引擎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1962150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2095500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2238375" y="481965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图像生成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095500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套图批量生成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主图质量诊断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门店实景素材，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2028×2028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出图已实测可用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715125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848475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991350" y="48196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豆包视觉模型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OCR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48475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经营参谋截图识别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个端点自动探测降级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权限开通即启用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93C8"/>
                </a:solidFill>
                <a:latin typeface="Arial"/>
                <a:ea typeface="Arial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5" name="" descr="&lt;Slide style={{&#10;    width: 1280, height: 720,&#10;    position: 'relative',&#10;    background: '#F2F6FD',&#10;    fontFamily: &quot;'Microsoft YaHei', '微软雅黑', sans-serif&quot;,&#10;    overflow: 'hidden',&#10;}}&gt;&#10;    {/* 顶部斜切色带 */}&#10;    &lt;Image src=&quot;assets/bg_bar.jpg&quot; style={{&#10;        position: 'absolute', top: 0, left: 0, width: 1280, height: 104, objectFit: 'cover',&#10;    }} /&gt;&#10;    &lt;Box style={{&#10;        position: 'absolute', top: 0, left: 0, width: 1280, height: 104,&#10;        background: 'linear-gradient(90deg, rgba(11,42,107,0.95) 0%, rgba(27,95,217,0.85) 55%, rgba(27,95,217,0.60) 100%)',&#10;    }} /&gt;&#10;&#10;    &lt;Box style={{ position: 'absolute', top: 24, left: 64, flexDirection: 'row', alignItems: 'center', gap: 16 }}&gt;&#10;        &lt;Box style={{ width: 6, height: 38, background: '#35C8F0', borderRadius: 3 }} /&gt;&#10;        &lt;Box&gt;&#10;            &lt;Text style={{ fontSize: 32, fontWeight: 'bold', color: '#FFFFFF', lineHeight: 1.2 }}&gt;五个场景，全部对齐集团需求规格&lt;/Text&gt;&#10;            &lt;Text style={{ fontSize: 13, color: '#ADE8FF', marginTop: 4, letterSpacing: 1 }}&gt;&#10;                《爱尔小龙虾美团商家版需求规格说明书 v1.0》REQ-01 ~ REQ-05&#10;            &lt;/Text&gt;&#10;        &lt;/Box&gt;&#10;    &lt;/Box&gt;&#10;    &lt;Image src=&quot;assets/logo_2026.png&quot; style={{&#10;        position: 'absolute', top: 26, right: 64,&#10;        width: 128, height: 54, objectFit: 'contain', opacity: 0.42,&#10;    }} /&gt;&#10;&#10;    {/* B 内容区：5 张场景卡 */}&#10;    &lt;Box style={{&#10;        position: 'absolute', top: 128, left: 64, right: 64, height: 508,&#10;        flexDirection: 'row', gap: 13,&#10;    }}&gt;&#10;        {[&#10;            {&#10;                req: 'REQ-01', t: '经营数据采集与驾驶舱', n: '10',&#10;                d: '经营参谋截图 / API / 页面操作三种方式采集，统一汇总至集团后台，形成 4 维经营驾驶舱',&#10;                m: '经营驾驶舱、门诊采集',&#10;                k: ['7 个界面分图上传指引', '门店 / 周期 / 数据类型三维筛选', '经营评分 · 漏斗 · 评价 · 星级'],&#10;                c: '#1B5FD9',&#10;            },&#10;            {&#10;                req: 'REQ-02', t: '项目智能分析与竞争定价', n: '8',&#10;                d: '综合竞品门店评分、销量、价格带，判断项目卖得好不好、定价合不合理，识别价格缺口',&#10;                m: '竞品分析、运营诊断',&#10;                k: ['竞品门店横向对比', '价格带缺口识别', '高销量 / 低销量双向预警'],&#10;                c: '#1B5FD9',&#10;            },&#10;            {&#10;                req: 'REQ-03', t: '图片与营销素材智能生成', n: '5',&#10;                d: '总部按月提供品牌视觉模板，门店一键生成符合集团视觉规范的文案、套图与主图',&#10;                m: '文案生成、套图生成、主图诊断',&#10;                k: ['总部模板机制下发', 'Seedream 批量出图', '主图构图与合规诊断'],&#10;                c: '#35C8F0',&#10;            },&#10;            {&#10;                req: 'REQ-04', t: '差评智能分析与回复', n: '4',&#10;                d: '支持文本粘贴与差评截图输入，OCR 提取内容后自动分类并生成分层回复建议',&#10;                m: '评价管理、文案优化',&#10;                k: ['差评自动分类归因', '分层回复话术建议', '文案润色与合规检查'],&#10;                c: '#35C8F0',&#10;            },&#10;            {&#10;                req: 'REQ-05', t: '流量活动与促销智能决策', n: '2',&#10;                d: '持续监测经营指标，识别异常波动，主动输出运营策略与活动建议',&#10;                m: '话术建议',&#10;                k: ['经营指标异常识别', '分场景转化话术', '活动与促销策略建议'],&#10;                c: '#FF8A3D',&#10;            },&#10;        ].map((s, idx) =&gt; (&#10;            &lt;Box key={s.req} style={{&#10;                flex: 1,&#10;                background: '#FFFFFF',&#10;                borderRadius: 12,&#10;                padding: 20, paddingTop: 18,&#10;                flexDirection: 'column',&#10;                boxShadow: '0 5px 20px rgba(11,42,107,0.09)',&#10;                borderTop: `4px solid ${s.c}`,&#10;            }}&gt;&#10;                &lt;Box style={{&#10;                    alignSelf: 'flex-start',&#10;                    background: s.c,&#10;                    borderRadius: 5, padding: '4px 9px',&#10;                    marginBottom: 14,&#10;                }}&gt;&#10;                    &lt;Text style={{ fontSize: 12, fontWeight: 'bold', color: '#FFFFFF', fontFamily: 'Arial, sans-serif' }}&gt;{s.req}&lt;/Text&gt;&#10;                &lt;/Box&gt;&#10;&#10;                &lt;Text style={{ fontSize: 18, fontWeight: 'bold', color: '#0B2A6B', lineHeight: 1.35, marginBottom: 12, minHeight: 48 }}&gt;&#10;                    {s.t.replace('\n', '')}&#10;                &lt;/Text&gt;&#10;&#10;                &lt;Text style={{ fontSize: 12.5, color: '#5A6B8C', lineHeight: 1.65, marginBottom: 12 }}&gt;&#10;                    {s.d}&#10;                &lt;/Text&gt;&#10;&#10;                {/* 关键能力点 */}&#10;                &lt;Box style={{ flex: 1, flexDirection: 'column', gap: 7, marginBottom: 12 }}&gt;&#10;                    {s.k.map((item, ki) =&gt; (&#10;                        &lt;Box key={ki} style={{ flexDirection: 'row', alignItems: 'flex-start', gap: 7 }}&gt;&#10;                            &lt;Box style={{&#10;                                width: 5, height: 5, borderRadius: 3,&#10;                                background: s.c, marginTop: 7,&#10;                            }} /&gt;&#10;                            &lt;Text style={{ fontSize: 11.5, color: '#3A4A66', lineHeight: 1.5, flex: 1 }}&gt;{item}&lt;/Text&gt;&#10;                        &lt;/Box&gt;&#10;                    ))}&#10;                &lt;/Box&gt;&#10;&#10;                &lt;Box style={{&#10;                    background: idx === 4 ? 'rgba(255,138,61,0.10)' : 'rgba(27,95,217,0.07)',&#10;                    borderRadius: 7, padding: '10px 12px',&#10;                }}&gt;&#10;                    &lt;Text style={{ fontSize: 11, color: idx === 4 ? '#B4560F' : '#5A6B8C', marginBottom: 6, letterSpacing: 1 }}&gt;对应模块&lt;/Text&gt;&#10;                    &lt;Text style={{ fontSize: 12.5, fontWeight: 'bold', color: idx === 4 ? '#D96B15' : '#1B5FD9', lineHeight: 1.5 }}&gt;&#10;                        {s.m}&#10;                    &lt;/Text&gt;&#10;                &lt;/Box&gt;&#10;            &lt;/Box&gt;&#10;        ))}&#10;    &lt;/Box&gt;&#10;&#10;    {/* C 页脚条 */}&#10;    &lt;Box style={{&#10;        position: 'absolute', left: 64, right: 64, bottom: 20,&#10;        flexDirection: 'row', alignItems: 'center', justifyContent: 'space-between',&#10;    }}&gt;&#10;        &lt;Text style={{ fontSize: 13, color: '#8494B4' }}&gt;美团电商眼科运营AI助手 · 爱尔眼科集团AI创新应用大赛&lt;/Text&gt;&#10;        &lt;Text style={{ fontSize: 13, color: '#8494B4', fontFamily: 'Arial, sans-serif' }}&gt;0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 r:embed="rId1"/>
          <a:srcRect l="1159" t="0" r="1159" b="0"/>
          <a:stretch>
            <a:fillRect/>
          </a:stretch>
        </p:blipFill>
        <p:spPr>
          <a:xfrm rot="0" flipH="0" flipV="0">
            <a:off x="0" y="0"/>
            <a:ext cx="12192000" cy="990600"/>
          </a:xfrm>
          <a:prstGeom prst="rect">
            <a:avLst/>
          </a:prstGeom>
          <a:ln/>
        </p:spPr>
      </p:pic>
      <p:sp>
        <p:nvSpPr>
          <p:cNvPr id="178" name=""/>
          <p:cNvSpPr/>
          <p:nvPr/>
        </p:nvSpPr>
        <p:spPr>
          <a:xfrm rot="0" flipH="0" flipV="0">
            <a:off x="0" y="0"/>
            <a:ext cx="12192000" cy="990600"/>
          </a:xfrm>
          <a:prstGeom prst="rect">
            <a:avLst/>
          </a:prstGeom>
          <a:gradFill>
            <a:gsLst>
              <a:gs pos="0">
                <a:srgbClr val="0B2A6B">
                  <a:alpha val="95000"/>
                </a:srgbClr>
              </a:gs>
              <a:gs pos="55000">
                <a:srgbClr val="1B5FD9">
                  <a:alpha val="85000"/>
                </a:srgbClr>
              </a:gs>
              <a:gs pos="100000">
                <a:srgbClr val="1B5FD9">
                  <a:alpha val="6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五个场景，全部对齐集团需求规格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《爱尔小龙虾美团商家版需求规格说明书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v1.0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》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>REQ-01 ~ REQ-05</a:t>
            </a:r>
            <a:endParaRPr/>
          </a:p>
        </p:txBody>
      </p:sp>
      <p:pic>
        <p:nvPicPr>
          <p:cNvPr id="182" name="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889" r="0" b="889"/>
          <a:stretch>
            <a:fillRect/>
          </a:stretch>
        </p:blipFill>
        <p:spPr>
          <a:xfrm rot="0" flipH="0" flipV="0">
            <a:off x="10363200" y="247650"/>
            <a:ext cx="1219200" cy="514350"/>
          </a:xfrm>
          <a:prstGeom prst="rect">
            <a:avLst/>
          </a:prstGeom>
          <a:ln/>
        </p:spPr>
      </p:pic>
      <p:sp>
        <p:nvSpPr>
          <p:cNvPr id="183" name=""/>
          <p:cNvSpPr/>
          <p:nvPr/>
        </p:nvSpPr>
        <p:spPr>
          <a:xfrm rot="0" flipH="0" flipV="0">
            <a:off x="6096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6096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8001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858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经营数据采集与驾驶舱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经营参谋截图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/ API /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页面操作三种方式采集，统一汇总至集团后台，形成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维经营驾驶舱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00100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14400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个界面分图上传指引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00100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门店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周期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数据类型三维筛选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00100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914400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经营评分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漏斗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评价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星级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8001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144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144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经营驾驶舱、门诊采集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282892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282892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301942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310515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019425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项目智能分析与竞争定价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019425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综合竞品门店评分、销量、价格带，判断项目卖得好不好、定价合不合理，识别价格缺口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019425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133725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竞品门店横向对比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019425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133725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价格带缺口识别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019425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133725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高销量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低销量双向预警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301942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13372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13372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竞品分析、运营诊断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04825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504825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523875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32447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23875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图片与营销素材智能生成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23875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总部按月提供品牌视觉模板，门店一键生成符合集团视觉规范的文案、套图与主图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23875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35305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总部模板机制下发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23875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35305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批量出图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23875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35305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主图构图与合规诊断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238750" y="5057775"/>
            <a:ext cx="1714500" cy="809625"/>
          </a:xfrm>
          <a:prstGeom prst="roundRect">
            <a:avLst>
              <a:gd name="adj" fmla="val 8235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353050" y="515302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353050" y="5343525"/>
            <a:ext cx="14859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文案生成、套图生成、主图诊断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726757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726757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745807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54380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458075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458075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支持文本粘贴与差评截图输入，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提取内容后自动分类并生成分层回复建议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7458075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572375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差评自动分类归因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7458075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572375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分层回复话术建议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458075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572375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文案润色与合规检查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745807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57237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57237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评价管理、文案优化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94869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94869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96774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7631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67740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流量活动与促销智能决策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67740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持续监测经营指标，识别异常波动，主动输出运营策略与活动建议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967740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79170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经营指标异常识别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967740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79170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分场景转化话术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967740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79170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活动与促销策略建议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96774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7917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B4560F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7917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D96B15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2026-10-23T13:25:14Z</dcterms:created>
  <dcterms:modified xsi:type="dcterms:W3CDTF">2026-10-23T13:25:14Z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{"AIGC":{"Label":"1","ContentProducer":"00119111010856365494821B355","ProduceID":"01a166b347847c1489eb69cb1df52c72","ReservedCode1":"","ContentPropagator":"00119111010856365494821B355","PropagateID":"01a166b347847c1489eb69cb1df52c72","ReservedCode2":""}}</vt:lpwstr>
  </property>
</Properties>
</file>