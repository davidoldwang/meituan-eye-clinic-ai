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1" Type="http://schemas.openxmlformats.org/officeDocument/2006/relationships/image" Target="media/image11.jpg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4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17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Relationship Id="rId2" Type="http://schemas.openxmlformats.org/officeDocument/2006/relationships/image" Target="media/image16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20.png" /><Relationship Id="rId1" Type="http://schemas.openxmlformats.org/officeDocument/2006/relationships/image" Target="media/image15.png" /><Relationship Id="rId2" Type="http://schemas.openxmlformats.org/officeDocument/2006/relationships/image" Target="media/image18.png" /><Relationship Id="rId3" Type="http://schemas.openxmlformats.org/officeDocument/2006/relationships/image" Target="media/image19.png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22.png" /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jpg" /><Relationship Id="rId2" Type="http://schemas.openxmlformats.org/officeDocument/2006/relationships/image" Target="media/image9.png" /><Relationship Id="rId3" Type="http://schemas.openxmlformats.org/officeDocument/2006/relationships/image" Target="media/image10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3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324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328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29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4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426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6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477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482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52482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家门店的家底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524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四维联动</a:t>
            </a:r>
            <a:endParaRPr/>
          </a:p>
        </p:txBody>
      </p:sp>
      <p:pic>
        <p:nvPicPr>
          <p:cNvPr id="564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565" name=""/>
          <p:cNvSpPr/>
          <p:nvPr/>
        </p:nvSpPr>
        <p:spPr>
          <a:xfrm rot="0" flipH="0" flipV="0"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66" name=""/>
          <p:cNvPicPr>
            <a:picLocks noChangeAspect="1"/>
          </p:cNvPicPr>
          <p:nvPr/>
        </p:nvPicPr>
        <p:blipFill>
          <a:blip r:embed="rId2"/>
          <a:srcRect l="6952" t="0" r="6952" b="0"/>
          <a:stretch>
            <a:fillRect/>
          </a:stretch>
        </p:blipFill>
        <p:spPr>
          <a:xfrm rot="0" flipH="0" flipV="0">
            <a:off x="628650" y="1219200"/>
            <a:ext cx="6534150" cy="4743450"/>
          </a:xfrm>
          <a:prstGeom prst="roundRect">
            <a:avLst>
              <a:gd name="adj" fmla="val 1606"/>
            </a:avLst>
          </a:prstGeom>
          <a:ln/>
        </p:spPr>
      </p:pic>
      <p:sp>
        <p:nvSpPr>
          <p:cNvPr id="567" name=""/>
          <p:cNvSpPr/>
          <p:nvPr/>
        </p:nvSpPr>
        <p:spPr>
          <a:xfrm rot="0" flipH="0" flipV="0"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620000" y="12954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全部门店平均总分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620000" y="1476375"/>
            <a:ext cx="11525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/>
                <a:ea typeface="Arial"/>
              </a:rPr>
              <a:t>62.9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848725" y="1866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620000" y="224790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8306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581900" y="28289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0953750" y="282892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/>
                <a:ea typeface="Arial"/>
              </a:rPr>
              <a:t>16.6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334750" y="28289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581900" y="32099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97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049000" y="3648075"/>
            <a:ext cx="25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7.3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1334750" y="36480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581900" y="40290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581900" y="44672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商品货架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096625" y="44672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19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334750" y="44672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581900" y="48482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581900" y="52863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交易表现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953750" y="528637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/>
                <a:ea typeface="Arial"/>
              </a:rPr>
              <a:t>18.1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1334750" y="52863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581900" y="56673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65341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美团经营参谋真实数据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201400" y="6534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8387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张截图，替代一张手填表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按界面分图上传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AI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识别提取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生成诊断报告</a:t>
            </a:r>
            <a:endParaRPr/>
          </a:p>
        </p:txBody>
      </p:sp>
      <p:pic>
        <p:nvPicPr>
          <p:cNvPr id="607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08" name=""/>
          <p:cNvSpPr/>
          <p:nvPr/>
        </p:nvSpPr>
        <p:spPr>
          <a:xfrm rot="0" flipH="0" flipV="0"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609" name=""/>
          <p:cNvPicPr>
            <a:picLocks noChangeAspect="1"/>
          </p:cNvPicPr>
          <p:nvPr/>
        </p:nvPicPr>
        <p:blipFill>
          <a:blip r:embed="rId2"/>
          <a:srcRect l="14737" t="0" r="14737" b="0"/>
          <a:stretch>
            <a:fillRect/>
          </a:stretch>
        </p:blipFill>
        <p:spPr>
          <a:xfrm rot="0" flipH="0" flipV="0">
            <a:off x="609600" y="1104900"/>
            <a:ext cx="5524500" cy="4895850"/>
          </a:xfrm>
          <a:prstGeom prst="roundRect">
            <a:avLst>
              <a:gd name="adj" fmla="val 1362"/>
            </a:avLst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343650" y="10382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 b="1">
                <a:solidFill>
                  <a:srgbClr val="0B2A6B"/>
                </a:solidFill>
                <a:latin typeface="Microsoft YaHei"/>
                <a:ea typeface="Microsoft YaHei"/>
              </a:rPr>
              <a:t>个界面，逐个对应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077325" y="105727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分图上传指引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372225" y="13049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562725" y="1552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791325" y="14478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星级概览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791325" y="16383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昨日新增评价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372225" y="2000250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562725" y="2238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791325" y="2133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评价数据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好评率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372225" y="268605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62725" y="2933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791325" y="282892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客流数据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91325" y="301942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意向转化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372225" y="338137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562725" y="3629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791325" y="35242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交易数据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791325" y="37147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372225" y="407670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562725" y="4324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791325" y="42195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经营评分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791325" y="44100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服务质量分项得分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372225" y="4772025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562725" y="5010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791325" y="49053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791325" y="50958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营业时间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372225" y="54578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562725" y="5705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791325" y="56007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791325" y="57912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履约完成率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7" name=""/>
          <p:cNvPicPr>
            <a:picLocks noChangeAspect="1"/>
          </p:cNvPicPr>
          <p:nvPr/>
        </p:nvPicPr>
        <p:blipFill>
          <a:blip r:embed="rId3"/>
          <a:srcRect l="0" t="5994" r="0" b="5994"/>
          <a:stretch>
            <a:fillRect/>
          </a:stretch>
        </p:blipFill>
        <p:spPr>
          <a:xfrm rot="0" flipH="0" flipV="0"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  <a:ln/>
        </p:spPr>
      </p:pic>
      <p:sp>
        <p:nvSpPr>
          <p:cNvPr id="658" name=""/>
          <p:cNvSpPr/>
          <p:nvPr/>
        </p:nvSpPr>
        <p:spPr>
          <a:xfrm rot="0" flipH="0" flipV="0"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020300" y="445770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5C8F0"/>
                </a:solidFill>
                <a:latin typeface="Microsoft YaHei"/>
                <a:ea typeface="Microsoft YaHei"/>
              </a:rPr>
              <a:t>店长在手机上就能做完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020300" y="4667250"/>
            <a:ext cx="1504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88">
                <a:solidFill>
                  <a:srgbClr val="C8D9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788">
                <a:solidFill>
                  <a:srgbClr val="C8D9F5"/>
                </a:solidFill>
                <a:latin typeface="Microsoft YaHei"/>
                <a:ea typeface="Microsoft YaHei"/>
              </a:rPr>
              <a:t>视口适配，支持相机拍照、相册选图、剪贴板粘贴，底部常驻操作条，不用回办公室开电脑。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171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小时到分钟级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套图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主图诊断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文案优化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话术建议，五件套全在同一个工作台</a:t>
            </a:r>
            <a:endParaRPr/>
          </a:p>
        </p:txBody>
      </p:sp>
      <p:pic>
        <p:nvPicPr>
          <p:cNvPr id="669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70" name=""/>
          <p:cNvSpPr/>
          <p:nvPr/>
        </p:nvSpPr>
        <p:spPr>
          <a:xfrm rot="0" flipH="0" flipV="0"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1" name=""/>
          <p:cNvPicPr>
            <a:picLocks noChangeAspect="1"/>
          </p:cNvPicPr>
          <p:nvPr/>
        </p:nvPicPr>
        <p:blipFill>
          <a:blip r:embed="rId2"/>
          <a:srcRect l="0" t="18155" r="0" b="18155"/>
          <a:stretch>
            <a:fillRect/>
          </a:stretch>
        </p:blipFill>
        <p:spPr>
          <a:xfrm rot="0" flipH="0" flipV="0">
            <a:off x="590550" y="1047750"/>
            <a:ext cx="5886450" cy="2343150"/>
          </a:xfrm>
          <a:prstGeom prst="roundRect">
            <a:avLst>
              <a:gd name="adj" fmla="val 2033"/>
            </a:avLst>
          </a:prstGeom>
          <a:ln/>
        </p:spPr>
      </p:pic>
      <p:sp>
        <p:nvSpPr>
          <p:cNvPr id="672" name=""/>
          <p:cNvSpPr/>
          <p:nvPr/>
        </p:nvSpPr>
        <p:spPr>
          <a:xfrm rot="0" flipH="0" flipV="0"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3" name=""/>
          <p:cNvPicPr>
            <a:picLocks noChangeAspect="1"/>
          </p:cNvPicPr>
          <p:nvPr/>
        </p:nvPicPr>
        <p:blipFill>
          <a:blip r:embed="rId3"/>
          <a:srcRect l="8655" t="0" r="8655" b="0"/>
          <a:stretch>
            <a:fillRect/>
          </a:stretch>
        </p:blipFill>
        <p:spPr>
          <a:xfrm rot="0" flipH="0" flipV="0">
            <a:off x="590550" y="3590925"/>
            <a:ext cx="2847975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4" name=""/>
          <p:cNvSpPr/>
          <p:nvPr/>
        </p:nvSpPr>
        <p:spPr>
          <a:xfrm rot="0" flipH="0" flipV="0"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5" name=""/>
          <p:cNvPicPr>
            <a:picLocks noChangeAspect="1"/>
          </p:cNvPicPr>
          <p:nvPr/>
        </p:nvPicPr>
        <p:blipFill>
          <a:blip r:embed="rId4"/>
          <a:srcRect l="8794" t="0" r="8794" b="0"/>
          <a:stretch>
            <a:fillRect/>
          </a:stretch>
        </p:blipFill>
        <p:spPr>
          <a:xfrm rot="0" flipH="0" flipV="0"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6" name=""/>
          <p:cNvSpPr/>
          <p:nvPr/>
        </p:nvSpPr>
        <p:spPr>
          <a:xfrm rot="0" flipH="0" flipV="0"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715125" y="99060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848475" y="1190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543800" y="122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848475" y="1390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语气出多版本文案，直接可用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715125" y="1857375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48475" y="2047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543800" y="20859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848475" y="22479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批量出图，统一集团品牌视觉与尺寸规范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715125" y="2714625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848475" y="2914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543800" y="29527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48475" y="311467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构图、卖点、合规三维打分，指出具体改哪一处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715125" y="3581400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848475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848475" y="397192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违禁词与医疗广告合规检查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715125" y="443865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848475" y="4638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543800" y="46767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48475" y="48387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咨询、到店、术后随访分场景转化话术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867525" y="542925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810375" y="58197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Microsoft YaHei"/>
                <a:ea typeface="Microsoft YaHei"/>
              </a:rPr>
              <a:t>类能力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372350" y="558165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Microsoft YaHei"/>
                <a:ea typeface="Microsoft YaHei"/>
              </a:rPr>
              <a:t>一次生成后可原地改写、换语气、再出图，不用在多个工具间来回搬运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2862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评价与诊断：把差评当成经营线索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差评分类归因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分层回复建议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五维体检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P0/P1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行动项</a:t>
            </a:r>
            <a:endParaRPr/>
          </a:p>
        </p:txBody>
      </p:sp>
      <p:pic>
        <p:nvPicPr>
          <p:cNvPr id="7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719" name=""/>
          <p:cNvSpPr/>
          <p:nvPr/>
        </p:nvSpPr>
        <p:spPr>
          <a:xfrm rot="0" flipH="0" flipV="0"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20" name=""/>
          <p:cNvPicPr>
            <a:picLocks noChangeAspect="1"/>
          </p:cNvPicPr>
          <p:nvPr/>
        </p:nvPicPr>
        <p:blipFill>
          <a:blip r:embed="rId2"/>
          <a:srcRect l="0" t="12809" r="0" b="12809"/>
          <a:stretch>
            <a:fillRect/>
          </a:stretch>
        </p:blipFill>
        <p:spPr>
          <a:xfrm rot="0" flipH="0" flipV="0">
            <a:off x="609600" y="1047750"/>
            <a:ext cx="4610100" cy="214312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21" name=""/>
          <p:cNvSpPr/>
          <p:nvPr/>
        </p:nvSpPr>
        <p:spPr>
          <a:xfrm rot="0" flipH="0" flipV="0"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5505450" y="1695450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038850" y="1657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429250" y="1933575"/>
            <a:ext cx="62293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贴一条差评、或者直接上传截图，系统自动判断它属于哪类问题、该用什么口径回，给出可直接使用的回复稿。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5429250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5924550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等待时间长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010400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553325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服务态度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8582025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077325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效果不满意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10163175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0706100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价格问题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143000" y="40671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五维运营诊断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4762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店铺装修、团购项目、评价管理、推广投放、活动策划五个维度逐项打分，直接给出带优先级的行动清单，而不是笼统的「建议优化」。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55245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6675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788" b="1">
                <a:solidFill>
                  <a:srgbClr val="D96B15"/>
                </a:solidFill>
                <a:latin typeface="Microsoft YaHei"/>
                <a:ea typeface="Microsoft YaHei"/>
              </a:rPr>
              <a:t>立刻做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6675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Microsoft YaHei"/>
                <a:ea typeface="Microsoft YaHei"/>
              </a:rPr>
              <a:t>差评回复、引流款定价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297180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08610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本周做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308610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Microsoft YaHei"/>
                <a:ea typeface="Microsoft YaHei"/>
              </a:rPr>
              <a:t>品类补充、关键词扩量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50" name=""/>
          <p:cNvPicPr>
            <a:picLocks noChangeAspect="1"/>
          </p:cNvPicPr>
          <p:nvPr/>
        </p:nvPicPr>
        <p:blipFill>
          <a:blip r:embed="rId3"/>
          <a:srcRect l="0" t="16520" r="0" b="16520"/>
          <a:stretch>
            <a:fillRect/>
          </a:stretch>
        </p:blipFill>
        <p:spPr>
          <a:xfrm rot="0" flipH="0" flipV="0"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  <a:ln/>
        </p:spPr>
      </p:pic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FD9">
                  <a:alpha val="55000"/>
                </a:srgbClr>
              </a:gs>
              <a:gs pos="55000">
                <a:srgbClr val="0B2A6B">
                  <a:alpha val="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三个技术判断，决定了它能落地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不是把大模型接进来就叫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，关键是让它扛得住门诊的真实场景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1">
            <a:alphaModFix amt="3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6096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5C8F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截图优先，不依赖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对接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美团经营参谋的数据不对外开放接口，硬等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就是无限期拖延。我们反过来做：门店按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个界面分别上传截图，视觉模型直接读数。门店不用学新系统，集团当天就能拿到数据。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382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代价是识别准确率，所以配了手动录入作为保底通道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2435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2435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5295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ADE8F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5295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双通道兜底，业务永不中断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5295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五个视觉模型端点按顺序自动探测，哪个能用走哪个；全部不可用就降级为手动录入，已上传的截图不会白传。模型层抽出来做成可替换的，换模型不动业务代码。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55295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67677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今天视觉模型权限尚未开通，系统仍可完整跑通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0391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391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677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2677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拒绝随机数，结论必须可回溯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677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早期版本的分析结论是随机生成的，用户一输入就发现对不上。现在所有指标都由真实输入算出：评分、转化率、价格带、差评数逐项推导，每条建议都能指回具体数字。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2677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FF8A3D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915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输入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条评价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/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输出「跟进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9144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实测响应</a:t>
            </a:r>
            <a:endParaRPr/>
          </a:p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耗时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163830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34315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1.45s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39077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64807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529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1.36s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0055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657850" y="56197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722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1.29s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103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7715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1.09s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4296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差评回复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68692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39177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1.92s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43940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10925" y="65436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2A6B"/>
              </a:gs>
              <a:gs pos="65000">
                <a:srgbClr val="1B5FD9"/>
              </a:gs>
              <a:gs pos="100000">
                <a:srgbClr val="2E86E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429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09550"/>
            <a:ext cx="2657475" cy="4286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325" b="1">
                <a:solidFill>
                  <a:srgbClr val="FFFFFF"/>
                </a:solidFill>
                <a:latin typeface="Microsoft YaHei"/>
                <a:ea typeface="Microsoft YaHei"/>
              </a:rPr>
              <a:t>把两小时压成两分钟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666750"/>
            <a:ext cx="2657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ADE8FF"/>
                </a:solidFill>
                <a:latin typeface="Microsoft YaHei"/>
                <a:ea typeface="Microsoft YaHei"/>
              </a:rPr>
              <a:t>同样的活，做法的区别在哪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1319" r="0" b="1319"/>
          <a:stretch>
            <a:fillRect/>
          </a:stretch>
        </p:blipFill>
        <p:spPr>
          <a:xfrm rot="0" flipH="0" flipV="0">
            <a:off x="10534650" y="228600"/>
            <a:ext cx="1047750" cy="438150"/>
          </a:xfrm>
          <a:prstGeom prst="rect">
            <a:avLst/>
          </a:prstGeom>
          <a:ln/>
        </p:spPr>
      </p:pic>
      <p:sp>
        <p:nvSpPr>
          <p:cNvPr id="75" name=""/>
          <p:cNvSpPr/>
          <p:nvPr/>
        </p:nvSpPr>
        <p:spPr>
          <a:xfrm rot="0" flipH="0" flipV="0">
            <a:off x="647700" y="1104900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47700" y="1104900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一条美团文案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552700" y="1552575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838450" y="1685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295650" y="16192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381375" y="1685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29050" y="14763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72000" y="18573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991100" y="1581150"/>
            <a:ext cx="641985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从查门店信息、想卖点、写正文、配图到改违禁词，压缩到一次生成加一轮修改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1857375"/>
            <a:ext cx="6419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1.92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7700" y="2581275"/>
            <a:ext cx="109728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47700" y="2581275"/>
            <a:ext cx="10972800" cy="1352550"/>
          </a:xfrm>
          <a:custGeom>
            <a:pathLst>
              <a:path w="1152" h="14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4"/>
                </a:lnTo>
                <a:cubicBezTo>
                  <a:pt x="4" y="138"/>
                  <a:pt x="7" y="141"/>
                  <a:pt x="10" y="142"/>
                </a:cubicBezTo>
                <a:cubicBezTo>
                  <a:pt x="4" y="141"/>
                  <a:pt x="0" y="136"/>
                  <a:pt x="0" y="13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一次经营诊断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552700" y="30289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838450" y="31623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171825" y="3095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257550" y="31623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705225" y="29622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1.4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48175" y="33432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67275" y="3057525"/>
            <a:ext cx="6543675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从挨家登录经营参谋截图、</a:t>
            </a:r>
            <a:r>
              <a:rPr lang="en-US" sz="900">
                <a:solidFill>
                  <a:srgbClr val="5A6B8C"/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手工拼表，变成五个维度同时打分并给出行动项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67275" y="3333750"/>
            <a:ext cx="6543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1.36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47700" y="4067175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7700" y="4067175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46196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一家门店的数据采集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552700" y="45148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838450" y="46482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295650" y="4581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381375" y="46482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29050" y="4438650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52900" y="48196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张图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705350" y="4543425"/>
            <a:ext cx="670560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同样七个界面，但不用再逐项抄字段：上传截图即可，识别结果可直接校对修改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705350" y="4819650"/>
            <a:ext cx="6705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含移动端拍照上传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829300"/>
            <a:ext cx="10972800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1B5FD9">
                  <a:alpha val="10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00100" y="60674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0125" y="5981700"/>
            <a:ext cx="103917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0B2A6B"/>
                </a:solidFill>
                <a:latin typeface="Microsoft YaHei"/>
                <a:ea typeface="Microsoft YaHei"/>
              </a:rPr>
              <a:t>省下来的不是时间本身，是门店愿意持续做这件事的可能性——运营动作频次上去了，数据才有得看。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20450" y="65436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3905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266700"/>
            <a:ext cx="30956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先跑通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家，再谈铺开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3095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辽宁打样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区域复制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集团打通，三级推进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85750"/>
            <a:ext cx="1066800" cy="45720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657225" y="1009650"/>
            <a:ext cx="6172200" cy="1409700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57225" y="1009650"/>
            <a:ext cx="6172200" cy="1409700"/>
          </a:xfrm>
          <a:custGeom>
            <a:pathLst>
              <a:path w="648" h="148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42"/>
                </a:lnTo>
                <a:cubicBezTo>
                  <a:pt x="5" y="145"/>
                  <a:pt x="7" y="147"/>
                  <a:pt x="10" y="148"/>
                </a:cubicBezTo>
                <a:cubicBezTo>
                  <a:pt x="4" y="147"/>
                  <a:pt x="0" y="143"/>
                  <a:pt x="0" y="137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47725" y="14097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23925" y="14287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76375" y="13906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辽宁</a:t>
            </a:r>
            <a:r>
              <a:rPr lang="en-US" sz="12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家打样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47725" y="16383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先让沈阳、盘锦直营门诊跑满一个完整月度周期，把截图采集流程和诊断口径固定下来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47725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19240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口径定型</a:t>
            </a:r>
            <a:r>
              <a:rPr lang="en-US" sz="788" b="1" spc="38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流程跑顺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57225" y="2514600"/>
            <a:ext cx="6172200" cy="1771650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57225" y="2514600"/>
            <a:ext cx="6172200" cy="1771650"/>
          </a:xfrm>
          <a:custGeom>
            <a:pathLst>
              <a:path w="648" h="186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80"/>
                </a:lnTo>
                <a:cubicBezTo>
                  <a:pt x="5" y="183"/>
                  <a:pt x="7" y="185"/>
                  <a:pt x="10" y="186"/>
                </a:cubicBezTo>
                <a:cubicBezTo>
                  <a:pt x="4" y="185"/>
                  <a:pt x="0" y="181"/>
                  <a:pt x="0" y="175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47725" y="3095625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3925" y="311467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76375" y="30765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大区复制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47725" y="3324225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把模板、话术库、评分口径做成可下发的配置，其他省区不再重头搭一遍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47725" y="3648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52500" y="3609975"/>
            <a:ext cx="1066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配置下发</a:t>
            </a:r>
            <a:r>
              <a:rPr lang="en-US" sz="788" b="1" spc="38">
                <a:solidFill>
                  <a:srgbClr val="2E8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无需重开发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57225" y="4381500"/>
            <a:ext cx="6172200" cy="2133600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57225" y="4381500"/>
            <a:ext cx="6172200" cy="2133600"/>
          </a:xfrm>
          <a:custGeom>
            <a:pathLst>
              <a:path w="648" h="224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218"/>
                </a:lnTo>
                <a:cubicBezTo>
                  <a:pt x="5" y="221"/>
                  <a:pt x="7" y="223"/>
                  <a:pt x="10" y="224"/>
                </a:cubicBezTo>
                <a:cubicBezTo>
                  <a:pt x="4" y="223"/>
                  <a:pt x="0" y="219"/>
                  <a:pt x="0" y="213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47725" y="51435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23925" y="51625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476375" y="51244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集团数据打通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47725" y="53721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接入集团经营看板，与</a:t>
            </a:r>
            <a:r>
              <a:rPr lang="en-US" sz="863">
                <a:solidFill>
                  <a:srgbClr val="5A6B8C"/>
                </a:solidFill>
                <a:latin typeface="Microsoft YaHei"/>
                <a:ea typeface="Microsoft YaHei"/>
              </a:rPr>
              <a:t xml:space="preserve"> Ahis </a:t>
            </a: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周报、月会口径对齐，让美团数据进到经营会议题里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47725" y="56959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口径对齐</a:t>
            </a:r>
            <a:r>
              <a:rPr lang="en-US" sz="788" b="1" spc="38">
                <a:solidFill>
                  <a:srgbClr val="35C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进经营会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953250" y="1009650"/>
            <a:ext cx="462915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2"/>
          <a:srcRect l="0" t="7627" r="0" b="7627"/>
          <a:stretch>
            <a:fillRect/>
          </a:stretch>
        </p:blipFill>
        <p:spPr>
          <a:xfrm rot="0" flipH="0" flipV="0">
            <a:off x="7019925" y="1076325"/>
            <a:ext cx="4495800" cy="2381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53250" y="36195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复制时真正要带走的三样东西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953250" y="384810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086600" y="40671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39025" y="401002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39025" y="420052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总部分月下发的品牌视觉与文案结构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953250" y="4619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086600" y="4838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39025" y="4781550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39025" y="49720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评分、转化、价格带的统一算法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953250" y="539115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86600" y="56102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39025" y="55530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话术库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39025" y="574357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差评回复与咨询转化的分场景沉淀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0000"/>
                </a:srgbClr>
              </a:gs>
              <a:gs pos="50000">
                <a:srgbClr val="0B2A6B">
                  <a:alpha val="72000"/>
                </a:srgbClr>
              </a:gs>
              <a:gs pos="100000">
                <a:srgbClr val="1B5FD9">
                  <a:alpha val="58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0" y="5143500"/>
            <a:ext cx="12192000" cy="1714500"/>
          </a:xfrm>
          <a:prstGeom prst="rect">
            <a:avLst/>
          </a:prstGeom>
          <a:gradFill>
            <a:gsLst>
              <a:gs pos="0">
                <a:srgbClr val="0B2A6B">
                  <a:alpha val="0"/>
                </a:srgbClr>
              </a:gs>
              <a:gs pos="100000">
                <a:srgbClr val="0B2A6B">
                  <a:alpha val="82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2"/>
          <a:srcRect l="0" t="749" r="0" b="749"/>
          <a:stretch>
            <a:fillRect/>
          </a:stretch>
        </p:blipFill>
        <p:spPr>
          <a:xfrm rot="0" flipH="0" flipV="0">
            <a:off x="609600" y="400050"/>
            <a:ext cx="1485900" cy="628650"/>
          </a:xfrm>
          <a:prstGeom prst="rect">
            <a:avLst/>
          </a:prstGeom>
          <a:ln/>
        </p:spPr>
      </p:pic>
      <p:sp>
        <p:nvSpPr>
          <p:cNvPr id="166" name=""/>
          <p:cNvSpPr/>
          <p:nvPr/>
        </p:nvSpPr>
        <p:spPr>
          <a:xfrm rot="0" flipH="0" flipV="0">
            <a:off x="2305050" y="542925"/>
            <a:ext cx="9525" cy="342900"/>
          </a:xfrm>
          <a:prstGeom prst="rect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 r:embed="rId3"/>
          <a:srcRect l="700" t="0" r="700" b="0"/>
          <a:stretch>
            <a:fillRect/>
          </a:stretch>
        </p:blipFill>
        <p:spPr>
          <a:xfrm rot="0" flipH="0" flipV="0">
            <a:off x="2524125" y="466725"/>
            <a:ext cx="1771650" cy="4953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609600" y="2152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谢谢聆听</a:t>
            </a:r>
            <a:r>
              <a:rPr lang="en-US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8572500" cy="15621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让每家门诊都能自己做</a:t>
            </a:r>
            <a:endParaRPr/>
          </a:p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美团运营的「专业判断」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85725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C8D9F5"/>
                </a:solidFill>
                <a:latin typeface="Microsoft YaHei"/>
                <a:ea typeface="Microsoft YaHei"/>
              </a:rPr>
              <a:t>工具只是开始，真正要沉淀的是把好店长的经验变成集团的标准动作。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5953125"/>
            <a:ext cx="1800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867025" y="595312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67025" y="61436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963275" y="5895975"/>
            <a:ext cx="647700" cy="447675"/>
          </a:xfrm>
          <a:custGeom>
            <a:pathLst>
              <a:path w="68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82350" y="5895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82350" y="60960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&#10;    width: 1280, height: 720,&#10;    position: 'relative',&#10;    background: '#F2F6FD',&#10;    fontFamily: &quot;'Microsoft YaHei', '微软雅黑', sans-serif&quot;,&#10;    overflow: 'hidden',&#10;}}&gt;&#10;    {/* A 标题块 */}&#10;    &lt;Box style={{ position: 'absolute', top: 26, left: 64, flexDirection: 'row', alignItems: 'center', gap: 16 }}&gt;&#10;        &lt;Box style={{ width: 6, height: 36, background: '#FF8A3D', borderRadius: 3 }} /&gt;&#10;        &lt;Box&gt;&#10;            &lt;Text style={{ fontSize: 30, fontWeight: 'bold', color: '#0B2A6B', lineHeight: 1.2 }}&gt;答辩预案：四类问题怎么答&lt;/Text&gt;&#10;            &lt;Text style={{ fontSize: 12.5, color: '#5A6B8C', marginTop: 3, letterSpacing: 1 }}&gt;&#10;                技术壁垒 · 落地成本 · 数据安全 · 可复制性&#10;            &lt;/Text&gt;&#10;        &lt;/Box&gt;&#10;    &lt;/Box&gt;&#10;    &lt;Box style={{ position: 'absolute', top: 28, right: 64, background: 'rgba(255,138,61,0.12)', borderRadius: 5, padding: '5px 11px' }}&gt;&#10;        &lt;Text style={{ fontSize: 11, fontWeight: 'bold', color: '#D96B15' }}&gt;附录 · 不演讲&lt;/Text&gt;&#10;    &lt;/Box&gt;&#10;&#10;    {/* B 内容区：四象限 */}&#10;    &lt;Box style={{&#10;        position: 'absolute', top: 102, left: 64, right: 64, height: 540,&#10;        flexDirection: 'row', gap: 14,&#10;    }}&gt;&#10;        {[&#10;            {&#10;                t: '技术壁垒',&#10;                qs: [&#10;                    ['为什么用截图而不是 API 对接？', '经营参谋本身不开放接口，等下去没有时间表。截图方案让门店零学习成本，今天就能用上。'],&#10;                    ['OCR 准确率怎么保证？', '七个界面各自对应固定字段，识别范围收窄后准确率可控；同时保留手动录入，识别结果可直接对照修改。'],&#10;                    ['和通用 SaaS 比差别在哪？', '通用工具不懂眼科项目结构，也不知道爱尔的评分口径。我们要的是能直接用的口径和话术，不是又一套后台。'],&#10;                ],&#10;                c: '#1B5FD9',&#10;            },&#10;            {&#10;                t: '落地成本',&#10;                qs: [&#10;                    ['门店会不会嫌麻烦？', '比原来更省事：原来要抄字段进表，现在拍七张图。手机端做完全程，不用开电脑。'],&#10;                    ['28 家推广要多久？', '辽宁直营门诊按一个月跑通并固定口径，其他门诊主要成本是一轮培训，不需要新增硬件投入。'],&#10;                    ['要不要额外买设备或额度？', '不需要。门店沿用现有手机，集团侧用现有模型服务额度，没有额外采购。'],&#10;                ],&#10;                c: '#2E86E8',&#10;            },&#10;            {&#10;                t: '数据安全',&#10;                qs: [&#10;                    ['经营数据会不会外泄？', '数据只在集团自有环境和已签约的大模型服务间流转，不落到第三方公共平台，前端也不做持久化存储。'],&#10;                    ['截图含患者隐私吗？', '采集范围限定在经营参谋的经营数据界面，不涉及患者姓名、病历等诊疗信息。'],&#10;                    ['谁能看到别家门店的数据？', '按门店账号隔离，跨店汇总只在总部管理视角可见，门店之间互相看不到。'],&#10;                ],&#10;                c: '#35C8F0',&#10;            },&#10;            {&#10;                t: '可复制性',&#10;                qs: [&#10;                    ['能给别的业务线用吗？', '评分口径、话术库、模板都是配置项，换业务线只换配置，不动代码结构。'],&#10;                    ['视觉模型权限没开通怎么办？', '五个端点自动探测降级，手动录入保底，业务不中断；权限开通即刻启用，不需要改代码。'],&#10;                    ['后续维护谁来做？', '模板和话术库由总部统一维护更新，门店只负责输入和确认，不用自己养技术。'],&#10;                ],&#10;                c: '#FF8A3D',&#10;            },&#10;        ].map((box) =&gt; (&#10;            &lt;Box key={box.t} style={{&#10;                flex: 1,&#10;                background: '#FFFFFF', borderRadius: 11,&#10;                padding: 16,&#10;                flexDirection: 'column', gap: 10,&#10;                borderTop: `4px solid ${box.c}`,&#10;                boxShadow: '0 4px 16px rgba(11,42,107,0.07)',&#10;            }}&gt;&#10;                &lt;Text style={{ fontSize: 16, fontWeight: 'bold', color: '#0B2A6B', marginBottom: 2 }}&gt;{box.t}&lt;/Text&gt;&#10;                {box.qs.map((q, qi) =&gt; (&#10;                    &lt;Box key={qi} style={{&#10;                        flex: 1,&#10;                        background: 'rgba(27,95,217,0.04)',&#10;                        borderRadius: 7, padding: 11,&#10;                    }}&gt;&#10;                        &lt;Text style={{ fontSize: 11, fontWeight: 'bold', color: box.c, lineHeight: 1.45, marginBottom: 5 }}&gt;&#10;                            Q：{q[0]}&#10;                        &lt;/Text&gt;&#10;                        &lt;Text style={{ fontSize: 10.5, color: '#4A5A7A', lineHeight: 1.6 }}&gt;&#10;                            {q[1]}&#10;                        &lt;/Text&gt;&#10;                    &lt;/Box&gt;&#10;                ))}&#10;            &lt;/Box&gt;&#10;        ))}&#10;    &lt;/Box&gt;&#10;&#10;    {/* C 页脚条 */}&#10;    &lt;Box style={{&#10;        position: 'absolute', left: 64, right: 64, bottom: 16,&#10;        flexDirection: 'row', alignItems: 'center', justifyContent: 'space-between',&#10;    }}&gt;&#10;        &lt;Text style={{ fontSize: 12.5, color: '#8494B4' }}&gt;美团电商眼科运营AI助手 · 爱尔眼科集团AI创新应用大赛&lt;/Text&gt;&#10;        &lt;Text style={{ fontSize: 12.5, color: '#8494B4', fontFamily: 'Arial, sans-serif' }}&gt;1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答辩预案：四类问题怎么答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技术壁垒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落地成本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数据安全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FF8A3D">
              <a:alpha val="12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09600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62000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技术壁垒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62000" y="1466850"/>
            <a:ext cx="2343150" cy="1304925"/>
          </a:xfrm>
          <a:prstGeom prst="roundRect">
            <a:avLst>
              <a:gd name="adj" fmla="val 510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66775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为什么用截图而不是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对接？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66775" y="18097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经营参谋本身不开放接口，等下去没有时间表。截图方案让门店零学习成本，今天就能用上。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762000" y="2867025"/>
            <a:ext cx="2343150" cy="1504950"/>
          </a:xfrm>
          <a:prstGeom prst="roundRect">
            <a:avLst>
              <a:gd name="adj" fmla="val 44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66775" y="29718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准确率怎么保证？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66775" y="32099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七个界面各自对应固定字段，识别范围收窄后准确率可控；同时保留手动录入，识别结果可直接对照修改。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62000" y="4467225"/>
            <a:ext cx="2343150" cy="1495425"/>
          </a:xfrm>
          <a:prstGeom prst="roundRect">
            <a:avLst>
              <a:gd name="adj" fmla="val 445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66775" y="45720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和通用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比差别在哪？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66775" y="48101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通用工具不懂眼科项目结构，也不知道爱尔的评分口径。我们要的是能直接用的口径和话术，不是又一套后台。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390900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3390900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543300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落地成本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543300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48075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门店会不会嫌麻烦？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648075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比原来更省事：原来要抄字段进表，现在拍七张图。手机端做完全程，不用开电脑。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543300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648075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 xml:space="preserve">28 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家推广要多久？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648075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辽宁直营门诊按一个月跑通并固定口径，其他门诊主要成本是一轮培训，不需要新增硬件投入。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543300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648075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要不要额外买设备或额度？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648075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不需要。门店沿用现有手机，集团侧用现有模型服务额度，没有额外采购。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162675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6162675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15075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数据安全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315075" y="1466850"/>
            <a:ext cx="2343150" cy="1562100"/>
          </a:xfrm>
          <a:prstGeom prst="roundRect">
            <a:avLst>
              <a:gd name="adj" fmla="val 4268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419850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经营数据会不会外泄？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419850" y="1809750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数据只在集团自有环境和已签约的大模型服务间流转，不落到第三方公共平台，前端也不做持久化存储。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315075" y="312420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419850" y="32289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截图含患者隐私吗？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419850" y="346710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采集范围限定在经营参谋的经营数据界面，不涉及患者姓名、病历等诊疗信息。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315075" y="459105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419850" y="46958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谁能看到别家门店的数据？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419850" y="49339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按门店账号隔离，跨店汇总只在总部管理视角可见，门店之间互相看不到。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943975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8943975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096375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9096375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201150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能给别的业务线用吗？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201150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评分口径、话术库、模板都是配置项，换业务线只换配置，不动代码结构。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096375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201150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视觉模型权限没开通怎么办？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01150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五个端点自动探测降级，手动录入保底，业务不中断；权限开通即刻启用，不需要改代码。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9096375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201150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后续维护谁来做？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201150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模板和话术库由总部统一维护更新，门店只负责输入和确认，不用自己养技术。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3623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个模块与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大需求对照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362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每个需求都有对应落地模块，没有悬空的规划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952500"/>
            <a:ext cx="10972800" cy="5219700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81050" y="1123950"/>
            <a:ext cx="10629900" cy="352425"/>
          </a:xfrm>
          <a:prstGeom prst="roundRect">
            <a:avLst>
              <a:gd name="adj" fmla="val 18919"/>
            </a:avLst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14400" y="12287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171700" y="1228725"/>
            <a:ext cx="7410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核心作用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82150" y="1228725"/>
            <a:ext cx="781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0363200" y="1228725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81050" y="1552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14400" y="1704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9175" y="17145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171700" y="1685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四维经营视图汇总，跨门店横向对比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582150" y="1714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0591800" y="1695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677525" y="1724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81050" y="2000250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914400" y="214312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19175" y="2152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171700" y="2133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七界面截图上传、识别与手动录入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582150" y="2162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10591800" y="213360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677525" y="2162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81050" y="243840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14400" y="2590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19175" y="2600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171700" y="257175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竞品评分销量价格带对比与缺口识别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82150" y="260032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10591800" y="2581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0677525" y="2609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81050" y="2886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14400" y="3038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19175" y="3048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美团运营诊断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71700" y="3019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五维体检、状态打分与行动项输出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582150" y="3048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 / 05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591800" y="3028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677525" y="3057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81050" y="333375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4400" y="34861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19175" y="3495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2171700" y="34671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按项目人群语气批量产出可用文案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582150" y="34956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10591800" y="34766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677525" y="35052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81050" y="3781425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914400" y="39243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19175" y="39338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171700" y="39147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B8C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批量出图，统一品牌视觉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582150" y="39433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10591800" y="39147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677525" y="39433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81050" y="4219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914400" y="4371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19175" y="4381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171700" y="4352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构图、卖点、合规三维打分与改法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582150" y="4381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10591800" y="4362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677525" y="4391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81050" y="4667250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14400" y="48196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19175" y="4829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171700" y="4800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润色改写与医疗广告合规检查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582150" y="4829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0591800" y="48101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677525" y="48387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781050" y="5114925"/>
            <a:ext cx="10629900" cy="438150"/>
          </a:xfrm>
          <a:prstGeom prst="roundRect">
            <a:avLst>
              <a:gd name="adj" fmla="val 10870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14400" y="5257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19175" y="5267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171700" y="52482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差评分类归因与分层回复建议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591800" y="5248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677525" y="5276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81050" y="5553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914400" y="5705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19175" y="5715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171700" y="5686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咨询、到店、随访分场景转化话术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582150" y="5715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0591800" y="5695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0677525" y="5724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2026-10-23T15:11:02Z</dcterms:created>
  <dcterms:modified xsi:type="dcterms:W3CDTF">2026-10-23T15:11:02Z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