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7" Type="http://schemas.openxmlformats.org/officeDocument/2006/relationships/presProps" Target="presProps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16" Type="http://schemas.openxmlformats.org/officeDocument/2006/relationships/notesMaster" Target="notesMasters/notesMaster1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.png" /><Relationship Id="rId3" Type="http://schemas.openxmlformats.org/officeDocument/2006/relationships/image" Target="media/image3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jpg" /><Relationship Id="rId2" Type="http://schemas.openxmlformats.org/officeDocument/2006/relationships/image" Target="media/image2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.png" /><Relationship Id="rId1" Type="http://schemas.openxmlformats.org/officeDocument/2006/relationships/image" Target="media/image11.jpg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3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4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png" /><Relationship Id="rId2" Type="http://schemas.openxmlformats.org/officeDocument/2006/relationships/image" Target="media/image16.png" /><Relationship Id="rId3" Type="http://schemas.openxmlformats.org/officeDocument/2006/relationships/image" Target="media/image17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png" /><Relationship Id="rId3" Type="http://schemas.openxmlformats.org/officeDocument/2006/relationships/image" Target="media/image19.png" /><Relationship Id="rId2" Type="http://schemas.openxmlformats.org/officeDocument/2006/relationships/image" Target="media/image18.png" /><Relationship Id="rId4" Type="http://schemas.openxmlformats.org/officeDocument/2006/relationships/image" Target="media/image20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png" /><Relationship Id="rId2" Type="http://schemas.openxmlformats.org/officeDocument/2006/relationships/image" Target="media/image21.png" /><Relationship Id="rId3" Type="http://schemas.openxmlformats.org/officeDocument/2006/relationships/image" Target="media/image22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Relationship Id="rId2" Type="http://schemas.openxmlformats.org/officeDocument/2006/relationships/image" Target="media/image7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jpg" /><Relationship Id="rId2" Type="http://schemas.openxmlformats.org/officeDocument/2006/relationships/image" Target="media/image9.png" /><Relationship Id="rId3" Type="http://schemas.openxmlformats.org/officeDocument/2006/relationships/image" Target="media/image10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2" r="0" b="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A6B">
                  <a:alpha val="94000"/>
                </a:srgbClr>
              </a:gs>
              <a:gs pos="42000">
                <a:srgbClr val="0B2A6B">
                  <a:alpha val="80000"/>
                </a:srgbClr>
              </a:gs>
              <a:gs pos="72000">
                <a:srgbClr val="1B5FD9">
                  <a:alpha val="28000"/>
                </a:srgbClr>
              </a:gs>
              <a:gs pos="100000">
                <a:srgbClr val="1B5FD9">
                  <a:alpha val="12000"/>
                </a:srgbClr>
              </a:gs>
            </a:gsLst>
            <a:lin ang="6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5" name=""/>
          <p:cNvPicPr>
            <a:picLocks noChangeAspect="1"/>
          </p:cNvPicPr>
          <p:nvPr/>
        </p:nvPicPr>
        <p:blipFill>
          <a:blip r:embed="rId2"/>
          <a:srcRect l="0" t="110" r="0" b="110"/>
          <a:stretch>
            <a:fillRect/>
          </a:stretch>
        </p:blipFill>
        <p:spPr>
          <a:xfrm rot="0" flipH="0" flipV="0">
            <a:off x="609600" y="419100"/>
            <a:ext cx="1600200" cy="685800"/>
          </a:xfrm>
          <a:prstGeom prst="rect">
            <a:avLst/>
          </a:prstGeom>
          <a:ln/>
        </p:spPr>
      </p:pic>
      <p:sp>
        <p:nvSpPr>
          <p:cNvPr id="6" name=""/>
          <p:cNvSpPr/>
          <p:nvPr/>
        </p:nvSpPr>
        <p:spPr>
          <a:xfrm rot="0" flipH="0" flipV="0">
            <a:off x="2438400" y="571500"/>
            <a:ext cx="9525" cy="38100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2676525" y="676275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ADE8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 b="1" spc="150">
                <a:solidFill>
                  <a:srgbClr val="ADE8FF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Id3"/>
          <a:srcRect l="97" t="0" r="97" b="0"/>
          <a:stretch>
            <a:fillRect/>
          </a:stretch>
        </p:blipFill>
        <p:spPr>
          <a:xfrm rot="0" flipH="0" flipV="0">
            <a:off x="9582150" y="419100"/>
            <a:ext cx="2000250" cy="552450"/>
          </a:xfrm>
          <a:prstGeom prst="rect">
            <a:avLst/>
          </a:prstGeom>
          <a:ln/>
        </p:spPr>
      </p:pic>
      <p:sp>
        <p:nvSpPr>
          <p:cNvPr id="9" name=""/>
          <p:cNvSpPr/>
          <p:nvPr/>
        </p:nvSpPr>
        <p:spPr>
          <a:xfrm rot="0" flipH="0" flipV="0">
            <a:off x="609600" y="18097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186690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>美团电商运营</a:t>
            </a:r>
            <a:r>
              <a:rPr lang="en-US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2381250"/>
            <a:ext cx="7239000" cy="1638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 spc="75">
                <a:solidFill>
                  <a:srgbClr val="FFFFFF"/>
                </a:solidFill>
                <a:latin typeface="Microsoft YaHei"/>
                <a:ea typeface="Microsoft YaHei"/>
              </a:rPr>
              <a:t>让门店的经营截图，</a:t>
            </a:r>
            <a:endParaRPr/>
          </a:p>
          <a:p>
            <a:pPr>
              <a:lnSpc>
                <a:spcPct val="114999"/>
              </a:lnSpc>
            </a:pPr>
            <a:r>
              <a:rPr lang="zh-CN" sz="4650" b="1" spc="75">
                <a:solidFill>
                  <a:srgbClr val="FFFFFF"/>
                </a:solidFill>
                <a:latin typeface="Microsoft YaHei"/>
                <a:ea typeface="Microsoft YaHei"/>
              </a:rPr>
              <a:t>变成集团的经营结论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4286250"/>
            <a:ext cx="7239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覆盖美团经营全链路的</a:t>
            </a:r>
            <a:r>
              <a:rPr lang="en-US" sz="1425">
                <a:solidFill>
                  <a:srgbClr val="C8D9F5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运营工作台</a:t>
            </a:r>
            <a:r>
              <a:rPr lang="en-US" sz="1425">
                <a:solidFill>
                  <a:srgbClr val="C8D9F5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采集、分析、创作、评价、决策五位一体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5934075"/>
            <a:ext cx="2009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参赛作品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09600" y="6143625"/>
            <a:ext cx="2009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057525" y="5934075"/>
            <a:ext cx="236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汇报单位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057525" y="6143625"/>
            <a:ext cx="236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门诊管理中心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857875" y="5934075"/>
            <a:ext cx="2133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答辩时长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857875" y="6143625"/>
            <a:ext cx="2133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演讲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答辩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10887075" y="5867400"/>
            <a:ext cx="723900" cy="495300"/>
          </a:xfrm>
          <a:custGeom>
            <a:pathLst>
              <a:path w="76" h="52">
                <a:moveTo>
                  <a:pt x="0" y="0"/>
                </a:moveTo>
                <a:lnTo>
                  <a:pt x="3" y="0"/>
                </a:lnTo>
                <a:lnTo>
                  <a:pt x="3" y="52"/>
                </a:lnTo>
                <a:lnTo>
                  <a:pt x="0" y="52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125200" y="58674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DE8FF"/>
                </a:solidFill>
                <a:latin typeface="Microsoft YaHei"/>
                <a:ea typeface="Microsoft YaHei"/>
              </a:rPr>
              <a:t>答辩人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125200" y="6105525"/>
            <a:ext cx="45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王皓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04" name=""/>
          <p:cNvPicPr>
            <a:picLocks noChangeAspect="1"/>
          </p:cNvPicPr>
          <p:nvPr/>
        </p:nvPicPr>
        <p:blipFill>
          <a:blip r:embed="rId1"/>
          <a:srcRect l="6954" t="0" r="6954" b="0"/>
          <a:stretch>
            <a:fillRect/>
          </a:stretch>
        </p:blipFill>
        <p:spPr>
          <a:xfrm rot="0" flipH="0" flipV="0">
            <a:off x="0" y="0"/>
            <a:ext cx="12192000" cy="1123950"/>
          </a:xfrm>
          <a:prstGeom prst="rect">
            <a:avLst/>
          </a:prstGeom>
          <a:ln/>
        </p:spPr>
      </p:pic>
      <p:sp>
        <p:nvSpPr>
          <p:cNvPr id="305" name=""/>
          <p:cNvSpPr/>
          <p:nvPr/>
        </p:nvSpPr>
        <p:spPr>
          <a:xfrm rot="0" flipH="0" flipV="0">
            <a:off x="0" y="0"/>
            <a:ext cx="12192000" cy="1123950"/>
          </a:xfrm>
          <a:prstGeom prst="rect">
            <a:avLst/>
          </a:prstGeom>
          <a:gradFill>
            <a:gsLst>
              <a:gs pos="0">
                <a:srgbClr val="0B2A6B">
                  <a:alpha val="94000"/>
                </a:srgbClr>
              </a:gs>
              <a:gs pos="60000">
                <a:srgbClr val="1B5FD9">
                  <a:alpha val="82000"/>
                </a:srgbClr>
              </a:gs>
              <a:gs pos="100000">
                <a:srgbClr val="1B5FD9">
                  <a:alpha val="5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609600" y="40005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38862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门诊做美团，卡在三个地方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19150" y="762000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数据拿不到</a:t>
            </a:r>
            <a:r>
              <a:rPr lang="en-US" sz="1050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内容做不快</a:t>
            </a:r>
            <a:r>
              <a:rPr lang="en-US" sz="1050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决策靠经验</a:t>
            </a:r>
            <a:endParaRPr/>
          </a:p>
        </p:txBody>
      </p:sp>
      <p:pic>
        <p:nvPicPr>
          <p:cNvPr id="309" name=""/>
          <p:cNvPicPr>
            <a:picLocks noChangeAspect="1"/>
          </p:cNvPicPr>
          <p:nvPr/>
        </p:nvPicPr>
        <p:blipFill>
          <a:blip r:embed="rId2">
            <a:alphaModFix amt="50000"/>
          </a:blip>
          <a:srcRect l="0" t="613" r="0" b="613"/>
          <a:stretch>
            <a:fillRect/>
          </a:stretch>
        </p:blipFill>
        <p:spPr>
          <a:xfrm rot="0" flipH="0" flipV="0">
            <a:off x="10325100" y="285750"/>
            <a:ext cx="1257300" cy="533400"/>
          </a:xfrm>
          <a:prstGeom prst="rect">
            <a:avLst/>
          </a:prstGeom>
          <a:ln/>
        </p:spPr>
      </p:pic>
      <p:sp>
        <p:nvSpPr>
          <p:cNvPr id="310" name=""/>
          <p:cNvSpPr/>
          <p:nvPr/>
        </p:nvSpPr>
        <p:spPr>
          <a:xfrm rot="0" flipH="0" flipV="0">
            <a:off x="609600" y="1428750"/>
            <a:ext cx="3514725" cy="470535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09600" y="1428750"/>
            <a:ext cx="3514725" cy="4705350"/>
          </a:xfrm>
          <a:custGeom>
            <a:pathLst>
              <a:path w="369" h="494">
                <a:moveTo>
                  <a:pt x="356" y="0"/>
                </a:moveTo>
                <a:cubicBezTo>
                  <a:pt x="362" y="0"/>
                  <a:pt x="367" y="5"/>
                  <a:pt x="369" y="11"/>
                </a:cubicBezTo>
                <a:cubicBezTo>
                  <a:pt x="367" y="7"/>
                  <a:pt x="363" y="4"/>
                  <a:pt x="359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876300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009650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371600" y="17240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数据散在门店里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76300" y="2171700"/>
            <a:ext cx="29813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B5FD9"/>
                </a:solidFill>
                <a:latin typeface="Microsoft YaHei"/>
                <a:ea typeface="Microsoft YaHei"/>
              </a:rPr>
              <a:t>28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家辽宁门诊的经营数据，总部拿不到横向对比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76300" y="3257550"/>
            <a:ext cx="2981325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美团「经营参谋」在每家门店的手机里，评分、曝光、转化、评价各自分散。要看全省</a:t>
            </a:r>
            <a:r>
              <a:rPr lang="en-US" sz="1050">
                <a:solidFill>
                  <a:srgbClr val="3A4A66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家门诊的经营评分，只能一家一家登录截图，再用</a:t>
            </a:r>
            <a:r>
              <a:rPr lang="en-US" sz="1050">
                <a:solidFill>
                  <a:srgbClr val="3A4A66"/>
                </a:solidFill>
                <a:latin typeface="Microsoft YaHei"/>
                <a:ea typeface="Microsoft YaHei"/>
              </a:rPr>
              <a:t xml:space="preserve"> Excel </a:t>
            </a: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手工拼表——一个周期下来两三天，数据还没法实时。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904875" y="5162550"/>
            <a:ext cx="2981325" cy="666750"/>
          </a:xfrm>
          <a:prstGeom prst="roundRect">
            <a:avLst>
              <a:gd name="adj" fmla="val 5714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904875" y="5162550"/>
            <a:ext cx="2981325" cy="666750"/>
          </a:xfrm>
          <a:custGeom>
            <a:pathLst>
              <a:path w="313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038225" y="5257800"/>
            <a:ext cx="26860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后果：总部只能</a:t>
            </a:r>
            <a:r>
              <a:rPr lang="en-US" sz="975">
                <a:solidFill>
                  <a:srgbClr val="B4560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事后看总分</a:t>
            </a:r>
            <a:r>
              <a:rPr lang="en-US" sz="975">
                <a:solidFill>
                  <a:srgbClr val="B4560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，发现不了过程问题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4333875" y="1428750"/>
            <a:ext cx="3524250" cy="470535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4333875" y="1428750"/>
            <a:ext cx="3524250" cy="4705350"/>
          </a:xfrm>
          <a:custGeom>
            <a:pathLst>
              <a:path w="370" h="494">
                <a:moveTo>
                  <a:pt x="357" y="0"/>
                </a:moveTo>
                <a:cubicBezTo>
                  <a:pt x="363" y="0"/>
                  <a:pt x="368" y="5"/>
                  <a:pt x="370" y="11"/>
                </a:cubicBezTo>
                <a:cubicBezTo>
                  <a:pt x="368" y="7"/>
                  <a:pt x="364" y="4"/>
                  <a:pt x="360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600575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733925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095875" y="17240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内容产能跟不上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600575" y="2171700"/>
            <a:ext cx="381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B5FD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057775" y="25717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5FD9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600575" y="2943225"/>
            <a:ext cx="2990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写一条美团文案，还要配图、排版、凑满</a:t>
            </a:r>
            <a:r>
              <a:rPr lang="en-US" sz="1050">
                <a:solidFill>
                  <a:srgbClr val="5A6B8C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600575" y="3257550"/>
            <a:ext cx="2990850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门诊没有专职设计，暑期档、开学季、活动期文案需求集中爆发。写文案、配图、查违禁词、调整主图，一轮下来两小时起。门店没有美术资源，集团统一的品牌视觉也落不了地。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4629150" y="5162550"/>
            <a:ext cx="2990850" cy="666750"/>
          </a:xfrm>
          <a:prstGeom prst="roundRect">
            <a:avLst>
              <a:gd name="adj" fmla="val 5714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4629150" y="5162550"/>
            <a:ext cx="2990850" cy="666750"/>
          </a:xfrm>
          <a:custGeom>
            <a:pathLst>
              <a:path w="314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762500" y="5257800"/>
            <a:ext cx="269557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后果：活动期只能仓促发图，质量与合规都难保证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8067675" y="1428750"/>
            <a:ext cx="3514725" cy="470535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8067675" y="1428750"/>
            <a:ext cx="3514725" cy="4705350"/>
          </a:xfrm>
          <a:custGeom>
            <a:pathLst>
              <a:path w="369" h="494">
                <a:moveTo>
                  <a:pt x="356" y="0"/>
                </a:moveTo>
                <a:cubicBezTo>
                  <a:pt x="362" y="0"/>
                  <a:pt x="367" y="5"/>
                  <a:pt x="369" y="11"/>
                </a:cubicBezTo>
                <a:cubicBezTo>
                  <a:pt x="367" y="7"/>
                  <a:pt x="363" y="4"/>
                  <a:pt x="359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8334375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8A3D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467725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8A3D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8829675" y="17240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判断全凭经验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334375" y="2171700"/>
            <a:ext cx="7524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8A3D"/>
                </a:solidFill>
                <a:latin typeface="Microsoft YaHei"/>
                <a:ea typeface="Microsoft YaHei"/>
              </a:rPr>
              <a:t>60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9163050" y="2571750"/>
            <a:ext cx="200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8A3D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334375" y="294322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的近</a:t>
            </a:r>
            <a:r>
              <a:rPr lang="en-US" sz="1050">
                <a:solidFill>
                  <a:srgbClr val="5A6B8C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天差评没被回复（抽样）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334375" y="3257550"/>
            <a:ext cx="2981325" cy="2028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差评要不要回、怎么回、差评背后是哪类问题；团购定价该定多少、和隔壁哪家比；这月该做哪个活动、拉哪个客——全看店长个人经验。人一走，判断就断档，经验也没法沉淀成集团资产。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8362950" y="5400675"/>
            <a:ext cx="2981325" cy="428625"/>
          </a:xfrm>
          <a:prstGeom prst="roundRect">
            <a:avLst>
              <a:gd name="adj" fmla="val 8889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8362950" y="5400675"/>
            <a:ext cx="2981325" cy="428625"/>
          </a:xfrm>
          <a:custGeom>
            <a:pathLst>
              <a:path w="313" h="4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44"/>
                </a:lnTo>
                <a:cubicBezTo>
                  <a:pt x="3" y="44"/>
                  <a:pt x="3" y="45"/>
                  <a:pt x="4" y="45"/>
                </a:cubicBezTo>
                <a:cubicBezTo>
                  <a:pt x="2" y="45"/>
                  <a:pt x="0" y="43"/>
                  <a:pt x="0" y="4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496300" y="5495925"/>
            <a:ext cx="26860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后果：好经验留在个人脑子里，集团拿不走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1201400" y="649605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0B2A6B"/>
              </a:gs>
              <a:gs pos="70000">
                <a:srgbClr val="1B5FD9"/>
              </a:gs>
              <a:gs pos="100000">
                <a:srgbClr val="1B5FD9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8191500" y="0"/>
            <a:ext cx="4000500" cy="914400"/>
          </a:xfrm>
          <a:prstGeom prst="rect">
            <a:avLst/>
          </a:prstGeom>
          <a:gradFill>
            <a:gsLst>
              <a:gs pos="0">
                <a:srgbClr val="1B5FD9">
                  <a:alpha val="0"/>
                </a:srgbClr>
              </a:gs>
              <a:gs pos="100000">
                <a:srgbClr val="35C8F0">
                  <a:alpha val="2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09600" y="3714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19150" y="228600"/>
            <a:ext cx="45720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一个工作台，串起美团经营全链路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457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看数据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判问题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产内容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管评价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给建议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4991100" y="114300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4991100" y="1143000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162550" y="14382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B5FD9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753100" y="1362075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看数据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753100" y="1590675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经营驾驶舱汇总评分、漏斗、评价、星级四维视图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4991100" y="2152650"/>
            <a:ext cx="66294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4991100" y="2152650"/>
            <a:ext cx="6629400" cy="904875"/>
          </a:xfrm>
          <a:custGeom>
            <a:pathLst>
              <a:path w="696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5162550" y="245745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B5FD9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753100" y="2371725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判问题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753100" y="2600325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竞品比价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项目结构分析，定位定价与品类缺口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4991100" y="3171825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4991100" y="3171825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162550" y="346710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5C8F0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753100" y="3390900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产内容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5753100" y="3619500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文案生成、套图生成、主图诊断、话术建议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4991100" y="4181475"/>
            <a:ext cx="66294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4991100" y="4181475"/>
            <a:ext cx="6629400" cy="904875"/>
          </a:xfrm>
          <a:custGeom>
            <a:pathLst>
              <a:path w="696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162550" y="44862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5C8F0"/>
                </a:solidFill>
                <a:latin typeface="Arial"/>
                <a:ea typeface="Arial"/>
              </a:rPr>
              <a:t>04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753100" y="4400550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管评价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5753100" y="4629150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差评智能分析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分级回复建议，不漏一条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4991100" y="520065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4991100" y="5200650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162550" y="549592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8A3D"/>
                </a:solidFill>
                <a:latin typeface="Arial"/>
                <a:ea typeface="Arial"/>
              </a:rPr>
              <a:t>05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5753100" y="5419725"/>
            <a:ext cx="5657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给建议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753100" y="5648325"/>
            <a:ext cx="56578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五维运营诊断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P0/P1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优先级行动项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609600" y="1143000"/>
            <a:ext cx="4095750" cy="4953000"/>
          </a:xfrm>
          <a:prstGeom prst="roundRect">
            <a:avLst>
              <a:gd name="adj" fmla="val 3721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57250" y="1390650"/>
            <a:ext cx="3600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经营闭环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57250" y="1647825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数据进来</a:t>
            </a:r>
            <a:r>
              <a:rPr lang="en-US" sz="900">
                <a:solidFill>
                  <a:srgbClr val="8FC4F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结论出去</a:t>
            </a:r>
            <a:r>
              <a:rPr lang="en-US" sz="900">
                <a:solidFill>
                  <a:srgbClr val="8FC4F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动作落地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857250" y="5219700"/>
            <a:ext cx="3600450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990600" y="55054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133475" y="5324475"/>
            <a:ext cx="31908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全部数据来自门店真实经营参谋截图，分析结论可回溯到具体数字</a:t>
            </a:r>
            <a:endParaRPr/>
          </a:p>
        </p:txBody>
      </p:sp>
      <p:pic>
        <p:nvPicPr>
          <p:cNvPr id="3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43000" y="2076450"/>
            <a:ext cx="3028950" cy="3028950"/>
          </a:xfrm>
          <a:prstGeom prst="rect">
            <a:avLst/>
          </a:prstGeom>
          <a:ln/>
        </p:spPr>
      </p:pic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03 / 15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7239000" y="0"/>
            <a:ext cx="4953000" cy="6858000"/>
          </a:xfrm>
          <a:prstGeom prst="rect">
            <a:avLst/>
          </a:prstGeom>
          <a:gradFill>
            <a:gsLst>
              <a:gs pos="0">
                <a:srgbClr val="35C8F0">
                  <a:alpha val="16000"/>
                </a:srgbClr>
              </a:gs>
              <a:gs pos="60000">
                <a:srgbClr val="35C8F0">
                  <a:alpha val="0"/>
                </a:srgbClr>
              </a:gs>
            </a:gsLst>
            <a:lin ang="66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42672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技术架构：轻量、可控、不中断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426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单文件前端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轻量后端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国产大模型</a:t>
            </a:r>
            <a:endParaRPr/>
          </a:p>
        </p:txBody>
      </p:sp>
      <p:pic>
        <p:nvPicPr>
          <p:cNvPr id="406" name=""/>
          <p:cNvPicPr>
            <a:picLocks noChangeAspect="1"/>
          </p:cNvPicPr>
          <p:nvPr/>
        </p:nvPicPr>
        <p:blipFill>
          <a:blip r:embed="rId1">
            <a:alphaModFix amt="40000"/>
          </a:blip>
          <a:srcRect l="0" t="889" r="0" b="889"/>
          <a:stretch>
            <a:fillRect/>
          </a:stretch>
        </p:blipFill>
        <p:spPr>
          <a:xfrm rot="0" flipH="0" flipV="0">
            <a:off x="10363200" y="304800"/>
            <a:ext cx="1219200" cy="514350"/>
          </a:xfrm>
          <a:prstGeom prst="rect">
            <a:avLst/>
          </a:prstGeom>
          <a:ln/>
        </p:spPr>
      </p:pic>
      <p:sp>
        <p:nvSpPr>
          <p:cNvPr id="407" name=""/>
          <p:cNvSpPr/>
          <p:nvPr/>
        </p:nvSpPr>
        <p:spPr>
          <a:xfrm rot="0" flipH="0" flipV="0">
            <a:off x="647700" y="1162050"/>
            <a:ext cx="10972800" cy="1181100"/>
          </a:xfrm>
          <a:prstGeom prst="roundRect">
            <a:avLst>
              <a:gd name="adj" fmla="val 967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47700" y="1162050"/>
            <a:ext cx="10972800" cy="1181100"/>
          </a:xfrm>
          <a:custGeom>
            <a:pathLst>
              <a:path w="1152" h="124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6"/>
                </a:lnTo>
                <a:cubicBezTo>
                  <a:pt x="4" y="120"/>
                  <a:pt x="7" y="123"/>
                  <a:pt x="10" y="124"/>
                </a:cubicBezTo>
                <a:cubicBezTo>
                  <a:pt x="4" y="123"/>
                  <a:pt x="0" y="118"/>
                  <a:pt x="0" y="11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76300" y="15525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接入层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76300" y="1733550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门店用户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1962150" y="1581150"/>
            <a:ext cx="7048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2028825" y="1666875"/>
            <a:ext cx="5715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经营驾驶舱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27622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28289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门诊采集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34480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35147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41338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42005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48196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48863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55054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5721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61912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62579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8770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9437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评价管理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75628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76295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运营诊断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82486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3153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647700" y="2457450"/>
            <a:ext cx="10972800" cy="1724025"/>
          </a:xfrm>
          <a:prstGeom prst="roundRect">
            <a:avLst>
              <a:gd name="adj" fmla="val 663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47700" y="2457450"/>
            <a:ext cx="10972800" cy="1724025"/>
          </a:xfrm>
          <a:custGeom>
            <a:pathLst>
              <a:path w="1152" h="18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73"/>
                </a:lnTo>
                <a:cubicBezTo>
                  <a:pt x="4" y="177"/>
                  <a:pt x="7" y="180"/>
                  <a:pt x="10" y="181"/>
                </a:cubicBezTo>
                <a:cubicBezTo>
                  <a:pt x="4" y="180"/>
                  <a:pt x="0" y="175"/>
                  <a:pt x="0" y="16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876300" y="30003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76300" y="3181350"/>
            <a:ext cx="8763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单文件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SPA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1962150" y="2847975"/>
            <a:ext cx="4638675" cy="942975"/>
          </a:xfrm>
          <a:prstGeom prst="roundRect">
            <a:avLst>
              <a:gd name="adj" fmla="val 8081"/>
            </a:avLst>
          </a:prstGeom>
          <a:solidFill>
            <a:srgbClr val="35C8F0">
              <a:alpha val="16000"/>
            </a:srgbClr>
          </a:solidFill>
          <a:ln w="12700">
            <a:solidFill>
              <a:srgbClr val="35C8F0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2095500" y="2981325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DE8FF"/>
                </a:solidFill>
                <a:latin typeface="Microsoft YaHei"/>
                <a:ea typeface="Microsoft YaHei"/>
              </a:rPr>
              <a:t>前端</a:t>
            </a:r>
            <a:r>
              <a:rPr lang="en-US" sz="1125" b="1">
                <a:solidFill>
                  <a:srgbClr val="ADE8FF"/>
                </a:solidFill>
                <a:latin typeface="Microsoft YaHei"/>
                <a:ea typeface="Microsoft YaHei"/>
              </a:rPr>
              <a:t xml:space="preserve"> meituan-agent.html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2095500" y="3209925"/>
            <a:ext cx="43719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单文件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HTML +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原生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JS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，零框架依赖，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个功能页面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移动端自适应（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414px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视口可直接拍照上传）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6715125" y="2847975"/>
            <a:ext cx="4638675" cy="942975"/>
          </a:xfrm>
          <a:prstGeom prst="roundRect">
            <a:avLst>
              <a:gd name="adj" fmla="val 8081"/>
            </a:avLst>
          </a:prstGeom>
          <a:solidFill>
            <a:srgbClr val="35C8F0">
              <a:alpha val="16000"/>
            </a:srgbClr>
          </a:solidFill>
          <a:ln w="12700">
            <a:solidFill>
              <a:srgbClr val="35C8F0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848475" y="2981325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DE8FF"/>
                </a:solidFill>
                <a:latin typeface="Microsoft YaHei"/>
                <a:ea typeface="Microsoft YaHei"/>
              </a:rPr>
              <a:t>后端</a:t>
            </a:r>
            <a:r>
              <a:rPr lang="en-US" sz="1125" b="1">
                <a:solidFill>
                  <a:srgbClr val="ADE8FF"/>
                </a:solidFill>
                <a:latin typeface="Microsoft YaHei"/>
                <a:ea typeface="Microsoft YaHei"/>
              </a:rPr>
              <a:t xml:space="preserve"> server.js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848475" y="3209925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>Node.js + Express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个业务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端点，负责模型编排、数据清洗与降级兜底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47700" y="4295775"/>
            <a:ext cx="10972800" cy="1495425"/>
          </a:xfrm>
          <a:prstGeom prst="roundRect">
            <a:avLst>
              <a:gd name="adj" fmla="val 7643"/>
            </a:avLst>
          </a:prstGeom>
          <a:gradFill>
            <a:gsLst>
              <a:gs pos="0">
                <a:srgbClr val="35C8F0">
                  <a:alpha val="24000"/>
                </a:srgbClr>
              </a:gs>
              <a:gs pos="100000">
                <a:srgbClr val="35C8F0">
                  <a:alpha val="1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647700" y="4295775"/>
            <a:ext cx="10972800" cy="1495425"/>
          </a:xfrm>
          <a:custGeom>
            <a:pathLst>
              <a:path w="1152" h="15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49"/>
                </a:lnTo>
                <a:cubicBezTo>
                  <a:pt x="4" y="153"/>
                  <a:pt x="7" y="156"/>
                  <a:pt x="10" y="157"/>
                </a:cubicBezTo>
                <a:cubicBezTo>
                  <a:pt x="4" y="156"/>
                  <a:pt x="0" y="151"/>
                  <a:pt x="0" y="14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76300" y="4838700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模型层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76300" y="5019675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火山引擎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1962150" y="4686300"/>
            <a:ext cx="4638675" cy="723900"/>
          </a:xfrm>
          <a:prstGeom prst="roundRect">
            <a:avLst>
              <a:gd name="adj" fmla="val 10526"/>
            </a:avLst>
          </a:prstGeom>
          <a:solidFill>
            <a:srgbClr val="0B2A6B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2095500" y="48768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2238375" y="4819650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图像生成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2095500" y="5048250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套图批量生成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主图质量诊断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门店实景素材，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2028×2028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出图已实测可用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6715125" y="4686300"/>
            <a:ext cx="4638675" cy="723900"/>
          </a:xfrm>
          <a:prstGeom prst="roundRect">
            <a:avLst>
              <a:gd name="adj" fmla="val 10526"/>
            </a:avLst>
          </a:prstGeom>
          <a:solidFill>
            <a:srgbClr val="0B2A6B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848475" y="48768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6991350" y="481965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豆包视觉模型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OCR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848475" y="5048250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经营参谋截图识别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5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个端点自动探测降级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权限开通即启用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E93C8"/>
                </a:solidFill>
                <a:latin typeface="Arial"/>
                <a:ea typeface="Arial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57" name=""/>
          <p:cNvPicPr>
            <a:picLocks noChangeAspect="1"/>
          </p:cNvPicPr>
          <p:nvPr/>
        </p:nvPicPr>
        <p:blipFill>
          <a:blip r:embed="rId1"/>
          <a:srcRect l="1159" t="0" r="1159" b="0"/>
          <a:stretch>
            <a:fillRect/>
          </a:stretch>
        </p:blipFill>
        <p:spPr>
          <a:xfrm rot="0" flipH="0" flipV="0">
            <a:off x="0" y="0"/>
            <a:ext cx="12192000" cy="990600"/>
          </a:xfrm>
          <a:prstGeom prst="rect">
            <a:avLst/>
          </a:prstGeom>
          <a:ln/>
        </p:spPr>
      </p:pic>
      <p:sp>
        <p:nvSpPr>
          <p:cNvPr id="458" name=""/>
          <p:cNvSpPr/>
          <p:nvPr/>
        </p:nvSpPr>
        <p:spPr>
          <a:xfrm rot="0" flipH="0" flipV="0">
            <a:off x="0" y="0"/>
            <a:ext cx="12192000" cy="990600"/>
          </a:xfrm>
          <a:prstGeom prst="rect">
            <a:avLst/>
          </a:prstGeom>
          <a:gradFill>
            <a:gsLst>
              <a:gs pos="0">
                <a:srgbClr val="0B2A6B">
                  <a:alpha val="95000"/>
                </a:srgbClr>
              </a:gs>
              <a:gs pos="55000">
                <a:srgbClr val="1B5FD9">
                  <a:alpha val="85000"/>
                </a:srgbClr>
              </a:gs>
              <a:gs pos="100000">
                <a:srgbClr val="1B5FD9">
                  <a:alpha val="6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609600" y="3714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19150" y="228600"/>
            <a:ext cx="45720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五个场景，全部对齐集团需求规格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457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《爱尔小龙虾美团商家版需求规格说明书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v1.0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》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>REQ-01 ~ REQ-05</a:t>
            </a:r>
            <a:endParaRPr/>
          </a:p>
        </p:txBody>
      </p:sp>
      <p:pic>
        <p:nvPicPr>
          <p:cNvPr id="462" name=""/>
          <p:cNvPicPr>
            <a:picLocks noChangeAspect="1"/>
          </p:cNvPicPr>
          <p:nvPr/>
        </p:nvPicPr>
        <p:blipFill>
          <a:blip r:embed="rId2">
            <a:alphaModFix amt="42000"/>
          </a:blip>
          <a:srcRect l="0" t="889" r="0" b="889"/>
          <a:stretch>
            <a:fillRect/>
          </a:stretch>
        </p:blipFill>
        <p:spPr>
          <a:xfrm rot="0" flipH="0" flipV="0">
            <a:off x="10363200" y="247650"/>
            <a:ext cx="1219200" cy="514350"/>
          </a:xfrm>
          <a:prstGeom prst="rect">
            <a:avLst/>
          </a:prstGeom>
          <a:ln/>
        </p:spPr>
      </p:pic>
      <p:sp>
        <p:nvSpPr>
          <p:cNvPr id="463" name=""/>
          <p:cNvSpPr/>
          <p:nvPr/>
        </p:nvSpPr>
        <p:spPr>
          <a:xfrm rot="0" flipH="0" flipV="0">
            <a:off x="60960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60960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80010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8582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REQ-01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800100" y="1781175"/>
            <a:ext cx="1714500" cy="457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经营数据采集与驾驶舱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00100" y="2352675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经营参谋截图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 / API /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页面操作三种方式采集，统一汇总至集团后台，形成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维经营驾驶舱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800100" y="32480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914400" y="31813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个界面分图上传指引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800100" y="3514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914400" y="34480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门店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周期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数据类型三维筛选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800100" y="3781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914400" y="37147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经营评分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漏斗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评价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星级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800100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914400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914400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经营驾驶舱、门诊采集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2828925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2828925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3019425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3105150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REQ-02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3019425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项目智能分析与竞争定价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3019425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综合竞品门店评分、销量、价格带，判断项目卖得好不好、定价合不合理，识别价格缺口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3019425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3133725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竞品门店横向对比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3019425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3133725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价格带缺口识别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3019425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3133725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高销量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低销量双向预警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3019425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3133725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3133725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竞品分析、运营诊断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504825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504825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523875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532447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5238750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图片与营销素材智能生成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5238750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总部按月提供品牌视觉模板，门店一键生成符合集团视觉规范的文案、套图与主图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5238750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5353050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总部模板机制下发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5238750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5353050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批量出图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5238750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5353050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主图构图与合规诊断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5238750" y="5057775"/>
            <a:ext cx="1714500" cy="809625"/>
          </a:xfrm>
          <a:prstGeom prst="roundRect">
            <a:avLst>
              <a:gd name="adj" fmla="val 8235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5353050" y="515302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5353050" y="5343525"/>
            <a:ext cx="14859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文案生成、套图生成、主图诊断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7267575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7267575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7458075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7543800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7458075" y="1781175"/>
            <a:ext cx="1714500" cy="457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差评智能分析与回复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7458075" y="2352675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支持文本粘贴与差评截图输入，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OCR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提取内容后自动分类并生成分层回复建议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7458075" y="32480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7572375" y="31813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差评自动分类归因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7458075" y="3514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7572375" y="34480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分层回复话术建议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7458075" y="3781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7572375" y="37147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文案润色与合规检查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7458075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7572375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572375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评价管理、文案优化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948690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948690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967740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976312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9677400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流量活动与促销智能决策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9677400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持续监测经营指标，识别异常波动，主动输出运营策略与活动建议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9677400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9791700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经营指标异常识别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9677400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9791700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分场景转化话术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9677400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9791700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活动与促销策略建议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9677400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9791700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B4560F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9791700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D96B15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5248275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0B2A6B"/>
                </a:solidFill>
                <a:latin typeface="Microsoft YaHei"/>
                <a:ea typeface="Microsoft YaHei"/>
              </a:rPr>
              <a:t>经营驾驶舱：一眼看清</a:t>
            </a:r>
            <a:r>
              <a:rPr lang="en-US" sz="240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2400" b="1">
                <a:solidFill>
                  <a:srgbClr val="0B2A6B"/>
                </a:solidFill>
                <a:latin typeface="Microsoft YaHei"/>
                <a:ea typeface="Microsoft YaHei"/>
              </a:rPr>
              <a:t>家门店的家底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5248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经营评分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转化漏斗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评价分析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星级分析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四维联动</a:t>
            </a:r>
            <a:endParaRPr/>
          </a:p>
        </p:txBody>
      </p:sp>
      <p:pic>
        <p:nvPicPr>
          <p:cNvPr id="545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673" r="0" b="673"/>
          <a:stretch>
            <a:fillRect/>
          </a:stretch>
        </p:blipFill>
        <p:spPr>
          <a:xfrm rot="0" flipH="0" flipV="0">
            <a:off x="10458450" y="304800"/>
            <a:ext cx="1123950" cy="476250"/>
          </a:xfrm>
          <a:prstGeom prst="rect">
            <a:avLst/>
          </a:prstGeom>
          <a:ln/>
        </p:spPr>
      </p:pic>
      <p:sp>
        <p:nvSpPr>
          <p:cNvPr id="546" name=""/>
          <p:cNvSpPr/>
          <p:nvPr/>
        </p:nvSpPr>
        <p:spPr>
          <a:xfrm rot="0" flipH="0" flipV="0">
            <a:off x="533400" y="1123950"/>
            <a:ext cx="6724650" cy="4933950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228600" dist="57150" dir="5400000">
              <a:srgbClr val="0B2A6B">
                <a:alpha val="12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547" name=""/>
          <p:cNvPicPr>
            <a:picLocks noChangeAspect="1"/>
          </p:cNvPicPr>
          <p:nvPr/>
        </p:nvPicPr>
        <p:blipFill>
          <a:blip r:embed="rId2"/>
          <a:srcRect l="6952" t="0" r="6952" b="0"/>
          <a:stretch>
            <a:fillRect/>
          </a:stretch>
        </p:blipFill>
        <p:spPr>
          <a:xfrm rot="0" flipH="0" flipV="0">
            <a:off x="628650" y="1219200"/>
            <a:ext cx="6534150" cy="4743450"/>
          </a:xfrm>
          <a:prstGeom prst="roundRect">
            <a:avLst>
              <a:gd name="adj" fmla="val 1606"/>
            </a:avLst>
          </a:prstGeom>
          <a:ln/>
        </p:spPr>
      </p:pic>
      <p:sp>
        <p:nvSpPr>
          <p:cNvPr id="548" name=""/>
          <p:cNvSpPr/>
          <p:nvPr/>
        </p:nvSpPr>
        <p:spPr>
          <a:xfrm rot="0" flipH="0" flipV="0">
            <a:off x="7448550" y="1123950"/>
            <a:ext cx="4210050" cy="1504950"/>
          </a:xfrm>
          <a:prstGeom prst="roundRect">
            <a:avLst>
              <a:gd name="adj" fmla="val 7595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30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620000" y="1295400"/>
            <a:ext cx="386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全部门店平均总分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620000" y="1476375"/>
            <a:ext cx="11525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35C8F0"/>
                </a:solidFill>
                <a:latin typeface="Arial"/>
                <a:ea typeface="Arial"/>
              </a:rPr>
              <a:t>62.9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8848725" y="18669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ADE8FF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7620000" y="2247900"/>
            <a:ext cx="38671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累计总分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8306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最高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105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最低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7448550" y="272415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581900" y="282892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服务质量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10953750" y="2828925"/>
            <a:ext cx="352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5C8F0"/>
                </a:solidFill>
                <a:latin typeface="Arial"/>
                <a:ea typeface="Arial"/>
              </a:rPr>
              <a:t>16.6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11334750" y="282892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7581900" y="320992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97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7448550" y="354330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7581900" y="364807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基础信息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1049000" y="3648075"/>
            <a:ext cx="257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Arial"/>
                <a:ea typeface="Arial"/>
              </a:rPr>
              <a:t>7.3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1334750" y="364807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581900" y="402907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62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7448550" y="436245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7581900" y="446722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商品货架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11096625" y="4467225"/>
            <a:ext cx="20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Arial"/>
                <a:ea typeface="Arial"/>
              </a:rPr>
              <a:t>19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1334750" y="446722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7581900" y="484822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61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7448550" y="518160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7581900" y="528637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交易表现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10953750" y="5286375"/>
            <a:ext cx="352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8A3D"/>
                </a:solidFill>
                <a:latin typeface="Arial"/>
                <a:ea typeface="Arial"/>
              </a:rPr>
              <a:t>18.1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11334750" y="528637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40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7581900" y="566737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仅</a:t>
            </a: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 21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7581900" y="310515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7581900" y="3105150"/>
            <a:ext cx="3276600" cy="571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7581900" y="392430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7581900" y="3924300"/>
            <a:ext cx="2876550" cy="571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7581900" y="474345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7581900" y="4743450"/>
            <a:ext cx="2486025" cy="571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7581900" y="556260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7581900" y="5562600"/>
            <a:ext cx="177165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609600" y="653415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数据源：临沂爱尔眼科金水河畔店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美团经营参谋真实数据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1201400" y="653415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83870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门诊采集：</a:t>
            </a: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张截图，替代一张手填表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83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按界面分图上传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AI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识别提取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生成诊断报告</a:t>
            </a:r>
            <a:endParaRPr/>
          </a:p>
        </p:txBody>
      </p:sp>
      <p:pic>
        <p:nvPicPr>
          <p:cNvPr id="588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589" name=""/>
          <p:cNvSpPr/>
          <p:nvPr/>
        </p:nvSpPr>
        <p:spPr>
          <a:xfrm rot="0" flipH="0" flipV="0">
            <a:off x="533400" y="1028700"/>
            <a:ext cx="5676900" cy="5048250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209550" dist="57150" dir="5400000">
              <a:srgbClr val="0B2A6B">
                <a:alpha val="12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590" name=""/>
          <p:cNvPicPr>
            <a:picLocks noChangeAspect="1"/>
          </p:cNvPicPr>
          <p:nvPr/>
        </p:nvPicPr>
        <p:blipFill>
          <a:blip r:embed="rId2"/>
          <a:srcRect l="14737" t="0" r="14737" b="0"/>
          <a:stretch>
            <a:fillRect/>
          </a:stretch>
        </p:blipFill>
        <p:spPr>
          <a:xfrm rot="0" flipH="0" flipV="0">
            <a:off x="609600" y="1104900"/>
            <a:ext cx="5524500" cy="4895850"/>
          </a:xfrm>
          <a:prstGeom prst="roundRect">
            <a:avLst>
              <a:gd name="adj" fmla="val 1362"/>
            </a:avLst>
          </a:prstGeom>
          <a:ln/>
        </p:spPr>
      </p:pic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6343650" y="103822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125" b="1">
                <a:solidFill>
                  <a:srgbClr val="0B2A6B"/>
                </a:solidFill>
                <a:latin typeface="Microsoft YaHei"/>
                <a:ea typeface="Microsoft YaHei"/>
              </a:rPr>
              <a:t>个界面，逐个对应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9001125" y="1028700"/>
            <a:ext cx="752475" cy="180975"/>
          </a:xfrm>
          <a:prstGeom prst="roundRect">
            <a:avLst>
              <a:gd name="adj" fmla="val 21053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9077325" y="1057275"/>
            <a:ext cx="6000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FFFFF"/>
                </a:solidFill>
                <a:latin typeface="Microsoft YaHei"/>
                <a:ea typeface="Microsoft YaHei"/>
              </a:rPr>
              <a:t>分图上传指引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6372225" y="130492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6372225" y="130492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486525" y="1514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562725" y="15525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1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6791325" y="14478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星级概览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6791325" y="16383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点评星级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美团星级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昨日新增评价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6372225" y="2000250"/>
            <a:ext cx="34099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6372225" y="2000250"/>
            <a:ext cx="3409950" cy="609600"/>
          </a:xfrm>
          <a:custGeom>
            <a:pathLst>
              <a:path w="358" h="6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9"/>
                </a:lnTo>
                <a:cubicBezTo>
                  <a:pt x="3" y="61"/>
                  <a:pt x="5" y="63"/>
                  <a:pt x="7" y="64"/>
                </a:cubicBezTo>
                <a:cubicBezTo>
                  <a:pt x="3" y="63"/>
                  <a:pt x="0" y="60"/>
                  <a:pt x="0" y="5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6486525" y="2200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6562725" y="22383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2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6791325" y="21336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评价数据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6791325" y="23241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新增评价数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累计评价数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好评率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6372225" y="2686050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372225" y="2686050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6486525" y="28956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6562725" y="29337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3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791325" y="282892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客流数据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6791325" y="301942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曝光人数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访问人数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意向转化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6372225" y="338137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372225" y="338137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6486525" y="35909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6562725" y="36290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4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791325" y="352425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交易数据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791325" y="371475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下单人数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成交金额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客单价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6372225" y="4076700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372225" y="4076700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486525" y="4286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6562725" y="43243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5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6791325" y="421957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经营评分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791325" y="441007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交易表现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服务质量分项得分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6372225" y="4772025"/>
            <a:ext cx="34099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6372225" y="4772025"/>
            <a:ext cx="3409950" cy="609600"/>
          </a:xfrm>
          <a:custGeom>
            <a:pathLst>
              <a:path w="358" h="6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9"/>
                </a:lnTo>
                <a:cubicBezTo>
                  <a:pt x="3" y="61"/>
                  <a:pt x="5" y="63"/>
                  <a:pt x="7" y="64"/>
                </a:cubicBezTo>
                <a:cubicBezTo>
                  <a:pt x="3" y="63"/>
                  <a:pt x="0" y="60"/>
                  <a:pt x="0" y="5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6486525" y="49720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562725" y="50101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6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791325" y="490537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基础信息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791325" y="509587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门店名称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地址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营业时间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6372225" y="545782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6372225" y="545782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6486525" y="56673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6562725" y="57054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7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6791325" y="56007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服务质量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791325" y="57912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响应速度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履约完成率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9886950" y="1028700"/>
            <a:ext cx="1771650" cy="320040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9972675" y="1104900"/>
            <a:ext cx="1600200" cy="3048000"/>
          </a:xfrm>
          <a:prstGeom prst="rect">
            <a:avLst/>
          </a:prstGeom>
          <a:ln w="38100">
            <a:solidFill>
              <a:srgbClr val="0B2A6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38" name=""/>
          <p:cNvPicPr>
            <a:picLocks noChangeAspect="1"/>
          </p:cNvPicPr>
          <p:nvPr/>
        </p:nvPicPr>
        <p:blipFill>
          <a:blip r:embed="rId3"/>
          <a:srcRect l="0" t="5994" r="0" b="5994"/>
          <a:stretch>
            <a:fillRect/>
          </a:stretch>
        </p:blipFill>
        <p:spPr>
          <a:xfrm rot="0" flipH="0" flipV="0">
            <a:off x="9972675" y="1104900"/>
            <a:ext cx="1600200" cy="3048000"/>
          </a:xfrm>
          <a:prstGeom prst="roundRect">
            <a:avLst>
              <a:gd name="adj" fmla="val 4762"/>
            </a:avLst>
          </a:prstGeom>
          <a:ln/>
        </p:spPr>
      </p:pic>
      <p:sp>
        <p:nvSpPr>
          <p:cNvPr id="639" name=""/>
          <p:cNvSpPr/>
          <p:nvPr/>
        </p:nvSpPr>
        <p:spPr>
          <a:xfrm rot="0" flipH="0" flipV="0">
            <a:off x="9886950" y="4324350"/>
            <a:ext cx="1771650" cy="1752600"/>
          </a:xfrm>
          <a:prstGeom prst="roundRect">
            <a:avLst>
              <a:gd name="adj" fmla="val 5435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30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10020300" y="4457700"/>
            <a:ext cx="1504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35C8F0"/>
                </a:solidFill>
                <a:latin typeface="Microsoft YaHei"/>
                <a:ea typeface="Microsoft YaHei"/>
              </a:rPr>
              <a:t>店长在手机上就能做完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10020300" y="4667250"/>
            <a:ext cx="15049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788">
                <a:solidFill>
                  <a:srgbClr val="C8D9F5"/>
                </a:solidFill>
                <a:latin typeface="Microsoft YaHei"/>
                <a:ea typeface="Microsoft YaHei"/>
              </a:rPr>
              <a:t xml:space="preserve">414px </a:t>
            </a:r>
            <a:r>
              <a:rPr lang="zh-CN" sz="788">
                <a:solidFill>
                  <a:srgbClr val="C8D9F5"/>
                </a:solidFill>
                <a:latin typeface="Microsoft YaHei"/>
                <a:ea typeface="Microsoft YaHei"/>
              </a:rPr>
              <a:t>视口适配，支持相机拍照、相册选图、剪贴板粘贴，底部常驻操作条，不用回办公室开电脑。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7048500" y="-1143000"/>
            <a:ext cx="5905500" cy="5905500"/>
          </a:xfrm>
          <a:custGeom>
            <a:pathLst>
              <a:path w="620" h="620">
                <a:moveTo>
                  <a:pt x="540" y="620"/>
                </a:moveTo>
                <a:lnTo>
                  <a:pt x="0" y="620"/>
                </a:lnTo>
                <a:lnTo>
                  <a:pt x="0" y="120"/>
                </a:lnTo>
                <a:lnTo>
                  <a:pt x="540" y="120"/>
                </a:lnTo>
                <a:close/>
              </a:path>
            </a:pathLst>
          </a:custGeom>
          <a:gradFill>
            <a:gsLst>
              <a:gs pos="0">
                <a:srgbClr val="35C8F0">
                  <a:alpha val="20000"/>
                </a:srgbClr>
              </a:gs>
              <a:gs pos="68000">
                <a:srgbClr val="35C8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1719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内容生产：从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小时到分钟级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17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文案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套图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主图诊断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文案优化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话术建议，五件套全在同一个工作台</a:t>
            </a:r>
            <a:endParaRPr/>
          </a:p>
        </p:txBody>
      </p:sp>
      <p:pic>
        <p:nvPicPr>
          <p:cNvPr id="650" name=""/>
          <p:cNvPicPr>
            <a:picLocks noChangeAspect="1"/>
          </p:cNvPicPr>
          <p:nvPr/>
        </p:nvPicPr>
        <p:blipFill>
          <a:blip r:embed="rId1">
            <a:alphaModFix amt="38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651" name=""/>
          <p:cNvSpPr/>
          <p:nvPr/>
        </p:nvSpPr>
        <p:spPr>
          <a:xfrm rot="0" flipH="0" flipV="0">
            <a:off x="533400" y="990600"/>
            <a:ext cx="6000750" cy="2457450"/>
          </a:xfrm>
          <a:prstGeom prst="roundRect">
            <a:avLst>
              <a:gd name="adj" fmla="val 348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52" name=""/>
          <p:cNvPicPr>
            <a:picLocks noChangeAspect="1"/>
          </p:cNvPicPr>
          <p:nvPr/>
        </p:nvPicPr>
        <p:blipFill>
          <a:blip r:embed="rId2"/>
          <a:srcRect l="0" t="18155" r="0" b="18155"/>
          <a:stretch>
            <a:fillRect/>
          </a:stretch>
        </p:blipFill>
        <p:spPr>
          <a:xfrm rot="0" flipH="0" flipV="0">
            <a:off x="590550" y="1047750"/>
            <a:ext cx="5886450" cy="2343150"/>
          </a:xfrm>
          <a:prstGeom prst="roundRect">
            <a:avLst>
              <a:gd name="adj" fmla="val 2033"/>
            </a:avLst>
          </a:prstGeom>
          <a:ln/>
        </p:spPr>
      </p:pic>
      <p:sp>
        <p:nvSpPr>
          <p:cNvPr id="653" name=""/>
          <p:cNvSpPr/>
          <p:nvPr/>
        </p:nvSpPr>
        <p:spPr>
          <a:xfrm rot="0" flipH="0" flipV="0">
            <a:off x="533400" y="3533775"/>
            <a:ext cx="2962275" cy="2266950"/>
          </a:xfrm>
          <a:prstGeom prst="roundRect">
            <a:avLst>
              <a:gd name="adj" fmla="val 37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54" name=""/>
          <p:cNvPicPr>
            <a:picLocks noChangeAspect="1"/>
          </p:cNvPicPr>
          <p:nvPr/>
        </p:nvPicPr>
        <p:blipFill>
          <a:blip r:embed="rId3"/>
          <a:srcRect l="8655" t="0" r="8655" b="0"/>
          <a:stretch>
            <a:fillRect/>
          </a:stretch>
        </p:blipFill>
        <p:spPr>
          <a:xfrm rot="0" flipH="0" flipV="0">
            <a:off x="590550" y="3590925"/>
            <a:ext cx="2847975" cy="2152650"/>
          </a:xfrm>
          <a:prstGeom prst="roundRect">
            <a:avLst>
              <a:gd name="adj" fmla="val 2212"/>
            </a:avLst>
          </a:prstGeom>
          <a:ln/>
        </p:spPr>
      </p:pic>
      <p:sp>
        <p:nvSpPr>
          <p:cNvPr id="655" name=""/>
          <p:cNvSpPr/>
          <p:nvPr/>
        </p:nvSpPr>
        <p:spPr>
          <a:xfrm rot="0" flipH="0" flipV="0">
            <a:off x="3581400" y="3533775"/>
            <a:ext cx="2952750" cy="2266950"/>
          </a:xfrm>
          <a:prstGeom prst="roundRect">
            <a:avLst>
              <a:gd name="adj" fmla="val 37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56" name=""/>
          <p:cNvPicPr>
            <a:picLocks noChangeAspect="1"/>
          </p:cNvPicPr>
          <p:nvPr/>
        </p:nvPicPr>
        <p:blipFill>
          <a:blip r:embed="rId4"/>
          <a:srcRect l="8794" t="0" r="8794" b="0"/>
          <a:stretch>
            <a:fillRect/>
          </a:stretch>
        </p:blipFill>
        <p:spPr>
          <a:xfrm rot="0" flipH="0" flipV="0">
            <a:off x="3638550" y="3590925"/>
            <a:ext cx="2838450" cy="2152650"/>
          </a:xfrm>
          <a:prstGeom prst="roundRect">
            <a:avLst>
              <a:gd name="adj" fmla="val 2212"/>
            </a:avLst>
          </a:prstGeom>
          <a:ln/>
        </p:spPr>
      </p:pic>
      <p:sp>
        <p:nvSpPr>
          <p:cNvPr id="657" name=""/>
          <p:cNvSpPr/>
          <p:nvPr/>
        </p:nvSpPr>
        <p:spPr>
          <a:xfrm rot="0" flipH="0" flipV="0">
            <a:off x="6715125" y="990600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6715125" y="990600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6848475" y="11906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7496175" y="121920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7543800" y="122872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35C8F0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6848475" y="139065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按项目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人群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语气出多版本文案，直接可用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6715125" y="1857375"/>
            <a:ext cx="4972050" cy="77152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6715125" y="1857375"/>
            <a:ext cx="4972050" cy="771525"/>
          </a:xfrm>
          <a:custGeom>
            <a:pathLst>
              <a:path w="522" h="81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5"/>
                </a:lnTo>
                <a:cubicBezTo>
                  <a:pt x="3" y="78"/>
                  <a:pt x="5" y="80"/>
                  <a:pt x="8" y="81"/>
                </a:cubicBezTo>
                <a:cubicBezTo>
                  <a:pt x="3" y="80"/>
                  <a:pt x="0" y="76"/>
                  <a:pt x="0" y="72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6848475" y="20478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7496175" y="207645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7543800" y="208597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35C8F0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6848475" y="224790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批量出图，统一集团品牌视觉与尺寸规范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6715125" y="2714625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6715125" y="2714625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ADE8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6848475" y="29146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7496175" y="2943225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7543800" y="2952750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ADE8FF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6848475" y="3114675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构图、卖点、合规三维打分，指出具体改哪一处</a:t>
            </a:r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6715125" y="3581400"/>
            <a:ext cx="4972050" cy="77152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6715125" y="3581400"/>
            <a:ext cx="4972050" cy="771525"/>
          </a:xfrm>
          <a:custGeom>
            <a:pathLst>
              <a:path w="522" h="81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5"/>
                </a:lnTo>
                <a:cubicBezTo>
                  <a:pt x="3" y="78"/>
                  <a:pt x="5" y="80"/>
                  <a:pt x="8" y="81"/>
                </a:cubicBezTo>
                <a:cubicBezTo>
                  <a:pt x="3" y="80"/>
                  <a:pt x="0" y="76"/>
                  <a:pt x="0" y="72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ADE8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6848475" y="3771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7496175" y="3800475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7543800" y="3810000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ADE8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6848475" y="3971925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原有文案润色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违禁词与医疗广告合规检查</a:t>
            </a:r>
            <a:endParaRPr/>
          </a:p>
        </p:txBody>
      </p:sp>
      <p:sp>
        <p:nvSpPr>
          <p:cNvPr id="681" name=""/>
          <p:cNvSpPr/>
          <p:nvPr/>
        </p:nvSpPr>
        <p:spPr>
          <a:xfrm rot="0" flipH="0" flipV="0">
            <a:off x="6715125" y="4438650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715125" y="4438650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848475" y="46386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7496175" y="466725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7543800" y="467677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FF8A3D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6848475" y="483870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咨询、到店、术后随访分场景转化话术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6686550" y="5305425"/>
            <a:ext cx="4972050" cy="752475"/>
          </a:xfrm>
          <a:prstGeom prst="roundRect">
            <a:avLst>
              <a:gd name="adj" fmla="val 11392"/>
            </a:avLst>
          </a:prstGeom>
          <a:gradFill>
            <a:gsLst>
              <a:gs pos="0">
                <a:srgbClr val="35C8F0">
                  <a:alpha val="24000"/>
                </a:srgbClr>
              </a:gs>
              <a:gs pos="100000">
                <a:srgbClr val="35C8F0">
                  <a:alpha val="8000"/>
                </a:srgbClr>
              </a:gs>
            </a:gsLst>
            <a:lin ang="18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6867525" y="5429250"/>
            <a:ext cx="180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35C8F0"/>
                </a:solidFill>
                <a:latin typeface="Arial"/>
                <a:ea typeface="Arial"/>
              </a:rPr>
              <a:t>5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6810375" y="581977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FC4F8"/>
                </a:solidFill>
                <a:latin typeface="Microsoft YaHei"/>
                <a:ea typeface="Microsoft YaHei"/>
              </a:rPr>
              <a:t>类能力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7229475" y="5505450"/>
            <a:ext cx="9525" cy="3619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7372350" y="5581650"/>
            <a:ext cx="4162425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C8D9F5"/>
                </a:solidFill>
                <a:latin typeface="Microsoft YaHei"/>
                <a:ea typeface="Microsoft YaHei"/>
              </a:rPr>
              <a:t>一次生成后可原地改写、换语气、再出图，不用在多个工具间来回搬运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1210925" y="65817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6E93C8"/>
                </a:solidFill>
                <a:latin typeface="Arial"/>
                <a:ea typeface="Arial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2862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评价与诊断：把差评当成经营线索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28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差评分类归因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分层回复建议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五维体检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P0/P1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行动项</a:t>
            </a:r>
            <a:endParaRPr/>
          </a:p>
        </p:txBody>
      </p:sp>
      <p:pic>
        <p:nvPicPr>
          <p:cNvPr id="699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700" name=""/>
          <p:cNvSpPr/>
          <p:nvPr/>
        </p:nvSpPr>
        <p:spPr>
          <a:xfrm rot="0" flipH="0" flipV="0">
            <a:off x="533400" y="971550"/>
            <a:ext cx="4762500" cy="2295525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01" name=""/>
          <p:cNvPicPr>
            <a:picLocks noChangeAspect="1"/>
          </p:cNvPicPr>
          <p:nvPr/>
        </p:nvPicPr>
        <p:blipFill>
          <a:blip r:embed="rId2"/>
          <a:srcRect l="0" t="12809" r="0" b="12809"/>
          <a:stretch>
            <a:fillRect/>
          </a:stretch>
        </p:blipFill>
        <p:spPr>
          <a:xfrm rot="0" flipH="0" flipV="0">
            <a:off x="609600" y="1047750"/>
            <a:ext cx="4610100" cy="2143125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702" name=""/>
          <p:cNvSpPr/>
          <p:nvPr/>
        </p:nvSpPr>
        <p:spPr>
          <a:xfrm rot="0" flipH="0" flipV="0">
            <a:off x="5429250" y="1666875"/>
            <a:ext cx="514350" cy="180975"/>
          </a:xfrm>
          <a:prstGeom prst="roundRect">
            <a:avLst>
              <a:gd name="adj" fmla="val 21053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5505450" y="1695450"/>
            <a:ext cx="361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038850" y="16573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差评智能分析与回复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5429250" y="1933575"/>
            <a:ext cx="6229350" cy="2381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贴一条差评、或者直接上传截图，系统自动判断它属于哪类问题、该用什么口径回，给出可直接使用的回复稿。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5429250" y="2276475"/>
            <a:ext cx="1504950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7" name=""/>
          <p:cNvSpPr/>
          <p:nvPr/>
        </p:nvSpPr>
        <p:spPr>
          <a:xfrm rot="0" flipH="0" flipV="0">
            <a:off x="5429250" y="2276475"/>
            <a:ext cx="1504950" cy="323850"/>
          </a:xfrm>
          <a:custGeom>
            <a:pathLst>
              <a:path w="158" h="34">
                <a:moveTo>
                  <a:pt x="152" y="0"/>
                </a:moveTo>
                <a:cubicBezTo>
                  <a:pt x="155" y="0"/>
                  <a:pt x="157" y="2"/>
                  <a:pt x="158" y="5"/>
                </a:cubicBezTo>
                <a:cubicBezTo>
                  <a:pt x="157" y="3"/>
                  <a:pt x="156" y="2"/>
                  <a:pt x="154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5924550" y="2362200"/>
            <a:ext cx="5238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等待时间长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7010400" y="2276475"/>
            <a:ext cx="1495425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7010400" y="2276475"/>
            <a:ext cx="1495425" cy="323850"/>
          </a:xfrm>
          <a:custGeom>
            <a:pathLst>
              <a:path w="157" h="34">
                <a:moveTo>
                  <a:pt x="151" y="0"/>
                </a:moveTo>
                <a:cubicBezTo>
                  <a:pt x="154" y="0"/>
                  <a:pt x="156" y="2"/>
                  <a:pt x="157" y="5"/>
                </a:cubicBezTo>
                <a:cubicBezTo>
                  <a:pt x="156" y="3"/>
                  <a:pt x="155" y="2"/>
                  <a:pt x="153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1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7553325" y="2362200"/>
            <a:ext cx="4191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服务态度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8582025" y="2276475"/>
            <a:ext cx="1504950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8582025" y="2276475"/>
            <a:ext cx="1504950" cy="323850"/>
          </a:xfrm>
          <a:custGeom>
            <a:pathLst>
              <a:path w="158" h="34">
                <a:moveTo>
                  <a:pt x="152" y="0"/>
                </a:moveTo>
                <a:cubicBezTo>
                  <a:pt x="155" y="0"/>
                  <a:pt x="157" y="2"/>
                  <a:pt x="158" y="5"/>
                </a:cubicBezTo>
                <a:cubicBezTo>
                  <a:pt x="157" y="3"/>
                  <a:pt x="156" y="2"/>
                  <a:pt x="154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9077325" y="2362200"/>
            <a:ext cx="5238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效果不满意</a:t>
            </a:r>
            <a:endParaRPr/>
          </a:p>
        </p:txBody>
      </p:sp>
      <p:sp>
        <p:nvSpPr>
          <p:cNvPr id="715" name=""/>
          <p:cNvSpPr/>
          <p:nvPr/>
        </p:nvSpPr>
        <p:spPr>
          <a:xfrm rot="0" flipH="0" flipV="0">
            <a:off x="10163175" y="2276475"/>
            <a:ext cx="1495425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10163175" y="2276475"/>
            <a:ext cx="1495425" cy="323850"/>
          </a:xfrm>
          <a:custGeom>
            <a:pathLst>
              <a:path w="157" h="34">
                <a:moveTo>
                  <a:pt x="151" y="0"/>
                </a:moveTo>
                <a:cubicBezTo>
                  <a:pt x="154" y="0"/>
                  <a:pt x="156" y="2"/>
                  <a:pt x="157" y="5"/>
                </a:cubicBezTo>
                <a:cubicBezTo>
                  <a:pt x="156" y="3"/>
                  <a:pt x="155" y="2"/>
                  <a:pt x="153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1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10706100" y="2362200"/>
            <a:ext cx="4191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价格问题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533400" y="4076700"/>
            <a:ext cx="514350" cy="180975"/>
          </a:xfrm>
          <a:prstGeom prst="roundRect">
            <a:avLst>
              <a:gd name="adj" fmla="val 21053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609600" y="4105275"/>
            <a:ext cx="361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1143000" y="40671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五维运营诊断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533400" y="4343400"/>
            <a:ext cx="47625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店铺装修、团购项目、评价管理、推广投放、活动策划五个维度逐项打分，直接给出带优先级的行动清单，而不是笼统的「建议优化」。</a:t>
            </a:r>
            <a:endParaRPr/>
          </a:p>
        </p:txBody>
      </p:sp>
      <p:sp>
        <p:nvSpPr>
          <p:cNvPr id="722" name=""/>
          <p:cNvSpPr/>
          <p:nvPr/>
        </p:nvSpPr>
        <p:spPr>
          <a:xfrm rot="0" flipH="0" flipV="0">
            <a:off x="552450" y="4895850"/>
            <a:ext cx="2343150" cy="495300"/>
          </a:xfrm>
          <a:prstGeom prst="roundRect">
            <a:avLst>
              <a:gd name="adj" fmla="val 11538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552450" y="4895850"/>
            <a:ext cx="2343150" cy="495300"/>
          </a:xfrm>
          <a:custGeom>
            <a:pathLst>
              <a:path w="246" h="52">
                <a:moveTo>
                  <a:pt x="6" y="0"/>
                </a:moveTo>
                <a:cubicBezTo>
                  <a:pt x="4" y="0"/>
                  <a:pt x="2" y="2"/>
                  <a:pt x="2" y="4"/>
                </a:cubicBezTo>
                <a:lnTo>
                  <a:pt x="2" y="48"/>
                </a:lnTo>
                <a:cubicBezTo>
                  <a:pt x="2" y="50"/>
                  <a:pt x="3" y="51"/>
                  <a:pt x="5" y="52"/>
                </a:cubicBezTo>
                <a:cubicBezTo>
                  <a:pt x="2" y="51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666750" y="4981575"/>
            <a:ext cx="2095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D96B15"/>
                </a:solidFill>
                <a:latin typeface="Microsoft YaHei"/>
                <a:ea typeface="Microsoft YaHei"/>
              </a:rPr>
              <a:t xml:space="preserve">P0 </a:t>
            </a:r>
            <a:r>
              <a:rPr lang="zh-CN" sz="788" b="1">
                <a:solidFill>
                  <a:srgbClr val="D96B15"/>
                </a:solidFill>
                <a:latin typeface="Microsoft YaHei"/>
                <a:ea typeface="Microsoft YaHei"/>
              </a:rPr>
              <a:t>立刻做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66750" y="513397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7A5A3A"/>
                </a:solidFill>
                <a:latin typeface="Microsoft YaHei"/>
                <a:ea typeface="Microsoft YaHei"/>
              </a:rPr>
              <a:t>差评回复、引流款定价</a:t>
            </a:r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2971800" y="4895850"/>
            <a:ext cx="2343150" cy="495300"/>
          </a:xfrm>
          <a:prstGeom prst="roundRect">
            <a:avLst>
              <a:gd name="adj" fmla="val 11538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2971800" y="4895850"/>
            <a:ext cx="2343150" cy="495300"/>
          </a:xfrm>
          <a:custGeom>
            <a:pathLst>
              <a:path w="246" h="52">
                <a:moveTo>
                  <a:pt x="6" y="0"/>
                </a:moveTo>
                <a:cubicBezTo>
                  <a:pt x="4" y="0"/>
                  <a:pt x="2" y="2"/>
                  <a:pt x="2" y="4"/>
                </a:cubicBezTo>
                <a:lnTo>
                  <a:pt x="2" y="48"/>
                </a:lnTo>
                <a:cubicBezTo>
                  <a:pt x="2" y="50"/>
                  <a:pt x="3" y="51"/>
                  <a:pt x="5" y="52"/>
                </a:cubicBezTo>
                <a:cubicBezTo>
                  <a:pt x="2" y="51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3086100" y="4981575"/>
            <a:ext cx="2095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P1 </a:t>
            </a: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本周做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3086100" y="513397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4A5A7A"/>
                </a:solidFill>
                <a:latin typeface="Microsoft YaHei"/>
                <a:ea typeface="Microsoft YaHei"/>
              </a:rPr>
              <a:t>品类补充、关键词扩量</a:t>
            </a:r>
            <a:endParaRPr/>
          </a:p>
        </p:txBody>
      </p:sp>
      <p:sp>
        <p:nvSpPr>
          <p:cNvPr id="730" name=""/>
          <p:cNvSpPr/>
          <p:nvPr/>
        </p:nvSpPr>
        <p:spPr>
          <a:xfrm rot="0" flipH="0" flipV="0">
            <a:off x="5429250" y="3381375"/>
            <a:ext cx="6229350" cy="2695575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 w="12700">
            <a:solidFill>
              <a:srgbClr val="FF8A3D">
                <a:alpha val="18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31" name=""/>
          <p:cNvPicPr>
            <a:picLocks noChangeAspect="1"/>
          </p:cNvPicPr>
          <p:nvPr/>
        </p:nvPicPr>
        <p:blipFill>
          <a:blip r:embed="rId3"/>
          <a:srcRect l="0" t="16520" r="0" b="16520"/>
          <a:stretch>
            <a:fillRect/>
          </a:stretch>
        </p:blipFill>
        <p:spPr>
          <a:xfrm rot="0" flipH="0" flipV="0">
            <a:off x="5505450" y="3457575"/>
            <a:ext cx="6076950" cy="2543175"/>
          </a:xfrm>
          <a:prstGeom prst="roundRect">
            <a:avLst>
              <a:gd name="adj" fmla="val 2247"/>
            </a:avLst>
          </a:prstGeom>
          <a:ln/>
        </p:spPr>
      </p:pic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11210925" y="65817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FD9">
                  <a:alpha val="55000"/>
                </a:srgbClr>
              </a:gs>
              <a:gs pos="55000">
                <a:srgbClr val="0B2A6B">
                  <a:alpha val="0"/>
                </a:srgbClr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42672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三个技术判断，决定了它能落地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426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不是把大模型接进来就叫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，关键是让它扛得住门诊的真实场景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Id1">
            <a:alphaModFix amt="35000"/>
          </a:blip>
          <a:srcRect l="0" t="673" r="0" b="673"/>
          <a:stretch>
            <a:fillRect/>
          </a:stretch>
        </p:blipFill>
        <p:spPr>
          <a:xfrm rot="0" flipH="0" flipV="0">
            <a:off x="10458450" y="304800"/>
            <a:ext cx="1123950" cy="476250"/>
          </a:xfrm>
          <a:prstGeom prst="rect">
            <a:avLst/>
          </a:prstGeom>
          <a:ln/>
        </p:spPr>
      </p:pic>
      <p:sp>
        <p:nvSpPr>
          <p:cNvPr id="29" name=""/>
          <p:cNvSpPr/>
          <p:nvPr/>
        </p:nvSpPr>
        <p:spPr>
          <a:xfrm rot="0" flipH="0" flipV="0">
            <a:off x="60960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1295400"/>
            <a:ext cx="3543300" cy="3810000"/>
          </a:xfrm>
          <a:custGeom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8200" y="1524000"/>
            <a:ext cx="30861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35C8F0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2314575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截图优先，不依赖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对接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38200" y="2743200"/>
            <a:ext cx="30861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美团经营参谋的数据不对外开放接口，硬等</a:t>
            </a:r>
            <a:r>
              <a:rPr lang="en-US" sz="938">
                <a:solidFill>
                  <a:srgbClr val="AFC8E8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就是无限期拖延。我们反过来做：门店按</a:t>
            </a:r>
            <a:r>
              <a:rPr lang="en-US" sz="938">
                <a:solidFill>
                  <a:srgbClr val="AFC8E8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个界面分别上传截图，视觉模型直接读数。门店不用学新系统，集团当天就能拿到数据。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83820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35C8F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62025" y="4533900"/>
            <a:ext cx="283845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8FE3F8"/>
                </a:solidFill>
                <a:latin typeface="Microsoft YaHei"/>
                <a:ea typeface="Microsoft YaHei"/>
              </a:rPr>
              <a:t>代价是识别准确率，所以配了手动录入作为保底通道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32435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324350" y="1295400"/>
            <a:ext cx="3543300" cy="3810000"/>
          </a:xfrm>
          <a:custGeom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ADE8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552950" y="1524000"/>
            <a:ext cx="30861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ADE8FF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552950" y="2314575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双通道兜底，业务永不中断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552950" y="2743200"/>
            <a:ext cx="30861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五个视觉模型端点按顺序自动探测，哪个能用走哪个；全部不可用就降级为手动录入，已上传的截图不会白传。模型层抽出来做成可替换的，换模型不动业务代码。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55295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35C8F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676775" y="4533900"/>
            <a:ext cx="283845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8FE3F8"/>
                </a:solidFill>
                <a:latin typeface="Microsoft YaHei"/>
                <a:ea typeface="Microsoft YaHei"/>
              </a:rPr>
              <a:t>今天视觉模型权限尚未开通，系统仍可完整跑通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803910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8039100" y="1295400"/>
            <a:ext cx="3543300" cy="3810000"/>
          </a:xfrm>
          <a:custGeom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267700" y="1524000"/>
            <a:ext cx="30861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8A3D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267700" y="2314575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拒绝随机数，结论必须可回溯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267700" y="2743200"/>
            <a:ext cx="30861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早期版本的分析结论是随机生成的，用户一输入就发现对不上。现在所有指标都由真实输入算出：评分、转化率、价格带、差评数逐项推导，每条建议都能指回具体数字。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826770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FF8A3D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391525" y="4533900"/>
            <a:ext cx="283845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输入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118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条评价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/ 18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条差评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输出「跟进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18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条差评」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5724525"/>
            <a:ext cx="9144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6E93C8"/>
                </a:solidFill>
                <a:latin typeface="Microsoft YaHei"/>
                <a:ea typeface="Microsoft YaHei"/>
              </a:rPr>
              <a:t>实测响应</a:t>
            </a:r>
            <a:endParaRPr/>
          </a:p>
          <a:p>
            <a:pPr>
              <a:lnSpc>
                <a:spcPct val="150000"/>
              </a:lnSpc>
            </a:pPr>
            <a:r>
              <a:rPr lang="zh-CN" sz="863">
                <a:solidFill>
                  <a:srgbClr val="6E93C8"/>
                </a:solidFill>
                <a:latin typeface="Microsoft YaHei"/>
                <a:ea typeface="Microsoft YaHei"/>
              </a:rPr>
              <a:t>耗时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1638300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2343150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1.45s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2390775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3648075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352925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1.36s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400550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运营诊断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5657850" y="5619750"/>
            <a:ext cx="1905000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372225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1.29s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410325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677150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382000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1.09s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429625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差评回复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9686925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0391775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1.92s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0439400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210925" y="65436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6E93C8"/>
                </a:solidFill>
                <a:latin typeface="Arial"/>
                <a:ea typeface="Arial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0" y="0"/>
            <a:ext cx="12192000" cy="876300"/>
          </a:xfrm>
          <a:prstGeom prst="rect">
            <a:avLst/>
          </a:prstGeom>
          <a:gradFill>
            <a:gsLst>
              <a:gs pos="0">
                <a:srgbClr val="0B2A6B"/>
              </a:gs>
              <a:gs pos="65000">
                <a:srgbClr val="1B5FD9"/>
              </a:gs>
              <a:gs pos="100000">
                <a:srgbClr val="2E86E8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9600" y="3429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19150" y="209550"/>
            <a:ext cx="2657475" cy="4286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325" b="1">
                <a:solidFill>
                  <a:srgbClr val="FFFFFF"/>
                </a:solidFill>
                <a:latin typeface="Microsoft YaHei"/>
                <a:ea typeface="Microsoft YaHei"/>
              </a:rPr>
              <a:t>把两小时压成两分钟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19150" y="666750"/>
            <a:ext cx="2657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ADE8FF"/>
                </a:solidFill>
                <a:latin typeface="Microsoft YaHei"/>
                <a:ea typeface="Microsoft YaHei"/>
              </a:rPr>
              <a:t>同样的活，做法的区别在哪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 r:embed="rId1">
            <a:alphaModFix amt="40000"/>
          </a:blip>
          <a:srcRect l="0" t="1319" r="0" b="1319"/>
          <a:stretch>
            <a:fillRect/>
          </a:stretch>
        </p:blipFill>
        <p:spPr>
          <a:xfrm rot="0" flipH="0" flipV="0">
            <a:off x="10534650" y="228600"/>
            <a:ext cx="1047750" cy="438150"/>
          </a:xfrm>
          <a:prstGeom prst="rect">
            <a:avLst/>
          </a:prstGeom>
          <a:ln/>
        </p:spPr>
      </p:pic>
      <p:sp>
        <p:nvSpPr>
          <p:cNvPr id="75" name=""/>
          <p:cNvSpPr/>
          <p:nvPr/>
        </p:nvSpPr>
        <p:spPr>
          <a:xfrm rot="0" flipH="0" flipV="0">
            <a:off x="647700" y="1104900"/>
            <a:ext cx="10972800" cy="134302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47700" y="1104900"/>
            <a:ext cx="10972800" cy="1343025"/>
          </a:xfrm>
          <a:custGeom>
            <a:pathLst>
              <a:path w="1152" h="14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3"/>
                </a:lnTo>
                <a:cubicBezTo>
                  <a:pt x="4" y="137"/>
                  <a:pt x="7" y="140"/>
                  <a:pt x="10" y="141"/>
                </a:cubicBezTo>
                <a:cubicBezTo>
                  <a:pt x="4" y="140"/>
                  <a:pt x="0" y="135"/>
                  <a:pt x="0" y="12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57250" y="1657350"/>
            <a:ext cx="14859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一条美团文案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2552700" y="1552575"/>
            <a:ext cx="219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/>
                <a:ea typeface="Arial"/>
              </a:rPr>
              <a:t>2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2838450" y="16859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295650" y="16192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381375" y="16859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829050" y="1476375"/>
            <a:ext cx="6953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/>
                <a:ea typeface="Arial"/>
              </a:rPr>
              <a:t>1.9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572000" y="18573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991100" y="1581150"/>
            <a:ext cx="6419850" cy="2286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从查门店信息、想卖点、写正文、配图到改违禁词，压缩到一次生成加一轮修改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991100" y="1857375"/>
            <a:ext cx="64198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接口实测</a:t>
            </a:r>
            <a:r>
              <a:rPr lang="en-US" sz="788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1.92 </a:t>
            </a: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秒返回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47700" y="2581275"/>
            <a:ext cx="109728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47700" y="2581275"/>
            <a:ext cx="10972800" cy="1352550"/>
          </a:xfrm>
          <a:custGeom>
            <a:pathLst>
              <a:path w="1152" h="14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4"/>
                </a:lnTo>
                <a:cubicBezTo>
                  <a:pt x="4" y="138"/>
                  <a:pt x="7" y="141"/>
                  <a:pt x="10" y="142"/>
                </a:cubicBezTo>
                <a:cubicBezTo>
                  <a:pt x="4" y="141"/>
                  <a:pt x="0" y="136"/>
                  <a:pt x="0" y="13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57250" y="3133725"/>
            <a:ext cx="14859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一次经营诊断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2552700" y="3028950"/>
            <a:ext cx="219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/>
                <a:ea typeface="Arial"/>
              </a:rPr>
              <a:t>3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2838450" y="31623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3171825" y="30956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257550" y="31623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705225" y="2962275"/>
            <a:ext cx="6953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/>
                <a:ea typeface="Arial"/>
              </a:rPr>
              <a:t>1.4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448175" y="33432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867275" y="3057525"/>
            <a:ext cx="6543675" cy="2286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从挨家登录经营参谋截图、</a:t>
            </a:r>
            <a:r>
              <a:rPr lang="en-US" sz="900">
                <a:solidFill>
                  <a:srgbClr val="5A6B8C"/>
                </a:solidFill>
                <a:latin typeface="Microsoft YaHei"/>
                <a:ea typeface="Microsoft YaHei"/>
              </a:rPr>
              <a:t xml:space="preserve">Excel </a:t>
            </a: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手工拼表，变成五个维度同时打分并给出行动项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867275" y="3333750"/>
            <a:ext cx="6543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接口实测</a:t>
            </a:r>
            <a:r>
              <a:rPr lang="en-US" sz="788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1.36 </a:t>
            </a: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秒返回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47700" y="4067175"/>
            <a:ext cx="10972800" cy="134302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47700" y="4067175"/>
            <a:ext cx="10972800" cy="1343025"/>
          </a:xfrm>
          <a:custGeom>
            <a:pathLst>
              <a:path w="1152" h="14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3"/>
                </a:lnTo>
                <a:cubicBezTo>
                  <a:pt x="4" y="137"/>
                  <a:pt x="7" y="140"/>
                  <a:pt x="10" y="141"/>
                </a:cubicBezTo>
                <a:cubicBezTo>
                  <a:pt x="4" y="140"/>
                  <a:pt x="0" y="135"/>
                  <a:pt x="0" y="12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57250" y="4619625"/>
            <a:ext cx="14859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一家门店的数据采集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2552700" y="4514850"/>
            <a:ext cx="219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/>
                <a:ea typeface="Arial"/>
              </a:rPr>
              <a:t>7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2838450" y="46482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Microsoft YaHei"/>
                <a:ea typeface="Microsoft YaHei"/>
              </a:rPr>
              <a:t>张表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3295650" y="45815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381375" y="46482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829050" y="4438650"/>
            <a:ext cx="2762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/>
                <a:ea typeface="Arial"/>
              </a:rPr>
              <a:t>7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152900" y="48196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Microsoft YaHei"/>
                <a:ea typeface="Microsoft YaHei"/>
              </a:rPr>
              <a:t>张图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705350" y="4543425"/>
            <a:ext cx="6705600" cy="2286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同样七个界面，但不用再逐项抄字段：上传截图即可，识别结果可直接校对修改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705350" y="4819650"/>
            <a:ext cx="6705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含移动端拍照上传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5829300"/>
            <a:ext cx="10972800" cy="533400"/>
          </a:xfrm>
          <a:prstGeom prst="roundRect">
            <a:avLst>
              <a:gd name="adj" fmla="val 16071"/>
            </a:avLst>
          </a:prstGeom>
          <a:gradFill>
            <a:gsLst>
              <a:gs pos="0">
                <a:srgbClr val="1B5FD9">
                  <a:alpha val="10000"/>
                </a:srgbClr>
              </a:gs>
              <a:gs pos="100000">
                <a:srgbClr val="35C8F0">
                  <a:alpha val="1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800100" y="60674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00125" y="5981700"/>
            <a:ext cx="103917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0B2A6B"/>
                </a:solidFill>
                <a:latin typeface="Microsoft YaHei"/>
                <a:ea typeface="Microsoft YaHei"/>
              </a:rPr>
              <a:t>省下来的不是时间本身，是门店愿意持续做这件事的可能性——运营动作频次上去了，数据才有得看。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220450" y="654367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09600" y="39052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19150" y="266700"/>
            <a:ext cx="3095625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先跑通</a:t>
            </a: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家，再谈铺开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3095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辽宁打样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区域复制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集团打通，三级推进</a:t>
            </a:r>
            <a:endParaRPr/>
          </a:p>
        </p:txBody>
      </p:sp>
      <p:pic>
        <p:nvPicPr>
          <p:cNvPr id="118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110" r="0" b="110"/>
          <a:stretch>
            <a:fillRect/>
          </a:stretch>
        </p:blipFill>
        <p:spPr>
          <a:xfrm rot="0" flipH="0" flipV="0">
            <a:off x="10515600" y="285750"/>
            <a:ext cx="1066800" cy="457200"/>
          </a:xfrm>
          <a:prstGeom prst="rect">
            <a:avLst/>
          </a:prstGeom>
          <a:ln/>
        </p:spPr>
      </p:pic>
      <p:sp>
        <p:nvSpPr>
          <p:cNvPr id="119" name=""/>
          <p:cNvSpPr/>
          <p:nvPr/>
        </p:nvSpPr>
        <p:spPr>
          <a:xfrm rot="0" flipH="0" flipV="0">
            <a:off x="657225" y="1009650"/>
            <a:ext cx="6172200" cy="1409700"/>
          </a:xfrm>
          <a:prstGeom prst="roundRect">
            <a:avLst>
              <a:gd name="adj" fmla="val 743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57225" y="1009650"/>
            <a:ext cx="6172200" cy="1409700"/>
          </a:xfrm>
          <a:custGeom>
            <a:pathLst>
              <a:path w="648" h="148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142"/>
                </a:lnTo>
                <a:cubicBezTo>
                  <a:pt x="5" y="145"/>
                  <a:pt x="7" y="147"/>
                  <a:pt x="10" y="148"/>
                </a:cubicBezTo>
                <a:cubicBezTo>
                  <a:pt x="4" y="147"/>
                  <a:pt x="0" y="143"/>
                  <a:pt x="0" y="137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847725" y="1504950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923925" y="152400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第一阶段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476375" y="148590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辽宁</a:t>
            </a:r>
            <a:r>
              <a:rPr lang="en-US" sz="120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家打样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47725" y="1733550"/>
            <a:ext cx="5743575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先让沈阳、盘锦直营门诊跑满一个完整月度周期，把截图采集流程和诊断口径固定下来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57225" y="2514600"/>
            <a:ext cx="6172200" cy="1771650"/>
          </a:xfrm>
          <a:prstGeom prst="roundRect">
            <a:avLst>
              <a:gd name="adj" fmla="val 5914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57225" y="2514600"/>
            <a:ext cx="6172200" cy="1771650"/>
          </a:xfrm>
          <a:custGeom>
            <a:pathLst>
              <a:path w="648" h="186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180"/>
                </a:lnTo>
                <a:cubicBezTo>
                  <a:pt x="5" y="183"/>
                  <a:pt x="7" y="185"/>
                  <a:pt x="10" y="186"/>
                </a:cubicBezTo>
                <a:cubicBezTo>
                  <a:pt x="4" y="185"/>
                  <a:pt x="0" y="181"/>
                  <a:pt x="0" y="175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2E86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847725" y="3190875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2E86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23925" y="3209925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第二阶段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476375" y="31718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大区复制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47725" y="3419475"/>
            <a:ext cx="5743575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把模板、话术库、评分口径做成可下发的配置，其他省区不再重头搭一遍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57225" y="4381500"/>
            <a:ext cx="6172200" cy="2133600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57225" y="4381500"/>
            <a:ext cx="6172200" cy="2133600"/>
          </a:xfrm>
          <a:custGeom>
            <a:pathLst>
              <a:path w="648" h="224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218"/>
                </a:lnTo>
                <a:cubicBezTo>
                  <a:pt x="5" y="221"/>
                  <a:pt x="7" y="223"/>
                  <a:pt x="10" y="224"/>
                </a:cubicBezTo>
                <a:cubicBezTo>
                  <a:pt x="4" y="223"/>
                  <a:pt x="0" y="219"/>
                  <a:pt x="0" y="213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847725" y="5238750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23925" y="525780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第三阶段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476375" y="52197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集团数据打通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47725" y="5467350"/>
            <a:ext cx="5743575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接入集团经营看板，与</a:t>
            </a:r>
            <a:r>
              <a:rPr lang="en-US" sz="863">
                <a:solidFill>
                  <a:srgbClr val="5A6B8C"/>
                </a:solidFill>
                <a:latin typeface="Microsoft YaHei"/>
                <a:ea typeface="Microsoft YaHei"/>
              </a:rPr>
              <a:t xml:space="preserve"> Ahis </a:t>
            </a: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周报、月会口径对齐，让美团数据进到经营会议题里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953250" y="1009650"/>
            <a:ext cx="4629150" cy="251460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138" name=""/>
          <p:cNvPicPr>
            <a:picLocks noChangeAspect="1"/>
          </p:cNvPicPr>
          <p:nvPr/>
        </p:nvPicPr>
        <p:blipFill>
          <a:blip r:embed="rId2"/>
          <a:srcRect l="0" t="7627" r="0" b="7627"/>
          <a:stretch>
            <a:fillRect/>
          </a:stretch>
        </p:blipFill>
        <p:spPr>
          <a:xfrm rot="0" flipH="0" flipV="0">
            <a:off x="7019925" y="1076325"/>
            <a:ext cx="4495800" cy="2381250"/>
          </a:xfrm>
          <a:prstGeom prst="roundRect">
            <a:avLst>
              <a:gd name="adj" fmla="val 2400"/>
            </a:avLst>
          </a:prstGeom>
          <a:ln/>
        </p:spPr>
      </p:pic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953250" y="3619500"/>
            <a:ext cx="462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复制时真正要带走的三样东西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953250" y="3848100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086600" y="40671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439025" y="4010025"/>
            <a:ext cx="401002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439025" y="4200525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7A8AAA"/>
                </a:solidFill>
                <a:latin typeface="Microsoft YaHei"/>
                <a:ea typeface="Microsoft YaHei"/>
              </a:rPr>
              <a:t>总部分月下发的品牌视觉与文案结构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953250" y="4619625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086600" y="48387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439025" y="4781550"/>
            <a:ext cx="401002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口径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439025" y="4972050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7A8AAA"/>
                </a:solidFill>
                <a:latin typeface="Microsoft YaHei"/>
                <a:ea typeface="Microsoft YaHei"/>
              </a:rPr>
              <a:t>评分、转化、价格带的统一算法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953250" y="5391150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086600" y="56102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439025" y="5553075"/>
            <a:ext cx="401002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话术库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439025" y="5743575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7A8AAA"/>
                </a:solidFill>
                <a:latin typeface="Microsoft YaHei"/>
                <a:ea typeface="Microsoft YaHei"/>
              </a:rPr>
              <a:t>差评回复与咨询转化的分场景沉淀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56" name=""/>
          <p:cNvPicPr>
            <a:picLocks noChangeAspect="1"/>
          </p:cNvPicPr>
          <p:nvPr/>
        </p:nvPicPr>
        <p:blipFill>
          <a:blip r:embed="rId1"/>
          <a:srcRect l="0" t="2" r="0" b="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A6B">
                  <a:alpha val="90000"/>
                </a:srgbClr>
              </a:gs>
              <a:gs pos="50000">
                <a:srgbClr val="0B2A6B">
                  <a:alpha val="72000"/>
                </a:srgbClr>
              </a:gs>
              <a:gs pos="100000">
                <a:srgbClr val="1B5FD9">
                  <a:alpha val="5800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158" name=""/>
          <p:cNvPicPr>
            <a:picLocks noChangeAspect="1"/>
          </p:cNvPicPr>
          <p:nvPr/>
        </p:nvPicPr>
        <p:blipFill>
          <a:blip r:embed="rId2"/>
          <a:srcRect l="0" t="749" r="0" b="749"/>
          <a:stretch>
            <a:fillRect/>
          </a:stretch>
        </p:blipFill>
        <p:spPr>
          <a:xfrm rot="0" flipH="0" flipV="0">
            <a:off x="609600" y="400050"/>
            <a:ext cx="1485900" cy="628650"/>
          </a:xfrm>
          <a:prstGeom prst="rect">
            <a:avLst/>
          </a:prstGeom>
          <a:ln/>
        </p:spPr>
      </p:pic>
      <p:sp>
        <p:nvSpPr>
          <p:cNvPr id="159" name=""/>
          <p:cNvSpPr/>
          <p:nvPr/>
        </p:nvSpPr>
        <p:spPr>
          <a:xfrm rot="0" flipH="0" flipV="0">
            <a:off x="2305050" y="542925"/>
            <a:ext cx="9525" cy="342900"/>
          </a:xfrm>
          <a:prstGeom prst="rect">
            <a:avLst/>
          </a:prstGeom>
          <a:solidFill>
            <a:srgbClr val="FFFFFF">
              <a:alpha val="26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60" name=""/>
          <p:cNvPicPr>
            <a:picLocks noChangeAspect="1"/>
          </p:cNvPicPr>
          <p:nvPr/>
        </p:nvPicPr>
        <p:blipFill>
          <a:blip r:embed="rId3"/>
          <a:srcRect l="700" t="0" r="700" b="0"/>
          <a:stretch>
            <a:fillRect/>
          </a:stretch>
        </p:blipFill>
        <p:spPr>
          <a:xfrm rot="0" flipH="0" flipV="0">
            <a:off x="2524125" y="466725"/>
            <a:ext cx="1771650" cy="495300"/>
          </a:xfrm>
          <a:prstGeom prst="rect">
            <a:avLst/>
          </a:prstGeom>
          <a:ln/>
        </p:spPr>
      </p:pic>
      <p:sp>
        <p:nvSpPr>
          <p:cNvPr id="161" name=""/>
          <p:cNvSpPr/>
          <p:nvPr/>
        </p:nvSpPr>
        <p:spPr>
          <a:xfrm rot="0" flipH="0" flipV="0">
            <a:off x="609600" y="21526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00100" y="220980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225">
                <a:solidFill>
                  <a:srgbClr val="8FE3F8"/>
                </a:solidFill>
                <a:latin typeface="Microsoft YaHei"/>
                <a:ea typeface="Microsoft YaHei"/>
              </a:rPr>
              <a:t>谢谢聆听</a:t>
            </a:r>
            <a:r>
              <a:rPr lang="en-US" sz="1275" b="1" spc="225">
                <a:solidFill>
                  <a:srgbClr val="8FE3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 spc="225">
                <a:solidFill>
                  <a:srgbClr val="8FE3F8"/>
                </a:solidFill>
                <a:latin typeface="Microsoft YaHei"/>
                <a:ea typeface="Microsoft YaHei"/>
              </a:rPr>
              <a:t>敬请指正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2686050"/>
            <a:ext cx="8572500" cy="156210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让每家门诊都能自己做</a:t>
            </a:r>
            <a:endParaRPr/>
          </a:p>
          <a:p>
            <a:pPr>
              <a:lnSpc>
                <a:spcPct val="122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美团运营的「专业判断」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4495800"/>
            <a:ext cx="8572500" cy="3238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00">
                <a:solidFill>
                  <a:srgbClr val="C8D9F5"/>
                </a:solidFill>
                <a:latin typeface="Microsoft YaHei"/>
                <a:ea typeface="Microsoft YaHei"/>
              </a:rPr>
              <a:t>工具只是开始，真正要沉淀的是把好店长的经验变成集团的标准动作。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5953125"/>
            <a:ext cx="1800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7FA8E8"/>
                </a:solidFill>
                <a:latin typeface="Microsoft YaHei"/>
                <a:ea typeface="Microsoft YaHei"/>
              </a:rPr>
              <a:t>参赛作品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6143625"/>
            <a:ext cx="1800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2867025" y="5953125"/>
            <a:ext cx="2114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7FA8E8"/>
                </a:solidFill>
                <a:latin typeface="Microsoft YaHei"/>
                <a:ea typeface="Microsoft YaHei"/>
              </a:rPr>
              <a:t>汇报单位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2867025" y="6143625"/>
            <a:ext cx="211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门诊管理中心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10963275" y="5895975"/>
            <a:ext cx="647700" cy="447675"/>
          </a:xfrm>
          <a:custGeom>
            <a:pathLst>
              <a:path w="68" h="47">
                <a:moveTo>
                  <a:pt x="0" y="0"/>
                </a:moveTo>
                <a:lnTo>
                  <a:pt x="3" y="0"/>
                </a:lnTo>
                <a:lnTo>
                  <a:pt x="3" y="47"/>
                </a:lnTo>
                <a:lnTo>
                  <a:pt x="0" y="47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182350" y="58959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DE8FF"/>
                </a:solidFill>
                <a:latin typeface="Microsoft YaHei"/>
                <a:ea typeface="Microsoft YaHei"/>
              </a:rPr>
              <a:t>答辩人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182350" y="609600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王皓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342900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答辩预案：四类问题怎么答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3429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技术壁垒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落地成本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数据安全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可复制性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10734675" y="266700"/>
            <a:ext cx="847725" cy="228600"/>
          </a:xfrm>
          <a:prstGeom prst="roundRect">
            <a:avLst>
              <a:gd name="adj" fmla="val 20833"/>
            </a:avLst>
          </a:prstGeom>
          <a:solidFill>
            <a:srgbClr val="FF8A3D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0839450" y="314325"/>
            <a:ext cx="638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D96B15"/>
                </a:solidFill>
                <a:latin typeface="Microsoft YaHei"/>
                <a:ea typeface="Microsoft YaHei"/>
              </a:rPr>
              <a:t>附录</a:t>
            </a:r>
            <a:r>
              <a:rPr lang="en-US" sz="825" b="1">
                <a:solidFill>
                  <a:srgbClr val="D96B1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 b="1">
                <a:solidFill>
                  <a:srgbClr val="D96B15"/>
                </a:solidFill>
                <a:latin typeface="Microsoft YaHei"/>
                <a:ea typeface="Microsoft YaHei"/>
              </a:rPr>
              <a:t>不演讲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09600" y="1009650"/>
            <a:ext cx="2647950" cy="5143500"/>
          </a:xfrm>
          <a:prstGeom prst="roundRect">
            <a:avLst>
              <a:gd name="adj" fmla="val 395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09600" y="1009650"/>
            <a:ext cx="2647950" cy="5143500"/>
          </a:xfrm>
          <a:custGeom>
            <a:pathLst>
              <a:path w="278" h="540">
                <a:moveTo>
                  <a:pt x="268" y="0"/>
                </a:moveTo>
                <a:cubicBezTo>
                  <a:pt x="273" y="0"/>
                  <a:pt x="277" y="4"/>
                  <a:pt x="278" y="9"/>
                </a:cubicBezTo>
                <a:cubicBezTo>
                  <a:pt x="277" y="6"/>
                  <a:pt x="274" y="4"/>
                  <a:pt x="271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7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62000" y="1162050"/>
            <a:ext cx="234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技术壁垒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762000" y="1466850"/>
            <a:ext cx="2343150" cy="2105025"/>
          </a:xfrm>
          <a:prstGeom prst="roundRect">
            <a:avLst>
              <a:gd name="adj" fmla="val 3167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66775" y="15716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为什么用截图而不是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对接？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66775" y="1809750"/>
            <a:ext cx="21336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经营参谋本身不开放接口，等下去没有时间表。截图方案让门店零学习成本，今天就能用上。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762000" y="3667125"/>
            <a:ext cx="2343150" cy="2295525"/>
          </a:xfrm>
          <a:prstGeom prst="roundRect">
            <a:avLst>
              <a:gd name="adj" fmla="val 2905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66775" y="37719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：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OCR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准确率怎么保证？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66775" y="4010025"/>
            <a:ext cx="21336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七个界面各自对应固定字段，识别范围收窄后准确率可控；同时保留手动录入，识别结果可直接对照修改。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3390900" y="1009650"/>
            <a:ext cx="2638425" cy="514350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3390900" y="1009650"/>
            <a:ext cx="2638425" cy="5143500"/>
          </a:xfrm>
          <a:custGeom>
            <a:pathLst>
              <a:path w="277" h="540">
                <a:moveTo>
                  <a:pt x="267" y="0"/>
                </a:moveTo>
                <a:cubicBezTo>
                  <a:pt x="272" y="0"/>
                  <a:pt x="276" y="4"/>
                  <a:pt x="277" y="9"/>
                </a:cubicBezTo>
                <a:cubicBezTo>
                  <a:pt x="276" y="6"/>
                  <a:pt x="273" y="4"/>
                  <a:pt x="270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2E86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543300" y="116205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落地成本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3543300" y="1466850"/>
            <a:ext cx="2333625" cy="2200275"/>
          </a:xfrm>
          <a:prstGeom prst="roundRect">
            <a:avLst>
              <a:gd name="adj" fmla="val 3030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3648075" y="15716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门店会不会嫌麻烦？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3648075" y="1809750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比原来更省事：原来要抄字段进表，现在拍七张图。手机端做完全程，不用开电脑。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3543300" y="3762375"/>
            <a:ext cx="2333625" cy="2200275"/>
          </a:xfrm>
          <a:prstGeom prst="roundRect">
            <a:avLst>
              <a:gd name="adj" fmla="val 3030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3648075" y="38671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：</a:t>
            </a: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 xml:space="preserve">28 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家推广要多久？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648075" y="4105275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辽宁直营门诊按一个月跑通并固定口径，其他门诊主要成本是一轮培训，不需要新增硬件投入。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162675" y="1009650"/>
            <a:ext cx="2647950" cy="5143500"/>
          </a:xfrm>
          <a:prstGeom prst="roundRect">
            <a:avLst>
              <a:gd name="adj" fmla="val 395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162675" y="1009650"/>
            <a:ext cx="2647950" cy="5143500"/>
          </a:xfrm>
          <a:custGeom>
            <a:pathLst>
              <a:path w="278" h="540">
                <a:moveTo>
                  <a:pt x="268" y="0"/>
                </a:moveTo>
                <a:cubicBezTo>
                  <a:pt x="273" y="0"/>
                  <a:pt x="277" y="4"/>
                  <a:pt x="278" y="9"/>
                </a:cubicBezTo>
                <a:cubicBezTo>
                  <a:pt x="277" y="6"/>
                  <a:pt x="274" y="4"/>
                  <a:pt x="271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7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315075" y="1162050"/>
            <a:ext cx="234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数据安全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315075" y="1466850"/>
            <a:ext cx="2343150" cy="2295525"/>
          </a:xfrm>
          <a:prstGeom prst="roundRect">
            <a:avLst>
              <a:gd name="adj" fmla="val 2905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419850" y="15716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35C8F0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经营数据会不会外泄？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419850" y="1809750"/>
            <a:ext cx="21336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数据只在集团自有环境和已签约的大模型服务间流转，不落到第三方公共平台，前端也不做持久化存储。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315075" y="3857625"/>
            <a:ext cx="2343150" cy="2105025"/>
          </a:xfrm>
          <a:prstGeom prst="roundRect">
            <a:avLst>
              <a:gd name="adj" fmla="val 3167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419850" y="39624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35C8F0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截图含患者隐私吗？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419850" y="4200525"/>
            <a:ext cx="21336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采集范围限定在经营参谋的经营数据界面，不涉及患者姓名、病历等诊疗信息。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8943975" y="1009650"/>
            <a:ext cx="2638425" cy="514350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8943975" y="1009650"/>
            <a:ext cx="2638425" cy="5143500"/>
          </a:xfrm>
          <a:custGeom>
            <a:pathLst>
              <a:path w="277" h="540">
                <a:moveTo>
                  <a:pt x="267" y="0"/>
                </a:moveTo>
                <a:cubicBezTo>
                  <a:pt x="272" y="0"/>
                  <a:pt x="276" y="4"/>
                  <a:pt x="277" y="9"/>
                </a:cubicBezTo>
                <a:cubicBezTo>
                  <a:pt x="276" y="6"/>
                  <a:pt x="273" y="4"/>
                  <a:pt x="270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9096375" y="116205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可复制性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9096375" y="1466850"/>
            <a:ext cx="2333625" cy="2200275"/>
          </a:xfrm>
          <a:prstGeom prst="roundRect">
            <a:avLst>
              <a:gd name="adj" fmla="val 3030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201150" y="15716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FF8A3D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能给别的业务线用吗？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201150" y="1809750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评分口径、话术库、模板都是配置项，换业务线只换配置，不动代码结构。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9096375" y="3762375"/>
            <a:ext cx="2333625" cy="2200275"/>
          </a:xfrm>
          <a:prstGeom prst="roundRect">
            <a:avLst>
              <a:gd name="adj" fmla="val 3030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9201150" y="38671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FF8A3D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视觉模型权限没开通怎么办？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9201150" y="4105275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五个端点自动探测降级，手动录入保底，业务不中断；权限开通即刻启用，不需要改代码。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17" name="" descr="&lt;Slide style={{&#10;    width: 1280, height: 720,&#10;    position: 'relative',&#10;    background: '#F2F6FD',&#10;    fontFamily: &quot;'Microsoft YaHei', '微软雅黑', sans-serif&quot;,&#10;    overflow: 'hidden',&#10;}}&gt;&#10;    {/* A 标题块 */}&#10;    &lt;Box style={{ position: 'absolute', top: 26, left: 64, flexDirection: 'row', alignItems: 'center', gap: 16 }}&gt;&#10;        &lt;Box style={{ width: 6, height: 36, background: '#1B5FD9', borderRadius: 3 }} /&gt;&#10;        &lt;Box&gt;&#10;            &lt;Text style={{ fontSize: 30, fontWeight: 'bold', color: '#0B2A6B', lineHeight: 1.2 }}&gt;10 个模块与 5 大需求对照&lt;/Text&gt;&#10;            &lt;Text style={{ fontSize: 12.5, color: '#5A6B8C', marginTop: 3, letterSpacing: 1 }}&gt;&#10;                每个需求都有对应落地模块，没有悬空的规划&#10;            &lt;/Text&gt;&#10;        &lt;/Box&gt;&#10;    &lt;/Box&gt;&#10;    &lt;Box style={{ position: 'absolute', top: 28, right: 64, background: 'rgba(27,95,217,0.10)', borderRadius: 5, padding: '5px 11px' }}&gt;&#10;        &lt;Text style={{ fontSize: 11, fontWeight: 'bold', color: '#1B5FD9' }}&gt;附录 · 不演讲&lt;/Text&gt;&#10;    &lt;/Box&gt;&#10;&#10;    {/* B 内容区：矩阵表 */}&#10;    &lt;Box style={{&#10;        position: 'absolute', top: 100, left: 64, right: 64, height: 548,&#10;        background: '#FFFFFF', borderRadius: 11,&#10;        boxShadow: '0 4px 18px rgba(11,42,107,0.08)',&#10;        padding: 18,&#10;        flexDirection: 'column',&#10;    }}&gt;&#10;        {/* 表头 */}&#10;        &lt;Box style={{&#10;            flexDirection: 'row', alignItems: 'center',&#10;            background: '#0B2A6B', borderRadius: 7,&#10;            paddingTop: 11, paddingBottom: 11, paddingLeft: 14, paddingRight: 14,&#10;            marginBottom: 8,&#10;        }}&gt;&#10;            &lt;Text style={{ fontSize: 12, fontWeight: 'bold', color: '#FFFFFF', width: 132 }}&gt;功能模块&lt;/Text&gt;&#10;            &lt;Text style={{ fontSize: 12, fontWeight: 'bold', color: '#FFFFFF', flex: 1 }}&gt;核心作用&lt;/Text&gt;&#10;            &lt;Text style={{ fontSize: 12, fontWeight: 'bold', color: '#FFFFFF', width: 82, textAlign: 'center' }}&gt;需求编号&lt;/Text&gt;&#10;            &lt;Text style={{ fontSize: 12, fontWeight: 'bold', color: '#FFFFFF', width: 96, textAlign: 'center' }}&gt;状态&lt;/Text&gt;&#10;        &lt;/Box&gt;&#10;&#10;        {[&#10;            ['经营驾驶舱', '四维经营视图汇总，跨门店横向对比', 'REQ-01', '已上线'],&#10;            ['门诊采集', '七界面截图上传、识别与手动录入', 'REQ-01', '已上线'],&#10;            ['竞品分析', '竞品评分销量价格带对比与缺口识别', 'REQ-02', '已上线'],&#10;            ['美团运营诊断', '五维体检、状态打分与行动项输出', 'REQ-02 / 05', '已上线'],&#10;            ['文案生成', '按项目人群语气批量产出可用文案', 'REQ-03', '已上线'],&#10;            ['套图生成', 'Seedream 批量出图，统一品牌视觉', 'REQ-03', '已上线'],&#10;            ['主图诊断', '构图、卖点、合规三维打分与改法', 'REQ-03', '已上线'],&#10;            ['文案优化', '润色改写与医疗广告合规检查', 'REQ-04', '已上线'],&#10;            ['评价管理', '差评分类归因与分层回复建议', 'REQ-04', '已上线'],&#10;            ['话术建议', '咨询、到店、随访分场景转化话术', 'REQ-05', '已上线'],&#10;        ].map((row, i) =&gt; (&#10;            &lt;Box key={row[0]} style={{&#10;                flex: 1,&#10;                flexDirection: 'row', alignItems: 'center',&#10;                background: i % 2 === 0 ? 'rgba(27,95,217,0.035)' : 'transparent',&#10;                borderRadius: 5,&#10;                paddingLeft: 14, paddingRight: 14,&#10;            }}&gt;&#10;                &lt;Box style={{ width: 132, flexDirection: 'row', alignItems: 'center', gap: 8 }}&gt;&#10;                    &lt;Box style={{ width: 3, height: 16, background: '#1B5FD9', borderRadius: 2 }} /&gt;&#10;                    &lt;Text style={{ fontSize: 12, fontWeight: 'bold', color: '#0B2A6B' }}&gt;{row[0]}&lt;/Text&gt;&#10;                &lt;/Box&gt;&#10;                &lt;Text style={{ fontSize: 11, color: '#5A6B8C', flex: 1, lineHeight: 1.4 }}&gt;{row[1]}&lt;/Text&gt;&#10;                &lt;Text style={{ fontSize: 10.5, color: '#1B5FD9', fontWeight: 'bold', width: 82, textAlign: 'center', fontFamily: 'Arial, sans-serif' }}&gt;{row[2]}&lt;/Text&gt;&#10;                &lt;Box style={{ width: 96, alignItems: 'center' }}&gt;&#10;                    &lt;Box style={{&#10;                        background: 'rgba(53,200,240,0.16)', borderRadius: 4,&#10;                        paddingTop: 3, paddingBottom: 3, paddingLeft: 9, paddingRight: 9,&#10;                    }}&gt;&#10;                        &lt;Text style={{ fontSize: 10, fontWeight: 'bold', color: '#0E93C4' }}&gt;{row[3]}&lt;/Text&gt;&#10;                    &lt;/Box&gt;&#10;                &lt;/Box&gt;&#10;            &lt;/Box&gt;&#10;        ))}&#10;    &lt;/Box&gt;&#10;&#10;    {/* C 页脚条 */}&#10;    &lt;Box style={{&#10;        position: 'absolute', left: 64, right: 64, bottom: 16,&#10;        flexDirection: 'row', alignItems: 'center', justifyContent: 'space-between',&#10;    }}&gt;&#10;        &lt;Text style={{ fontSize: 12.5, color: '#8494B4' }}&gt;美团电商眼科运营AI助手 · 爱尔眼科集团AI创新应用大赛&lt;/Text&gt;&#10;        &lt;Text style={{ fontSize: 12.5, color: '#8494B4', fontFamily: 'Arial, sans-serif' }}&gt;15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3362325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个模块与</a:t>
            </a: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大需求对照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3362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每个需求都有对应落地模块，没有悬空的规划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10734675" y="266700"/>
            <a:ext cx="847725" cy="228600"/>
          </a:xfrm>
          <a:prstGeom prst="roundRect">
            <a:avLst>
              <a:gd name="adj" fmla="val 20833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0839450" y="314325"/>
            <a:ext cx="638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附录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不演讲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952500"/>
            <a:ext cx="10972800" cy="5219700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781050" y="1123950"/>
            <a:ext cx="10629900" cy="352425"/>
          </a:xfrm>
          <a:prstGeom prst="roundRect">
            <a:avLst>
              <a:gd name="adj" fmla="val 18919"/>
            </a:avLst>
          </a:prstGeom>
          <a:solidFill>
            <a:srgbClr val="0B2A6B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914400" y="122872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功能模块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2171700" y="1228725"/>
            <a:ext cx="7410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核心作用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9582150" y="1228725"/>
            <a:ext cx="7810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需求编号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0363200" y="1228725"/>
            <a:ext cx="9144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781050" y="1552575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914400" y="17049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019175" y="17145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经营驾驶舱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2171700" y="16859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四维经营视图汇总，跨门店横向对比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582150" y="17145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REQ-01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10591800" y="16954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0677525" y="17240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781050" y="2000250"/>
            <a:ext cx="10629900" cy="438150"/>
          </a:xfrm>
          <a:prstGeom prst="roundRect">
            <a:avLst>
              <a:gd name="adj" fmla="val 10870"/>
            </a:avLst>
          </a:prstGeom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914400" y="214312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019175" y="21526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门诊采集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2171700" y="213360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七界面截图上传、识别与手动录入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582150" y="216217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REQ-01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10591800" y="213360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677525" y="216217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781050" y="2438400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914400" y="25908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019175" y="26003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171700" y="257175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竞品评分销量价格带对比与缺口识别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582150" y="260032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REQ-02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10591800" y="25812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0677525" y="260985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781050" y="2886075"/>
            <a:ext cx="10629900" cy="447675"/>
          </a:xfrm>
          <a:prstGeom prst="roundRect">
            <a:avLst>
              <a:gd name="adj" fmla="val 10638"/>
            </a:avLst>
          </a:prstGeom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914400" y="30384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019175" y="30480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美团运营诊断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2171700" y="30194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五维体检、状态打分与行动项输出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9582150" y="30480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REQ-02 / 05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10591800" y="30289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0677525" y="30575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781050" y="3333750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914400" y="348615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019175" y="34956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2171700" y="346710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按项目人群语气批量产出可用文案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9582150" y="349567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10591800" y="347662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0677525" y="350520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781050" y="3781425"/>
            <a:ext cx="10629900" cy="438150"/>
          </a:xfrm>
          <a:prstGeom prst="roundRect">
            <a:avLst>
              <a:gd name="adj" fmla="val 10870"/>
            </a:avLst>
          </a:prstGeom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914400" y="39243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019175" y="39338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2171700" y="391477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5A6B8C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批量出图，统一品牌视觉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582150" y="394335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10591800" y="39147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0677525" y="394335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781050" y="4219575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914400" y="43719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019175" y="43815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2171700" y="43529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构图、卖点、合规三维打分与改法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9582150" y="43815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10591800" y="43624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0677525" y="43910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781050" y="4667250"/>
            <a:ext cx="10629900" cy="447675"/>
          </a:xfrm>
          <a:prstGeom prst="roundRect">
            <a:avLst>
              <a:gd name="adj" fmla="val 10638"/>
            </a:avLst>
          </a:prstGeom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914400" y="481965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019175" y="48291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2171700" y="480060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润色改写与医疗广告合规检查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582150" y="482917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10591800" y="481012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0677525" y="483870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781050" y="5114925"/>
            <a:ext cx="10629900" cy="438150"/>
          </a:xfrm>
          <a:prstGeom prst="roundRect">
            <a:avLst>
              <a:gd name="adj" fmla="val 10870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914400" y="52578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019175" y="52673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评价管理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2171700" y="524827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差评分类归因与分层回复建议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9582150" y="527685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10591800" y="52482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0677525" y="527685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781050" y="5553075"/>
            <a:ext cx="10629900" cy="447675"/>
          </a:xfrm>
          <a:prstGeom prst="roundRect">
            <a:avLst>
              <a:gd name="adj" fmla="val 10638"/>
            </a:avLst>
          </a:prstGeom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914400" y="57054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019175" y="57150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2171700" y="56864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咨询、到店、随访分场景转化话术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9582150" y="57150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10591800" y="56959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0677525" y="57245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15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2026-10-23T14:48:17Z</dcterms:created>
  <dcterms:modified xsi:type="dcterms:W3CDTF">2026-10-23T14:48:17Z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{"AIGC":{"Label":"1","ContentProducer":"00119111010856365494821B355","ProduceID":"01a166b347847c1489eb69cb1df52c72","ReservedCode1":"","ContentPropagator":"00119111010856365494821B355","PropagateID":"01a166b347847c1489eb69cb1df52c72","ReservedCode2":""}}</vt:lpwstr>
  </property>
</Properties>
</file>