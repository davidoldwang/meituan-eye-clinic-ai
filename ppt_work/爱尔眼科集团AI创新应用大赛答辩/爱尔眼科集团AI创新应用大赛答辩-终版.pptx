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g" ContentType="image/jpeg"/>
  <Default Extension="png" ContentType="image/png"/>
  <Default Extension="svg" ContentType="image/svg+xml"/>
  <Override PartName="/ppt/presentation.xml" ContentType="application/vnd.openxmlformats-officedocument.presentationml.presentation.main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slides/slide9.xml" ContentType="application/vnd.openxmlformats-officedocument.presentationml.slide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s/slide15.xml" ContentType="application/vnd.openxmlformats-officedocument.presentationml.slide+xml"/>
  <Override PartName="/ppt/slides/slide13.xml" ContentType="application/vnd.openxmlformats-officedocument.presentationml.slide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8.xml" ContentType="application/vnd.openxmlformats-officedocument.presentationml.slide+xml"/>
  <Override PartName="/ppt/theme/theme2.xml" ContentType="application/vnd.openxmlformats-officedocument.theme+xml"/>
  <Override PartName="/ppt/theme/theme1.xml" ContentType="application/vnd.openxmlformats-officedocument.theme+xml"/>
</Types>
</file>

<file path=_rels/.rels><?xml version="1.0" encoding="UTF-8" standalone="yes"?><Relationships xmlns="http://schemas.openxmlformats.org/package/2006/relationships"><Relationship Id="rId0" Type="http://schemas.openxmlformats.org/officeDocument/2006/relationships/officeDocument" Target="ppt/presentation.xml" /><Relationship Id="rId1" Type="http://schemas.openxmlformats.org/package/2006/relationships/metadata/core-properties" Target="docProps/core.xml" /><Relationship Id="rId2" Type="http://schemas.openxmlformats.org/officeDocument/2006/relationships/extended-properties" Target="docProps/app.xml" /><Relationship Id="rId3" Type="http://schemas.openxmlformats.org/officeDocument/2006/relationships/custom-properties" Target="docProps/custom.xml" 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 firstSlideNum="1">
  <p:sldMasterIdLst>
    <p:sldMasterId id="2147483648" r:id="rId0"/>
  </p:sldMasterIdLst>
  <p:notesMasterIdLst>
    <p:notesMasterId r:id="rId16"/>
  </p:notesMasterIdLst>
  <p:sldIdLst>
    <p:sldId id="256" r:id="rId1"/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uri="{E76CE94A-603C-4142-B9EB-6D1370010A27}"/>
    <p:ext uri="{D31A062A-798A-4329-ABDD-BBA856620510}"/>
    <p:ext uri="{FD5EFAAD-0ECE-453E-9831-46B23BE46B34}"/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a="http://schemas.openxmlformats.org/drawing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9" Type="http://schemas.openxmlformats.org/officeDocument/2006/relationships/slide" Target="slides/slide9.xml" /><Relationship Id="rId15" Type="http://schemas.openxmlformats.org/officeDocument/2006/relationships/slide" Target="slides/slide15.xml" /><Relationship Id="rId13" Type="http://schemas.openxmlformats.org/officeDocument/2006/relationships/slide" Target="slides/slide13.xml" /><Relationship Id="rId0" Type="http://schemas.openxmlformats.org/officeDocument/2006/relationships/slideMaster" Target="slideMasters/slideMaster1.xml" /><Relationship Id="rId1" Type="http://schemas.openxmlformats.org/officeDocument/2006/relationships/slide" Target="slides/slide1.xml" /><Relationship Id="rId10" Type="http://schemas.openxmlformats.org/officeDocument/2006/relationships/slide" Target="slides/slide10.xml" /><Relationship Id="rId11" Type="http://schemas.openxmlformats.org/officeDocument/2006/relationships/slide" Target="slides/slide11.xml" /><Relationship Id="rId12" Type="http://schemas.openxmlformats.org/officeDocument/2006/relationships/slide" Target="slides/slide12.xml" /><Relationship Id="rId14" Type="http://schemas.openxmlformats.org/officeDocument/2006/relationships/slide" Target="slides/slide14.xml" /><Relationship Id="rId17" Type="http://schemas.openxmlformats.org/officeDocument/2006/relationships/presProps" Target="presProps.xml" /><Relationship Id="rId16" Type="http://schemas.openxmlformats.org/officeDocument/2006/relationships/notesMaster" Target="notesMasters/notesMaster1.xml" /><Relationship Id="rId19" Type="http://schemas.openxmlformats.org/officeDocument/2006/relationships/viewProps" Target="viewProps.xml" /><Relationship Id="rId18" Type="http://schemas.openxmlformats.org/officeDocument/2006/relationships/tableStyles" Target="tableStyles.xml" /><Relationship Id="rId7" Type="http://schemas.openxmlformats.org/officeDocument/2006/relationships/slide" Target="slides/slide7.xml" /><Relationship Id="rId2" Type="http://schemas.openxmlformats.org/officeDocument/2006/relationships/slide" Target="slides/slide2.xml" /><Relationship Id="rId3" Type="http://schemas.openxmlformats.org/officeDocument/2006/relationships/slide" Target="slides/slide3.xml" /><Relationship Id="rId4" Type="http://schemas.openxmlformats.org/officeDocument/2006/relationships/slide" Target="slides/slide4.xml" /><Relationship Id="rId5" Type="http://schemas.openxmlformats.org/officeDocument/2006/relationships/slide" Target="slides/slide5.xml" /><Relationship Id="rId6" Type="http://schemas.openxmlformats.org/officeDocument/2006/relationships/slide" Target="slides/slide6.xml" /><Relationship Id="rId8" Type="http://schemas.openxmlformats.org/officeDocument/2006/relationships/slide" Target="slides/slide8.xml" /></Relationships>
</file>

<file path=ppt/notesMasters/_rels/notesMaster1.xml.rels><?xml version="1.0" encoding="UTF-8" standalone="yes"?><Relationships xmlns="http://schemas.openxmlformats.org/package/2006/relationships"><Relationship Id="rId0" Type="http://schemas.openxmlformats.org/officeDocument/2006/relationships/theme" Target="../theme/theme2.xml" /></Relationships>
</file>

<file path=ppt/notesMasters/notesMaster1.xml><?xml version="1.0" encoding="utf-8"?>
<p:notesMaster xmlns:p="http://schemas.openxmlformats.org/presentationml/2006/main" xmlns:a="http://schemas.openxmlformats.org/drawing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<Relationships xmlns="http://schemas.openxmlformats.org/package/2006/relationships"><Relationship Id="rId0" Type="http://schemas.openxmlformats.org/officeDocument/2006/relationships/slideMaster" Target="../slideMasters/slideMaster1.xml" /></Relationships>
</file>

<file path=ppt/slideLayouts/slideLayout1.xml><?xml version="1.0" encoding="utf-8"?>
<p:sldLayout xmlns:p="http://schemas.openxmlformats.org/presentationml/2006/main" xmlns:a="http://schemas.openxmlformats.org/drawing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theme" Target="../theme/theme1.xml" 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0"/>
  </p:sldLayoutIdLst>
  <p:hf sldNum="0" hdr="0" ftr="0" dt="0"/>
  <p:txStyles>
    <p:titleStyle>
      <a:lvl1pPr algn="ctr" defTabSz="914400" rtl="0" eaLnBrk="1" latinLnBrk="0" hangingPunct="1">
        <a:spcBef>
          <a:spcPct val="1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image" Target="media/image1.jpg" /><Relationship Id="rId0" Type="http://schemas.openxmlformats.org/officeDocument/2006/relationships/slideLayout" Target="../slideLayouts/slideLayout1.xml" /><Relationship Id="rId2" Type="http://schemas.openxmlformats.org/officeDocument/2006/relationships/image" Target="media/image2.png" /><Relationship Id="rId3" Type="http://schemas.openxmlformats.org/officeDocument/2006/relationships/image" Target="media/image3.png" /></Relationships>
</file>

<file path=ppt/slides/_rels/slide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jpg" /><Relationship Id="rId2" Type="http://schemas.openxmlformats.org/officeDocument/2006/relationships/image" Target="media/image2.png" /></Relationships>
</file>

<file path=ppt/slides/_rels/slide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2.svg" /></Relationships>
</file>

<file path=ppt/slides/_rels/slide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3.png" /></Relationships>
</file>

<file path=ppt/slides/_rels/slide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1.jpg" /><Relationship Id="rId2" Type="http://schemas.openxmlformats.org/officeDocument/2006/relationships/image" Target="media/image2.png" /></Relationships>
</file>

<file path=ppt/slides/_rels/slide6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4.png" /><Relationship Id="rId2" Type="http://schemas.openxmlformats.org/officeDocument/2006/relationships/image" Target="media/image15.png" /></Relationships>
</file>

<file path=ppt/slides/_rels/slide7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png" /><Relationship Id="rId2" Type="http://schemas.openxmlformats.org/officeDocument/2006/relationships/image" Target="media/image17.png" /><Relationship Id="rId3" Type="http://schemas.openxmlformats.org/officeDocument/2006/relationships/image" Target="media/image18.png" /></Relationships>
</file>

<file path=ppt/slides/_rels/slide8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3" Type="http://schemas.openxmlformats.org/officeDocument/2006/relationships/image" Target="media/image20.png" /><Relationship Id="rId1" Type="http://schemas.openxmlformats.org/officeDocument/2006/relationships/image" Target="media/image16.png" /><Relationship Id="rId4" Type="http://schemas.openxmlformats.org/officeDocument/2006/relationships/image" Target="media/image21.png" /><Relationship Id="rId2" Type="http://schemas.openxmlformats.org/officeDocument/2006/relationships/image" Target="media/image19.png" /></Relationships>
</file>

<file path=ppt/slides/_rels/slide9.xml.rels><?xml version="1.0" encoding="UTF-8" standalone="yes"?><Relationships xmlns="http://schemas.openxmlformats.org/package/2006/relationships"><Relationship Id="rId2" Type="http://schemas.openxmlformats.org/officeDocument/2006/relationships/image" Target="media/image22.png" /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16.png" /><Relationship Id="rId3" Type="http://schemas.openxmlformats.org/officeDocument/2006/relationships/image" Target="media/image23.png" /></Relationships>
</file>

<file path=ppt/slides/_rels/slide10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4.png" /></Relationships>
</file>

<file path=ppt/slides/_rels/slide11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5.png" /></Relationships>
</file>

<file path=ppt/slides/_rels/slide12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6.png" /><Relationship Id="rId2" Type="http://schemas.openxmlformats.org/officeDocument/2006/relationships/image" Target="media/image7.png" /></Relationships>
</file>

<file path=ppt/slides/_rels/slide13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Relationship Id="rId1" Type="http://schemas.openxmlformats.org/officeDocument/2006/relationships/image" Target="media/image8.jpg" /><Relationship Id="rId2" Type="http://schemas.openxmlformats.org/officeDocument/2006/relationships/image" Target="media/image9.png" /><Relationship Id="rId3" Type="http://schemas.openxmlformats.org/officeDocument/2006/relationships/image" Target="media/image10.png" /></Relationships>
</file>

<file path=ppt/slides/_rels/slide14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_rels/slide15.xml.rels><?xml version="1.0" encoding="UTF-8" standalone="yes"?><Relationships xmlns="http://schemas.openxmlformats.org/package/2006/relationships"><Relationship Id="rId0" Type="http://schemas.openxmlformats.org/officeDocument/2006/relationships/slideLayout" Target="../slideLayouts/slideLayout1.xml" 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" name=""/>
          <p:cNvPicPr>
            <a:picLocks noChangeAspect="1"/>
          </p:cNvPicPr>
          <p:nvPr/>
        </p:nvPicPr>
        <p:blipFill>
          <a:blip r:embed="rId1"/>
          <a:srcRect l="0" t="2" r="0" b="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A6B">
                  <a:alpha val="94000"/>
                </a:srgbClr>
              </a:gs>
              <a:gs pos="42000">
                <a:srgbClr val="0B2A6B">
                  <a:alpha val="80000"/>
                </a:srgbClr>
              </a:gs>
              <a:gs pos="72000">
                <a:srgbClr val="1B5FD9">
                  <a:alpha val="28000"/>
                </a:srgbClr>
              </a:gs>
              <a:gs pos="100000">
                <a:srgbClr val="1B5FD9">
                  <a:alpha val="12000"/>
                </a:srgbClr>
              </a:gs>
            </a:gsLst>
            <a:lin ang="6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5" name=""/>
          <p:cNvPicPr>
            <a:picLocks noChangeAspect="1"/>
          </p:cNvPicPr>
          <p:nvPr/>
        </p:nvPicPr>
        <p:blipFill>
          <a:blip r:embed="rId2"/>
          <a:srcRect l="0" t="110" r="0" b="110"/>
          <a:stretch>
            <a:fillRect/>
          </a:stretch>
        </p:blipFill>
        <p:spPr>
          <a:xfrm rot="0" flipH="0" flipV="0">
            <a:off x="609600" y="419100"/>
            <a:ext cx="1600200" cy="685800"/>
          </a:xfrm>
          <a:prstGeom prst="rect">
            <a:avLst/>
          </a:prstGeom>
          <a:ln/>
        </p:spPr>
      </p:pic>
      <p:sp>
        <p:nvSpPr>
          <p:cNvPr id="6" name=""/>
          <p:cNvSpPr/>
          <p:nvPr/>
        </p:nvSpPr>
        <p:spPr>
          <a:xfrm rot="0" flipH="0" flipV="0">
            <a:off x="2438400" y="571500"/>
            <a:ext cx="9525" cy="381000"/>
          </a:xfrm>
          <a:prstGeom prst="rect">
            <a:avLst/>
          </a:prstGeom>
          <a:solidFill>
            <a:srgbClr val="FFFFFF">
              <a:alpha val="2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" name="" descr="{&quot;isTemplate&quot;:true,&quot;type&quot;:&quot;text&quot;}"/>
          <p:cNvSpPr txBox="1"/>
          <p:nvPr/>
        </p:nvSpPr>
        <p:spPr>
          <a:xfrm rot="0" flipH="0" flipV="0">
            <a:off x="2676525" y="676275"/>
            <a:ext cx="122872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 spc="150">
                <a:solidFill>
                  <a:srgbClr val="ADE8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1125" b="1" spc="150">
                <a:solidFill>
                  <a:srgbClr val="ADE8FF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pic>
        <p:nvPicPr>
          <p:cNvPr id="8" name=""/>
          <p:cNvPicPr>
            <a:picLocks noChangeAspect="1"/>
          </p:cNvPicPr>
          <p:nvPr/>
        </p:nvPicPr>
        <p:blipFill>
          <a:blip r:embed="rId3"/>
          <a:srcRect l="97" t="0" r="97" b="0"/>
          <a:stretch>
            <a:fillRect/>
          </a:stretch>
        </p:blipFill>
        <p:spPr>
          <a:xfrm rot="0" flipH="0" flipV="0">
            <a:off x="9582150" y="419100"/>
            <a:ext cx="2000250" cy="552450"/>
          </a:xfrm>
          <a:prstGeom prst="rect">
            <a:avLst/>
          </a:prstGeom>
          <a:ln/>
        </p:spPr>
      </p:pic>
      <p:sp>
        <p:nvSpPr>
          <p:cNvPr id="9" name=""/>
          <p:cNvSpPr/>
          <p:nvPr/>
        </p:nvSpPr>
        <p:spPr>
          <a:xfrm rot="0" flipH="0" flipV="0">
            <a:off x="609600" y="1809750"/>
            <a:ext cx="57150" cy="3238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0" name="" descr="{&quot;isTemplate&quot;:true,&quot;type&quot;:&quot;text&quot;}"/>
          <p:cNvSpPr txBox="1"/>
          <p:nvPr/>
        </p:nvSpPr>
        <p:spPr>
          <a:xfrm rot="0" flipH="0" flipV="0">
            <a:off x="800100" y="1866900"/>
            <a:ext cx="22860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>美团电商运营</a:t>
            </a:r>
            <a:r>
              <a:rPr lang="en-US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 xml:space="preserve"> · AI </a:t>
            </a:r>
            <a:r>
              <a:rPr lang="zh-CN" sz="1425" b="1" spc="225">
                <a:solidFill>
                  <a:srgbClr val="8FE3F8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1" name="" descr="{&quot;isTemplate&quot;:true,&quot;type&quot;:&quot;text&quot;}"/>
          <p:cNvSpPr txBox="1"/>
          <p:nvPr/>
        </p:nvSpPr>
        <p:spPr>
          <a:xfrm rot="0" flipH="0" flipV="0">
            <a:off x="609600" y="2381250"/>
            <a:ext cx="7239000" cy="1638300"/>
          </a:xfrm>
          <a:prstGeom prst="rect"/>
        </p:spPr>
        <p:txBody>
          <a:bodyPr wrap="none" lIns="0" tIns="0" rIns="0" bIns="0"/>
          <a:p>
            <a:pPr>
              <a:lnSpc>
                <a:spcPct val="114999"/>
              </a:lnSpc>
            </a:pPr>
            <a:r>
              <a:rPr lang="zh-CN" sz="4650" b="1" spc="75">
                <a:solidFill>
                  <a:srgbClr val="FFFFFF"/>
                </a:solidFill>
                <a:latin typeface="Microsoft YaHei"/>
                <a:ea typeface="Microsoft YaHei"/>
              </a:rPr>
              <a:t>让门店的经营截图，</a:t>
            </a:r>
            <a:endParaRPr/>
          </a:p>
          <a:p>
            <a:pPr>
              <a:lnSpc>
                <a:spcPct val="114999"/>
              </a:lnSpc>
            </a:pPr>
            <a:r>
              <a:rPr lang="zh-CN" sz="4650" b="1" spc="75">
                <a:solidFill>
                  <a:srgbClr val="FFFFFF"/>
                </a:solidFill>
                <a:latin typeface="Microsoft YaHei"/>
                <a:ea typeface="Microsoft YaHei"/>
              </a:rPr>
              <a:t>变成集团的经营结论</a:t>
            </a:r>
            <a:endParaRPr/>
          </a:p>
        </p:txBody>
      </p:sp>
      <p:sp>
        <p:nvSpPr>
          <p:cNvPr id="12" name="" descr="{&quot;isTemplate&quot;:true,&quot;type&quot;:&quot;text&quot;}"/>
          <p:cNvSpPr txBox="1"/>
          <p:nvPr/>
        </p:nvSpPr>
        <p:spPr>
          <a:xfrm rot="0" flipH="0" flipV="0">
            <a:off x="609600" y="4286250"/>
            <a:ext cx="7239000" cy="37147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覆盖美团经营全链路的</a:t>
            </a:r>
            <a:r>
              <a:rPr lang="en-US" sz="1425">
                <a:solidFill>
                  <a:srgbClr val="C8D9F5"/>
                </a:solidFill>
                <a:latin typeface="Microsoft YaHei"/>
                <a:ea typeface="Microsoft YaHei"/>
              </a:rPr>
              <a:t xml:space="preserve"> AI </a:t>
            </a: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运营工作台</a:t>
            </a:r>
            <a:r>
              <a:rPr lang="en-US" sz="1425">
                <a:solidFill>
                  <a:srgbClr val="C8D9F5"/>
                </a:solidFill>
                <a:latin typeface="Microsoft YaHei"/>
                <a:ea typeface="Microsoft YaHei"/>
              </a:rPr>
              <a:t xml:space="preserve"> —— </a:t>
            </a:r>
            <a:r>
              <a:rPr lang="zh-CN" sz="1425">
                <a:solidFill>
                  <a:srgbClr val="C8D9F5"/>
                </a:solidFill>
                <a:latin typeface="Microsoft YaHei"/>
                <a:ea typeface="Microsoft YaHei"/>
              </a:rPr>
              <a:t>采集、分析、创作、评价、决策五位一体</a:t>
            </a:r>
            <a:endParaRPr/>
          </a:p>
        </p:txBody>
      </p:sp>
      <p:sp>
        <p:nvSpPr>
          <p:cNvPr id="13" name="" descr="{&quot;isTemplate&quot;:true,&quot;type&quot;:&quot;text&quot;}"/>
          <p:cNvSpPr txBox="1"/>
          <p:nvPr/>
        </p:nvSpPr>
        <p:spPr>
          <a:xfrm rot="0" flipH="0" flipV="0">
            <a:off x="609600" y="5934075"/>
            <a:ext cx="20097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参赛作品</a:t>
            </a:r>
            <a:endParaRPr/>
          </a:p>
        </p:txBody>
      </p:sp>
      <p:sp>
        <p:nvSpPr>
          <p:cNvPr id="14" name="" descr="{&quot;isTemplate&quot;:true,&quot;type&quot;:&quot;text&quot;}"/>
          <p:cNvSpPr txBox="1"/>
          <p:nvPr/>
        </p:nvSpPr>
        <p:spPr>
          <a:xfrm rot="0" flipH="0" flipV="0">
            <a:off x="609600" y="6143625"/>
            <a:ext cx="20097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5" name="" descr="{&quot;isTemplate&quot;:true,&quot;type&quot;:&quot;text&quot;}"/>
          <p:cNvSpPr txBox="1"/>
          <p:nvPr/>
        </p:nvSpPr>
        <p:spPr>
          <a:xfrm rot="0" flipH="0" flipV="0">
            <a:off x="3057525" y="5934075"/>
            <a:ext cx="2362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汇报单位</a:t>
            </a:r>
            <a:endParaRPr/>
          </a:p>
        </p:txBody>
      </p:sp>
      <p:sp>
        <p:nvSpPr>
          <p:cNvPr id="16" name="" descr="{&quot;isTemplate&quot;:true,&quot;type&quot;:&quot;text&quot;}"/>
          <p:cNvSpPr txBox="1"/>
          <p:nvPr/>
        </p:nvSpPr>
        <p:spPr>
          <a:xfrm rot="0" flipH="0" flipV="0">
            <a:off x="3057525" y="6143625"/>
            <a:ext cx="23622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门诊管理中心</a:t>
            </a:r>
            <a:endParaRPr/>
          </a:p>
        </p:txBody>
      </p:sp>
      <p:sp>
        <p:nvSpPr>
          <p:cNvPr id="17" name="" descr="{&quot;isTemplate&quot;:true,&quot;type&quot;:&quot;text&quot;}"/>
          <p:cNvSpPr txBox="1"/>
          <p:nvPr/>
        </p:nvSpPr>
        <p:spPr>
          <a:xfrm rot="0" flipH="0" flipV="0">
            <a:off x="5857875" y="5934075"/>
            <a:ext cx="21336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7FA8E8"/>
                </a:solidFill>
                <a:latin typeface="Microsoft YaHei"/>
                <a:ea typeface="Microsoft YaHei"/>
              </a:rPr>
              <a:t>答辩时长</a:t>
            </a:r>
            <a:endParaRPr/>
          </a:p>
        </p:txBody>
      </p:sp>
      <p:sp>
        <p:nvSpPr>
          <p:cNvPr id="18" name="" descr="{&quot;isTemplate&quot;:true,&quot;type&quot;:&quot;text&quot;}"/>
          <p:cNvSpPr txBox="1"/>
          <p:nvPr/>
        </p:nvSpPr>
        <p:spPr>
          <a:xfrm rot="0" flipH="0" flipV="0">
            <a:off x="5857875" y="6143625"/>
            <a:ext cx="21336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演讲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答辩</a:t>
            </a:r>
            <a:r>
              <a:rPr lang="en-US" sz="14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3 </a:t>
            </a: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分钟</a:t>
            </a:r>
            <a:endParaRPr/>
          </a:p>
        </p:txBody>
      </p:sp>
      <p:sp>
        <p:nvSpPr>
          <p:cNvPr id="19" name=""/>
          <p:cNvSpPr/>
          <p:nvPr/>
        </p:nvSpPr>
        <p:spPr>
          <a:xfrm rot="0" flipH="0" flipV="0">
            <a:off x="10887075" y="5867400"/>
            <a:ext cx="723900" cy="495300"/>
          </a:xfrm>
          <a:custGeom>
            <a:pathLst>
              <a:path w="76" h="52">
                <a:moveTo>
                  <a:pt x="0" y="0"/>
                </a:moveTo>
                <a:lnTo>
                  <a:pt x="3" y="0"/>
                </a:lnTo>
                <a:lnTo>
                  <a:pt x="3" y="52"/>
                </a:lnTo>
                <a:lnTo>
                  <a:pt x="0" y="52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0" name="" descr="{&quot;isTemplate&quot;:true,&quot;type&quot;:&quot;text&quot;}"/>
          <p:cNvSpPr txBox="1"/>
          <p:nvPr/>
        </p:nvSpPr>
        <p:spPr>
          <a:xfrm rot="0" flipH="0" flipV="0">
            <a:off x="11125200" y="5867400"/>
            <a:ext cx="4572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>
                <a:solidFill>
                  <a:srgbClr val="ADE8FF"/>
                </a:solidFill>
                <a:latin typeface="Microsoft YaHei"/>
                <a:ea typeface="Microsoft YaHei"/>
              </a:rPr>
              <a:t>答辩人</a:t>
            </a:r>
            <a:endParaRPr/>
          </a:p>
        </p:txBody>
      </p:sp>
      <p:sp>
        <p:nvSpPr>
          <p:cNvPr id="21" name="" descr="{&quot;isTemplate&quot;:true,&quot;type&quot;:&quot;text&quot;}"/>
          <p:cNvSpPr txBox="1"/>
          <p:nvPr/>
        </p:nvSpPr>
        <p:spPr>
          <a:xfrm rot="0" flipH="0" flipV="0">
            <a:off x="11125200" y="6105525"/>
            <a:ext cx="4572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FFFFFF"/>
                </a:solidFill>
                <a:latin typeface="Microsoft YaHei"/>
                <a:ea typeface="Microsoft YaHei"/>
              </a:rPr>
              <a:t>王皓</a:t>
            </a:r>
            <a:endParaRPr/>
          </a:p>
        </p:txBody>
      </p:sp>
    </p:spTree>
  </p:cSld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32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323" name=""/>
          <p:cNvPicPr>
            <a:picLocks noChangeAspect="1"/>
          </p:cNvPicPr>
          <p:nvPr/>
        </p:nvPicPr>
        <p:blipFill>
          <a:blip r:embed="rId1"/>
          <a:srcRect l="6954" t="0" r="6954" b="0"/>
          <a:stretch>
            <a:fillRect/>
          </a:stretch>
        </p:blipFill>
        <p:spPr>
          <a:xfrm rot="0" flipH="0" flipV="0">
            <a:off x="0" y="0"/>
            <a:ext cx="12192000" cy="1123950"/>
          </a:xfrm>
          <a:prstGeom prst="rect">
            <a:avLst/>
          </a:prstGeom>
          <a:ln/>
        </p:spPr>
      </p:pic>
      <p:sp>
        <p:nvSpPr>
          <p:cNvPr id="324" name=""/>
          <p:cNvSpPr/>
          <p:nvPr/>
        </p:nvSpPr>
        <p:spPr>
          <a:xfrm rot="0" flipH="0" flipV="0">
            <a:off x="0" y="0"/>
            <a:ext cx="12192000" cy="1123950"/>
          </a:xfrm>
          <a:prstGeom prst="rect">
            <a:avLst/>
          </a:prstGeom>
          <a:gradFill>
            <a:gsLst>
              <a:gs pos="0">
                <a:srgbClr val="0B2A6B">
                  <a:alpha val="94000"/>
                </a:srgbClr>
              </a:gs>
              <a:gs pos="60000">
                <a:srgbClr val="1B5FD9">
                  <a:alpha val="82000"/>
                </a:srgbClr>
              </a:gs>
              <a:gs pos="100000">
                <a:srgbClr val="1B5FD9">
                  <a:alpha val="55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25" name=""/>
          <p:cNvSpPr/>
          <p:nvPr/>
        </p:nvSpPr>
        <p:spPr>
          <a:xfrm rot="0" flipH="0" flipV="0">
            <a:off x="609600" y="400050"/>
            <a:ext cx="57150" cy="3810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26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3886200" cy="4667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550" b="1">
                <a:solidFill>
                  <a:srgbClr val="FFFFFF"/>
                </a:solidFill>
                <a:latin typeface="Microsoft YaHei"/>
                <a:ea typeface="Microsoft YaHei"/>
              </a:rPr>
              <a:t>门诊做美团，卡在三个地方</a:t>
            </a:r>
            <a:endParaRPr/>
          </a:p>
        </p:txBody>
      </p:sp>
      <p:sp>
        <p:nvSpPr>
          <p:cNvPr id="327" name="" descr="{&quot;isTemplate&quot;:true,&quot;type&quot;:&quot;text&quot;}"/>
          <p:cNvSpPr txBox="1"/>
          <p:nvPr/>
        </p:nvSpPr>
        <p:spPr>
          <a:xfrm rot="0" flipH="0" flipV="0">
            <a:off x="819150" y="762000"/>
            <a:ext cx="38862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数据拿不到</a:t>
            </a:r>
            <a:r>
              <a:rPr lang="en-US" sz="1050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内容做不快</a:t>
            </a:r>
            <a:r>
              <a:rPr lang="en-US" sz="1050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050" spc="75">
                <a:solidFill>
                  <a:srgbClr val="ADE8FF"/>
                </a:solidFill>
                <a:latin typeface="Microsoft YaHei"/>
                <a:ea typeface="Microsoft YaHei"/>
              </a:rPr>
              <a:t>决策靠经验</a:t>
            </a:r>
            <a:endParaRPr/>
          </a:p>
        </p:txBody>
      </p:sp>
      <p:pic>
        <p:nvPicPr>
          <p:cNvPr id="328" name=""/>
          <p:cNvPicPr>
            <a:picLocks noChangeAspect="1"/>
          </p:cNvPicPr>
          <p:nvPr/>
        </p:nvPicPr>
        <p:blipFill>
          <a:blip r:embed="rId2">
            <a:alphaModFix amt="50000"/>
          </a:blip>
          <a:srcRect l="0" t="613" r="0" b="613"/>
          <a:stretch>
            <a:fillRect/>
          </a:stretch>
        </p:blipFill>
        <p:spPr>
          <a:xfrm rot="0" flipH="0" flipV="0">
            <a:off x="10325100" y="285750"/>
            <a:ext cx="1257300" cy="533400"/>
          </a:xfrm>
          <a:prstGeom prst="rect">
            <a:avLst/>
          </a:prstGeom>
          <a:ln/>
        </p:spPr>
      </p:pic>
      <p:sp>
        <p:nvSpPr>
          <p:cNvPr id="329" name=""/>
          <p:cNvSpPr/>
          <p:nvPr/>
        </p:nvSpPr>
        <p:spPr>
          <a:xfrm rot="0" flipH="0" flipV="0">
            <a:off x="609600" y="1428750"/>
            <a:ext cx="3514725" cy="470535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30" name=""/>
          <p:cNvSpPr/>
          <p:nvPr/>
        </p:nvSpPr>
        <p:spPr>
          <a:xfrm rot="0" flipH="0" flipV="0">
            <a:off x="609600" y="1428750"/>
            <a:ext cx="3514725" cy="4705350"/>
          </a:xfrm>
          <a:custGeom>
            <a:pathLst>
              <a:path w="369" h="494">
                <a:moveTo>
                  <a:pt x="356" y="0"/>
                </a:moveTo>
                <a:cubicBezTo>
                  <a:pt x="362" y="0"/>
                  <a:pt x="367" y="5"/>
                  <a:pt x="369" y="11"/>
                </a:cubicBezTo>
                <a:cubicBezTo>
                  <a:pt x="367" y="7"/>
                  <a:pt x="363" y="4"/>
                  <a:pt x="359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31" name=""/>
          <p:cNvSpPr/>
          <p:nvPr/>
        </p:nvSpPr>
        <p:spPr>
          <a:xfrm rot="0" flipH="0" flipV="0">
            <a:off x="876300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2" name="" descr="{&quot;isTemplate&quot;:true,&quot;type&quot;:&quot;text&quot;}"/>
          <p:cNvSpPr txBox="1"/>
          <p:nvPr/>
        </p:nvSpPr>
        <p:spPr>
          <a:xfrm rot="0" flipH="0" flipV="0">
            <a:off x="1009650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Microsoft YaHei"/>
                <a:ea typeface="Microsoft YaHei"/>
              </a:rPr>
              <a:t>1</a:t>
            </a:r>
            <a:endParaRPr/>
          </a:p>
        </p:txBody>
      </p:sp>
      <p:sp>
        <p:nvSpPr>
          <p:cNvPr id="333" name="" descr="{&quot;isTemplate&quot;:true,&quot;type&quot;:&quot;text&quot;}"/>
          <p:cNvSpPr txBox="1"/>
          <p:nvPr/>
        </p:nvSpPr>
        <p:spPr>
          <a:xfrm rot="0" flipH="0" flipV="0">
            <a:off x="1371600" y="17240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数据散在门店里</a:t>
            </a:r>
            <a:endParaRPr/>
          </a:p>
        </p:txBody>
      </p:sp>
      <p:sp>
        <p:nvSpPr>
          <p:cNvPr id="334" name="" descr="{&quot;isTemplate&quot;:true,&quot;type&quot;:&quot;text&quot;}"/>
          <p:cNvSpPr txBox="1"/>
          <p:nvPr/>
        </p:nvSpPr>
        <p:spPr>
          <a:xfrm rot="0" flipH="0" flipV="0">
            <a:off x="876300" y="2171700"/>
            <a:ext cx="298132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B5FD9"/>
                </a:solidFill>
                <a:latin typeface="Microsoft YaHei"/>
                <a:ea typeface="Microsoft YaHei"/>
              </a:rPr>
              <a:t>28</a:t>
            </a:r>
            <a:endParaRPr/>
          </a:p>
        </p:txBody>
      </p:sp>
      <p:sp>
        <p:nvSpPr>
          <p:cNvPr id="335" name="" descr="{&quot;isTemplate&quot;:true,&quot;type&quot;:&quot;text&quot;}"/>
          <p:cNvSpPr txBox="1"/>
          <p:nvPr/>
        </p:nvSpPr>
        <p:spPr>
          <a:xfrm rot="0" flipH="0" flipV="0">
            <a:off x="876300" y="294322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家辽宁门诊的经营数据，总部拿不到横向对比</a:t>
            </a:r>
            <a:endParaRPr/>
          </a:p>
        </p:txBody>
      </p:sp>
      <p:sp>
        <p:nvSpPr>
          <p:cNvPr id="336" name="" descr="{&quot;isTemplate&quot;:true,&quot;type&quot;:&quot;text&quot;}"/>
          <p:cNvSpPr txBox="1"/>
          <p:nvPr/>
        </p:nvSpPr>
        <p:spPr>
          <a:xfrm rot="0" flipH="0" flipV="0">
            <a:off x="876300" y="3257550"/>
            <a:ext cx="2981325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美团「经营参谋」在每家门店的手机里，评分、曝光、转化、评价各自分散。要看全省</a:t>
            </a:r>
            <a:r>
              <a:rPr lang="en-US" sz="1050">
                <a:solidFill>
                  <a:srgbClr val="3A4A66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家门诊的经营评分，只能一家一家登录截图，再用</a:t>
            </a:r>
            <a:r>
              <a:rPr lang="en-US" sz="1050">
                <a:solidFill>
                  <a:srgbClr val="3A4A66"/>
                </a:solidFill>
                <a:latin typeface="Microsoft YaHei"/>
                <a:ea typeface="Microsoft YaHei"/>
              </a:rPr>
              <a:t xml:space="preserve"> Excel </a:t>
            </a: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手工拼表——一个周期下来两三天，数据还没法实时。</a:t>
            </a:r>
            <a:endParaRPr/>
          </a:p>
        </p:txBody>
      </p:sp>
      <p:sp>
        <p:nvSpPr>
          <p:cNvPr id="337" name=""/>
          <p:cNvSpPr/>
          <p:nvPr/>
        </p:nvSpPr>
        <p:spPr>
          <a:xfrm rot="0" flipH="0" flipV="0">
            <a:off x="904875" y="5162550"/>
            <a:ext cx="2981325" cy="666750"/>
          </a:xfrm>
          <a:prstGeom prst="roundRect">
            <a:avLst>
              <a:gd name="adj" fmla="val 5714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38" name=""/>
          <p:cNvSpPr/>
          <p:nvPr/>
        </p:nvSpPr>
        <p:spPr>
          <a:xfrm rot="0" flipH="0" flipV="0">
            <a:off x="904875" y="5162550"/>
            <a:ext cx="2981325" cy="666750"/>
          </a:xfrm>
          <a:custGeom>
            <a:pathLst>
              <a:path w="313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39" name="" descr="{&quot;isTemplate&quot;:true,&quot;type&quot;:&quot;text&quot;}"/>
          <p:cNvSpPr txBox="1"/>
          <p:nvPr/>
        </p:nvSpPr>
        <p:spPr>
          <a:xfrm rot="0" flipH="0" flipV="0">
            <a:off x="1038225" y="5257800"/>
            <a:ext cx="2686050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后果：总部只能</a:t>
            </a:r>
            <a:r>
              <a:rPr lang="en-US" sz="975">
                <a:solidFill>
                  <a:srgbClr val="B4560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事后看总分</a:t>
            </a:r>
            <a:r>
              <a:rPr lang="en-US" sz="975">
                <a:solidFill>
                  <a:srgbClr val="B4560F"/>
                </a:solidFill>
                <a:latin typeface="Microsoft YaHei"/>
                <a:ea typeface="Microsoft YaHei"/>
              </a:rPr>
              <a:t>"</a:t>
            </a: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，发现不了过程问题</a:t>
            </a:r>
            <a:endParaRPr/>
          </a:p>
        </p:txBody>
      </p:sp>
      <p:sp>
        <p:nvSpPr>
          <p:cNvPr id="340" name=""/>
          <p:cNvSpPr/>
          <p:nvPr/>
        </p:nvSpPr>
        <p:spPr>
          <a:xfrm rot="0" flipH="0" flipV="0">
            <a:off x="4333875" y="1428750"/>
            <a:ext cx="3524250" cy="4705350"/>
          </a:xfrm>
          <a:prstGeom prst="roundRect">
            <a:avLst>
              <a:gd name="adj" fmla="val 378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41" name=""/>
          <p:cNvSpPr/>
          <p:nvPr/>
        </p:nvSpPr>
        <p:spPr>
          <a:xfrm rot="0" flipH="0" flipV="0">
            <a:off x="4333875" y="1428750"/>
            <a:ext cx="3524250" cy="4705350"/>
          </a:xfrm>
          <a:custGeom>
            <a:pathLst>
              <a:path w="370" h="494">
                <a:moveTo>
                  <a:pt x="357" y="0"/>
                </a:moveTo>
                <a:cubicBezTo>
                  <a:pt x="363" y="0"/>
                  <a:pt x="368" y="5"/>
                  <a:pt x="370" y="11"/>
                </a:cubicBezTo>
                <a:cubicBezTo>
                  <a:pt x="368" y="7"/>
                  <a:pt x="364" y="4"/>
                  <a:pt x="360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6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42" name=""/>
          <p:cNvSpPr/>
          <p:nvPr/>
        </p:nvSpPr>
        <p:spPr>
          <a:xfrm rot="0" flipH="0" flipV="0">
            <a:off x="4600575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43" name="" descr="{&quot;isTemplate&quot;:true,&quot;type&quot;:&quot;text&quot;}"/>
          <p:cNvSpPr txBox="1"/>
          <p:nvPr/>
        </p:nvSpPr>
        <p:spPr>
          <a:xfrm rot="0" flipH="0" flipV="0">
            <a:off x="4733925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44" name="" descr="{&quot;isTemplate&quot;:true,&quot;type&quot;:&quot;text&quot;}"/>
          <p:cNvSpPr txBox="1"/>
          <p:nvPr/>
        </p:nvSpPr>
        <p:spPr>
          <a:xfrm rot="0" flipH="0" flipV="0">
            <a:off x="5095875" y="1724025"/>
            <a:ext cx="1400175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内容产能跟不上</a:t>
            </a:r>
            <a:endParaRPr/>
          </a:p>
        </p:txBody>
      </p:sp>
      <p:sp>
        <p:nvSpPr>
          <p:cNvPr id="345" name="" descr="{&quot;isTemplate&quot;:true,&quot;type&quot;:&quot;text&quot;}"/>
          <p:cNvSpPr txBox="1"/>
          <p:nvPr/>
        </p:nvSpPr>
        <p:spPr>
          <a:xfrm rot="0" flipH="0" flipV="0">
            <a:off x="4600575" y="2171700"/>
            <a:ext cx="3810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1B5FD9"/>
                </a:solidFill>
                <a:latin typeface="Microsoft YaHei"/>
                <a:ea typeface="Microsoft YaHei"/>
              </a:rPr>
              <a:t>2</a:t>
            </a:r>
            <a:endParaRPr/>
          </a:p>
        </p:txBody>
      </p:sp>
      <p:sp>
        <p:nvSpPr>
          <p:cNvPr id="346" name="" descr="{&quot;isTemplate&quot;:true,&quot;type&quot;:&quot;text&quot;}"/>
          <p:cNvSpPr txBox="1"/>
          <p:nvPr/>
        </p:nvSpPr>
        <p:spPr>
          <a:xfrm rot="0" flipH="0" flipV="0">
            <a:off x="5057775" y="2571750"/>
            <a:ext cx="41910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650" b="1">
                <a:solidFill>
                  <a:srgbClr val="1B5FD9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347" name="" descr="{&quot;isTemplate&quot;:true,&quot;type&quot;:&quot;text&quot;}"/>
          <p:cNvSpPr txBox="1"/>
          <p:nvPr/>
        </p:nvSpPr>
        <p:spPr>
          <a:xfrm rot="0" flipH="0" flipV="0">
            <a:off x="4600575" y="2943225"/>
            <a:ext cx="29908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写一条美团文案，还要配图、排版、凑满</a:t>
            </a:r>
            <a:r>
              <a:rPr lang="en-US" sz="1050">
                <a:solidFill>
                  <a:srgbClr val="5A6B8C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张</a:t>
            </a:r>
            <a:endParaRPr/>
          </a:p>
        </p:txBody>
      </p:sp>
      <p:sp>
        <p:nvSpPr>
          <p:cNvPr id="348" name="" descr="{&quot;isTemplate&quot;:true,&quot;type&quot;:&quot;text&quot;}"/>
          <p:cNvSpPr txBox="1"/>
          <p:nvPr/>
        </p:nvSpPr>
        <p:spPr>
          <a:xfrm rot="0" flipH="0" flipV="0">
            <a:off x="4600575" y="3257550"/>
            <a:ext cx="2990850" cy="17907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门诊没有专职设计，暑期档、开学季、活动期文案需求集中爆发。写文案、配图、查违禁词、调整主图，一轮下来两小时起。门店没有美术资源，集团统一的品牌视觉也落不了地。</a:t>
            </a:r>
            <a:endParaRPr/>
          </a:p>
        </p:txBody>
      </p:sp>
      <p:sp>
        <p:nvSpPr>
          <p:cNvPr id="349" name=""/>
          <p:cNvSpPr/>
          <p:nvPr/>
        </p:nvSpPr>
        <p:spPr>
          <a:xfrm rot="0" flipH="0" flipV="0">
            <a:off x="4629150" y="5162550"/>
            <a:ext cx="2990850" cy="666750"/>
          </a:xfrm>
          <a:prstGeom prst="roundRect">
            <a:avLst>
              <a:gd name="adj" fmla="val 5714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0" name=""/>
          <p:cNvSpPr/>
          <p:nvPr/>
        </p:nvSpPr>
        <p:spPr>
          <a:xfrm rot="0" flipH="0" flipV="0">
            <a:off x="4629150" y="5162550"/>
            <a:ext cx="2990850" cy="666750"/>
          </a:xfrm>
          <a:custGeom>
            <a:pathLst>
              <a:path w="314" h="70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69"/>
                </a:lnTo>
                <a:cubicBezTo>
                  <a:pt x="3" y="69"/>
                  <a:pt x="3" y="70"/>
                  <a:pt x="4" y="70"/>
                </a:cubicBezTo>
                <a:cubicBezTo>
                  <a:pt x="2" y="70"/>
                  <a:pt x="0" y="68"/>
                  <a:pt x="0" y="66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51" name="" descr="{&quot;isTemplate&quot;:true,&quot;type&quot;:&quot;text&quot;}"/>
          <p:cNvSpPr txBox="1"/>
          <p:nvPr/>
        </p:nvSpPr>
        <p:spPr>
          <a:xfrm rot="0" flipH="0" flipV="0">
            <a:off x="4762500" y="5257800"/>
            <a:ext cx="2695575" cy="47625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后果：活动期只能仓促发图，质量与合规都难保证</a:t>
            </a:r>
            <a:endParaRPr/>
          </a:p>
        </p:txBody>
      </p:sp>
      <p:sp>
        <p:nvSpPr>
          <p:cNvPr id="352" name=""/>
          <p:cNvSpPr/>
          <p:nvPr/>
        </p:nvSpPr>
        <p:spPr>
          <a:xfrm rot="0" flipH="0" flipV="0">
            <a:off x="8067675" y="1428750"/>
            <a:ext cx="3514725" cy="4705350"/>
          </a:xfrm>
          <a:prstGeom prst="roundRect">
            <a:avLst>
              <a:gd name="adj" fmla="val 3794"/>
            </a:avLst>
          </a:prstGeom>
          <a:solidFill>
            <a:srgbClr val="FFFFFF"/>
          </a:solidFill>
          <a:ln/>
          <a:effectLst>
            <a:outerShdw blurRad="209550" dist="5715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53" name=""/>
          <p:cNvSpPr/>
          <p:nvPr/>
        </p:nvSpPr>
        <p:spPr>
          <a:xfrm rot="0" flipH="0" flipV="0">
            <a:off x="8067675" y="1428750"/>
            <a:ext cx="3514725" cy="4705350"/>
          </a:xfrm>
          <a:custGeom>
            <a:pathLst>
              <a:path w="369" h="494">
                <a:moveTo>
                  <a:pt x="356" y="0"/>
                </a:moveTo>
                <a:cubicBezTo>
                  <a:pt x="362" y="0"/>
                  <a:pt x="367" y="5"/>
                  <a:pt x="369" y="11"/>
                </a:cubicBezTo>
                <a:cubicBezTo>
                  <a:pt x="367" y="7"/>
                  <a:pt x="363" y="4"/>
                  <a:pt x="359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5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54" name=""/>
          <p:cNvSpPr/>
          <p:nvPr/>
        </p:nvSpPr>
        <p:spPr>
          <a:xfrm rot="0" flipH="0" flipV="0">
            <a:off x="8334375" y="1657350"/>
            <a:ext cx="381000" cy="381000"/>
          </a:xfrm>
          <a:prstGeom prst="roundRect">
            <a:avLst>
              <a:gd name="adj" fmla="val 50000"/>
            </a:avLst>
          </a:prstGeom>
          <a:solidFill>
            <a:srgbClr val="FF8A3D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5" name="" descr="{&quot;isTemplate&quot;:true,&quot;type&quot;:&quot;text&quot;}"/>
          <p:cNvSpPr txBox="1"/>
          <p:nvPr/>
        </p:nvSpPr>
        <p:spPr>
          <a:xfrm rot="0" flipH="0" flipV="0">
            <a:off x="8467725" y="1743075"/>
            <a:ext cx="1143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8A3D"/>
                </a:solidFill>
                <a:latin typeface="Microsoft YaHei"/>
                <a:ea typeface="Microsoft YaHei"/>
              </a:rPr>
              <a:t>3</a:t>
            </a:r>
            <a:endParaRPr/>
          </a:p>
        </p:txBody>
      </p:sp>
      <p:sp>
        <p:nvSpPr>
          <p:cNvPr id="356" name="" descr="{&quot;isTemplate&quot;:true,&quot;type&quot;:&quot;text&quot;}"/>
          <p:cNvSpPr txBox="1"/>
          <p:nvPr/>
        </p:nvSpPr>
        <p:spPr>
          <a:xfrm rot="0" flipH="0" flipV="0">
            <a:off x="8829675" y="1724025"/>
            <a:ext cx="12001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0B2A6B"/>
                </a:solidFill>
                <a:latin typeface="Microsoft YaHei"/>
                <a:ea typeface="Microsoft YaHei"/>
              </a:rPr>
              <a:t>判断全凭经验</a:t>
            </a:r>
            <a:endParaRPr/>
          </a:p>
        </p:txBody>
      </p:sp>
      <p:sp>
        <p:nvSpPr>
          <p:cNvPr id="357" name="" descr="{&quot;isTemplate&quot;:true,&quot;type&quot;:&quot;text&quot;}"/>
          <p:cNvSpPr txBox="1"/>
          <p:nvPr/>
        </p:nvSpPr>
        <p:spPr>
          <a:xfrm rot="0" flipH="0" flipV="0">
            <a:off x="8334375" y="2171700"/>
            <a:ext cx="752475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8A3D"/>
                </a:solidFill>
                <a:latin typeface="Microsoft YaHei"/>
                <a:ea typeface="Microsoft YaHei"/>
              </a:rPr>
              <a:t>60</a:t>
            </a:r>
            <a:endParaRPr/>
          </a:p>
        </p:txBody>
      </p:sp>
      <p:sp>
        <p:nvSpPr>
          <p:cNvPr id="358" name="" descr="{&quot;isTemplate&quot;:true,&quot;type&quot;:&quot;text&quot;}"/>
          <p:cNvSpPr txBox="1"/>
          <p:nvPr/>
        </p:nvSpPr>
        <p:spPr>
          <a:xfrm rot="0" flipH="0" flipV="0">
            <a:off x="9163050" y="2571750"/>
            <a:ext cx="200025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FF8A3D"/>
                </a:solidFill>
                <a:latin typeface="Microsoft YaHei"/>
                <a:ea typeface="Microsoft YaHei"/>
              </a:rPr>
              <a:t>%</a:t>
            </a:r>
            <a:endParaRPr/>
          </a:p>
        </p:txBody>
      </p:sp>
      <p:sp>
        <p:nvSpPr>
          <p:cNvPr id="359" name="" descr="{&quot;isTemplate&quot;:true,&quot;type&quot;:&quot;text&quot;}"/>
          <p:cNvSpPr txBox="1"/>
          <p:nvPr/>
        </p:nvSpPr>
        <p:spPr>
          <a:xfrm rot="0" flipH="0" flipV="0">
            <a:off x="8334375" y="2943225"/>
            <a:ext cx="2981325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的近</a:t>
            </a:r>
            <a:r>
              <a:rPr lang="en-US" sz="1050">
                <a:solidFill>
                  <a:srgbClr val="5A6B8C"/>
                </a:solidFill>
                <a:latin typeface="Microsoft YaHei"/>
                <a:ea typeface="Microsoft YaHei"/>
              </a:rPr>
              <a:t xml:space="preserve"> 30 </a:t>
            </a:r>
            <a:r>
              <a:rPr lang="zh-CN" sz="1050">
                <a:solidFill>
                  <a:srgbClr val="5A6B8C"/>
                </a:solidFill>
                <a:latin typeface="Microsoft YaHei"/>
                <a:ea typeface="Microsoft YaHei"/>
              </a:rPr>
              <a:t>天差评没被回复（抽样）</a:t>
            </a:r>
            <a:endParaRPr/>
          </a:p>
        </p:txBody>
      </p:sp>
      <p:sp>
        <p:nvSpPr>
          <p:cNvPr id="360" name="" descr="{&quot;isTemplate&quot;:true,&quot;type&quot;:&quot;text&quot;}"/>
          <p:cNvSpPr txBox="1"/>
          <p:nvPr/>
        </p:nvSpPr>
        <p:spPr>
          <a:xfrm rot="0" flipH="0" flipV="0">
            <a:off x="8334375" y="3257550"/>
            <a:ext cx="2981325" cy="20288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1050">
                <a:solidFill>
                  <a:srgbClr val="3A4A66"/>
                </a:solidFill>
                <a:latin typeface="Microsoft YaHei"/>
                <a:ea typeface="Microsoft YaHei"/>
              </a:rPr>
              <a:t>差评要不要回、怎么回、差评背后是哪类问题；团购定价该定多少、和隔壁哪家比；这月该做哪个活动、拉哪个客——全看店长个人经验。人一走，判断就断档，经验也没法沉淀成集团资产。</a:t>
            </a:r>
            <a:endParaRPr/>
          </a:p>
        </p:txBody>
      </p:sp>
      <p:sp>
        <p:nvSpPr>
          <p:cNvPr id="361" name=""/>
          <p:cNvSpPr/>
          <p:nvPr/>
        </p:nvSpPr>
        <p:spPr>
          <a:xfrm rot="0" flipH="0" flipV="0">
            <a:off x="8362950" y="5400675"/>
            <a:ext cx="2981325" cy="428625"/>
          </a:xfrm>
          <a:prstGeom prst="roundRect">
            <a:avLst>
              <a:gd name="adj" fmla="val 8889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62" name=""/>
          <p:cNvSpPr/>
          <p:nvPr/>
        </p:nvSpPr>
        <p:spPr>
          <a:xfrm rot="0" flipH="0" flipV="0">
            <a:off x="8362950" y="5400675"/>
            <a:ext cx="2981325" cy="428625"/>
          </a:xfrm>
          <a:custGeom>
            <a:pathLst>
              <a:path w="313" h="45">
                <a:moveTo>
                  <a:pt x="4" y="0"/>
                </a:moveTo>
                <a:cubicBezTo>
                  <a:pt x="3" y="0"/>
                  <a:pt x="3" y="0"/>
                  <a:pt x="3" y="1"/>
                </a:cubicBezTo>
                <a:lnTo>
                  <a:pt x="3" y="44"/>
                </a:lnTo>
                <a:cubicBezTo>
                  <a:pt x="3" y="44"/>
                  <a:pt x="3" y="45"/>
                  <a:pt x="4" y="45"/>
                </a:cubicBezTo>
                <a:cubicBezTo>
                  <a:pt x="2" y="45"/>
                  <a:pt x="0" y="43"/>
                  <a:pt x="0" y="41"/>
                </a:cubicBezTo>
                <a:lnTo>
                  <a:pt x="0" y="4"/>
                </a:lnTo>
                <a:cubicBezTo>
                  <a:pt x="0" y="2"/>
                  <a:pt x="2" y="0"/>
                  <a:pt x="4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363" name="" descr="{&quot;isTemplate&quot;:true,&quot;type&quot;:&quot;text&quot;}"/>
          <p:cNvSpPr txBox="1"/>
          <p:nvPr/>
        </p:nvSpPr>
        <p:spPr>
          <a:xfrm rot="0" flipH="0" flipV="0">
            <a:off x="8496300" y="5495925"/>
            <a:ext cx="2686050" cy="238125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75">
                <a:solidFill>
                  <a:srgbClr val="B4560F"/>
                </a:solidFill>
                <a:latin typeface="Microsoft YaHei"/>
                <a:ea typeface="Microsoft YaHei"/>
              </a:rPr>
              <a:t>后果：好经验留在个人脑子里，集团拿不走</a:t>
            </a:r>
            <a:endParaRPr/>
          </a:p>
        </p:txBody>
      </p:sp>
      <p:sp>
        <p:nvSpPr>
          <p:cNvPr id="364" name="" descr="{&quot;isTemplate&quot;:true,&quot;type&quot;:&quot;text&quot;}"/>
          <p:cNvSpPr txBox="1"/>
          <p:nvPr/>
        </p:nvSpPr>
        <p:spPr>
          <a:xfrm rot="0" flipH="0" flipV="0">
            <a:off x="609600" y="649605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365" name="" descr="{&quot;isTemplate&quot;:true,&quot;type&quot;:&quot;text&quot;}"/>
          <p:cNvSpPr txBox="1"/>
          <p:nvPr/>
        </p:nvSpPr>
        <p:spPr>
          <a:xfrm rot="0" flipH="0" flipV="0">
            <a:off x="11201400" y="649605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02 / 15</a:t>
            </a:r>
            <a:endParaRPr/>
          </a:p>
        </p:txBody>
      </p:sp>
    </p:spTree>
  </p:cSld>
</p:sld>
</file>

<file path=ppt/slides/slide3.xml><?xml version="1.0" encoding="utf-8"?>
<p:sld xmlns:p="http://schemas.openxmlformats.org/presentationml/2006/main" xmlns:a="http://schemas.openxmlformats.org/drawingml/2006/main" xmlns:asvg="http://schemas.microsoft.com/office/drawing/2016/SVG/main" xmlns:r="http://schemas.openxmlformats.org/officeDocument/2006/relationships" xmlns:mc="http://schemas.openxmlformats.org/markup-compatibility/2006" mc:Ignorable="asvg">
  <p:cSld>
    <p:spTree>
      <p:nvGrpSpPr>
        <p:cNvPr id="3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368" name=""/>
          <p:cNvSpPr/>
          <p:nvPr/>
        </p:nvSpPr>
        <p:spPr>
          <a:xfrm rot="0" flipH="0" flipV="0">
            <a:off x="0" y="0"/>
            <a:ext cx="12192000" cy="914400"/>
          </a:xfrm>
          <a:prstGeom prst="rect">
            <a:avLst/>
          </a:prstGeom>
          <a:gradFill>
            <a:gsLst>
              <a:gs pos="0">
                <a:srgbClr val="0B2A6B"/>
              </a:gs>
              <a:gs pos="70000">
                <a:srgbClr val="1B5FD9"/>
              </a:gs>
              <a:gs pos="100000">
                <a:srgbClr val="1B5FD9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69" name=""/>
          <p:cNvSpPr/>
          <p:nvPr/>
        </p:nvSpPr>
        <p:spPr>
          <a:xfrm rot="0" flipH="0" flipV="0">
            <a:off x="8191500" y="0"/>
            <a:ext cx="4000500" cy="914400"/>
          </a:xfrm>
          <a:prstGeom prst="rect">
            <a:avLst/>
          </a:prstGeom>
          <a:gradFill>
            <a:gsLst>
              <a:gs pos="0">
                <a:srgbClr val="1B5FD9">
                  <a:alpha val="0"/>
                </a:srgbClr>
              </a:gs>
              <a:gs pos="100000">
                <a:srgbClr val="35C8F0">
                  <a:alpha val="28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370" name=""/>
          <p:cNvSpPr/>
          <p:nvPr/>
        </p:nvSpPr>
        <p:spPr>
          <a:xfrm rot="0" flipH="0" flipV="0">
            <a:off x="609600" y="3714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71" name="" descr="{&quot;isTemplate&quot;:true,&quot;type&quot;:&quot;text&quot;}"/>
          <p:cNvSpPr txBox="1"/>
          <p:nvPr/>
        </p:nvSpPr>
        <p:spPr>
          <a:xfrm rot="0" flipH="0" flipV="0">
            <a:off x="819150" y="228600"/>
            <a:ext cx="45720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一个工作台，串起美团经营全链路</a:t>
            </a:r>
            <a:endParaRPr/>
          </a:p>
        </p:txBody>
      </p:sp>
      <p:sp>
        <p:nvSpPr>
          <p:cNvPr id="372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457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看数据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判问题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产内容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管评价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给建议</a:t>
            </a:r>
            <a:endParaRPr/>
          </a:p>
        </p:txBody>
      </p:sp>
      <p:sp>
        <p:nvSpPr>
          <p:cNvPr id="373" name=""/>
          <p:cNvSpPr/>
          <p:nvPr/>
        </p:nvSpPr>
        <p:spPr>
          <a:xfrm rot="0" flipH="0" flipV="0">
            <a:off x="4991100" y="114300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74" name=""/>
          <p:cNvSpPr/>
          <p:nvPr/>
        </p:nvSpPr>
        <p:spPr>
          <a:xfrm rot="0" flipH="0" flipV="0">
            <a:off x="4991100" y="1143000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75" name="" descr="{&quot;isTemplate&quot;:true,&quot;type&quot;:&quot;text&quot;}"/>
          <p:cNvSpPr txBox="1"/>
          <p:nvPr/>
        </p:nvSpPr>
        <p:spPr>
          <a:xfrm rot="0" flipH="0" flipV="0">
            <a:off x="5162550" y="14382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B5FD9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376" name="" descr="{&quot;isTemplate&quot;:true,&quot;type&quot;:&quot;text&quot;}"/>
          <p:cNvSpPr txBox="1"/>
          <p:nvPr/>
        </p:nvSpPr>
        <p:spPr>
          <a:xfrm rot="0" flipH="0" flipV="0">
            <a:off x="5753100" y="1362075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看数据</a:t>
            </a:r>
            <a:endParaRPr/>
          </a:p>
        </p:txBody>
      </p:sp>
      <p:sp>
        <p:nvSpPr>
          <p:cNvPr id="377" name="" descr="{&quot;isTemplate&quot;:true,&quot;type&quot;:&quot;text&quot;}"/>
          <p:cNvSpPr txBox="1"/>
          <p:nvPr/>
        </p:nvSpPr>
        <p:spPr>
          <a:xfrm rot="0" flipH="0" flipV="0">
            <a:off x="5753100" y="1590675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经营驾驶舱汇总评分、漏斗、评价、星级四维视图</a:t>
            </a:r>
            <a:endParaRPr/>
          </a:p>
        </p:txBody>
      </p:sp>
      <p:sp>
        <p:nvSpPr>
          <p:cNvPr id="378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79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0" name=""/>
          <p:cNvSpPr/>
          <p:nvPr/>
        </p:nvSpPr>
        <p:spPr>
          <a:xfrm rot="0" flipH="0" flipV="0">
            <a:off x="11410950" y="1590675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1" name=""/>
          <p:cNvSpPr/>
          <p:nvPr/>
        </p:nvSpPr>
        <p:spPr>
          <a:xfrm rot="0" flipH="0" flipV="0">
            <a:off x="4991100" y="2152650"/>
            <a:ext cx="66294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82" name=""/>
          <p:cNvSpPr/>
          <p:nvPr/>
        </p:nvSpPr>
        <p:spPr>
          <a:xfrm rot="0" flipH="0" flipV="0">
            <a:off x="4991100" y="2152650"/>
            <a:ext cx="6629400" cy="904875"/>
          </a:xfrm>
          <a:custGeom>
            <a:pathLst>
              <a:path w="696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83" name="" descr="{&quot;isTemplate&quot;:true,&quot;type&quot;:&quot;text&quot;}"/>
          <p:cNvSpPr txBox="1"/>
          <p:nvPr/>
        </p:nvSpPr>
        <p:spPr>
          <a:xfrm rot="0" flipH="0" flipV="0">
            <a:off x="5162550" y="245745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1B5FD9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384" name="" descr="{&quot;isTemplate&quot;:true,&quot;type&quot;:&quot;text&quot;}"/>
          <p:cNvSpPr txBox="1"/>
          <p:nvPr/>
        </p:nvSpPr>
        <p:spPr>
          <a:xfrm rot="0" flipH="0" flipV="0">
            <a:off x="5753100" y="2371725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判问题</a:t>
            </a:r>
            <a:endParaRPr/>
          </a:p>
        </p:txBody>
      </p:sp>
      <p:sp>
        <p:nvSpPr>
          <p:cNvPr id="385" name="" descr="{&quot;isTemplate&quot;:true,&quot;type&quot;:&quot;text&quot;}"/>
          <p:cNvSpPr txBox="1"/>
          <p:nvPr/>
        </p:nvSpPr>
        <p:spPr>
          <a:xfrm rot="0" flipH="0" flipV="0">
            <a:off x="5753100" y="2600325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竞品比价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项目结构分析，定位定价与品类缺口</a:t>
            </a:r>
            <a:endParaRPr/>
          </a:p>
        </p:txBody>
      </p:sp>
      <p:sp>
        <p:nvSpPr>
          <p:cNvPr id="386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87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8" name=""/>
          <p:cNvSpPr/>
          <p:nvPr/>
        </p:nvSpPr>
        <p:spPr>
          <a:xfrm rot="0" flipH="0" flipV="0">
            <a:off x="11410950" y="2609850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89" name=""/>
          <p:cNvSpPr/>
          <p:nvPr/>
        </p:nvSpPr>
        <p:spPr>
          <a:xfrm rot="0" flipH="0" flipV="0">
            <a:off x="4991100" y="3171825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90" name=""/>
          <p:cNvSpPr/>
          <p:nvPr/>
        </p:nvSpPr>
        <p:spPr>
          <a:xfrm rot="0" flipH="0" flipV="0">
            <a:off x="4991100" y="3171825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91" name="" descr="{&quot;isTemplate&quot;:true,&quot;type&quot;:&quot;text&quot;}"/>
          <p:cNvSpPr txBox="1"/>
          <p:nvPr/>
        </p:nvSpPr>
        <p:spPr>
          <a:xfrm rot="0" flipH="0" flipV="0">
            <a:off x="5162550" y="3467100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5C8F0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392" name="" descr="{&quot;isTemplate&quot;:true,&quot;type&quot;:&quot;text&quot;}"/>
          <p:cNvSpPr txBox="1"/>
          <p:nvPr/>
        </p:nvSpPr>
        <p:spPr>
          <a:xfrm rot="0" flipH="0" flipV="0">
            <a:off x="5753100" y="3390900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产内容</a:t>
            </a:r>
            <a:endParaRPr/>
          </a:p>
        </p:txBody>
      </p:sp>
      <p:sp>
        <p:nvSpPr>
          <p:cNvPr id="393" name="" descr="{&quot;isTemplate&quot;:true,&quot;type&quot;:&quot;text&quot;}"/>
          <p:cNvSpPr txBox="1"/>
          <p:nvPr/>
        </p:nvSpPr>
        <p:spPr>
          <a:xfrm rot="0" flipH="0" flipV="0">
            <a:off x="5753100" y="3619500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文案生成、套图生成、主图诊断、话术建议</a:t>
            </a:r>
            <a:endParaRPr/>
          </a:p>
        </p:txBody>
      </p:sp>
      <p:sp>
        <p:nvSpPr>
          <p:cNvPr id="394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395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6" name=""/>
          <p:cNvSpPr/>
          <p:nvPr/>
        </p:nvSpPr>
        <p:spPr>
          <a:xfrm rot="0" flipH="0" flipV="0">
            <a:off x="11410950" y="3619500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97" name=""/>
          <p:cNvSpPr/>
          <p:nvPr/>
        </p:nvSpPr>
        <p:spPr>
          <a:xfrm rot="0" flipH="0" flipV="0">
            <a:off x="4991100" y="4181475"/>
            <a:ext cx="6629400" cy="904875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398" name=""/>
          <p:cNvSpPr/>
          <p:nvPr/>
        </p:nvSpPr>
        <p:spPr>
          <a:xfrm rot="0" flipH="0" flipV="0">
            <a:off x="4991100" y="4181475"/>
            <a:ext cx="6629400" cy="904875"/>
          </a:xfrm>
          <a:custGeom>
            <a:pathLst>
              <a:path w="696" h="95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9"/>
                </a:lnTo>
                <a:cubicBezTo>
                  <a:pt x="4" y="92"/>
                  <a:pt x="6" y="94"/>
                  <a:pt x="9" y="95"/>
                </a:cubicBezTo>
                <a:cubicBezTo>
                  <a:pt x="4" y="94"/>
                  <a:pt x="0" y="90"/>
                  <a:pt x="0" y="85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99" name="" descr="{&quot;isTemplate&quot;:true,&quot;type&quot;:&quot;text&quot;}"/>
          <p:cNvSpPr txBox="1"/>
          <p:nvPr/>
        </p:nvSpPr>
        <p:spPr>
          <a:xfrm rot="0" flipH="0" flipV="0">
            <a:off x="5162550" y="448627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35C8F0"/>
                </a:solidFill>
                <a:latin typeface="Arial"/>
                <a:ea typeface="Arial"/>
              </a:rPr>
              <a:t>04</a:t>
            </a:r>
            <a:endParaRPr/>
          </a:p>
        </p:txBody>
      </p:sp>
      <p:sp>
        <p:nvSpPr>
          <p:cNvPr id="400" name="" descr="{&quot;isTemplate&quot;:true,&quot;type&quot;:&quot;text&quot;}"/>
          <p:cNvSpPr txBox="1"/>
          <p:nvPr/>
        </p:nvSpPr>
        <p:spPr>
          <a:xfrm rot="0" flipH="0" flipV="0">
            <a:off x="5753100" y="4400550"/>
            <a:ext cx="55054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管评价</a:t>
            </a:r>
            <a:endParaRPr/>
          </a:p>
        </p:txBody>
      </p:sp>
      <p:sp>
        <p:nvSpPr>
          <p:cNvPr id="401" name="" descr="{&quot;isTemplate&quot;:true,&quot;type&quot;:&quot;text&quot;}"/>
          <p:cNvSpPr txBox="1"/>
          <p:nvPr/>
        </p:nvSpPr>
        <p:spPr>
          <a:xfrm rot="0" flipH="0" flipV="0">
            <a:off x="5753100" y="4629150"/>
            <a:ext cx="55054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差评智能分析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分级回复建议，不漏一条</a:t>
            </a:r>
            <a:endParaRPr/>
          </a:p>
        </p:txBody>
      </p:sp>
      <p:sp>
        <p:nvSpPr>
          <p:cNvPr id="402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5"/>
                </a:lnTo>
                <a:lnTo>
                  <a:pt x="7" y="5"/>
                </a:lnTo>
                <a:lnTo>
                  <a:pt x="0" y="10"/>
                </a:lnTo>
                <a:close/>
              </a:path>
            </a:pathLst>
          </a:custGeom>
          <a:solidFill>
            <a:srgbClr val="B9CBE8"/>
          </a:solidFill>
          <a:ln/>
        </p:spPr>
        <p:txBody>
          <a:bodyPr/>
          <a:p>
            <a:pPr/>
            <a:endParaRPr/>
          </a:p>
        </p:txBody>
      </p:sp>
      <p:sp>
        <p:nvSpPr>
          <p:cNvPr id="403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0" y="0"/>
                </a:moveTo>
                <a:lnTo>
                  <a:pt x="7" y="0"/>
                </a:lnTo>
                <a:lnTo>
                  <a:pt x="7" y="5"/>
                </a:lnTo>
                <a:lnTo>
                  <a:pt x="7" y="5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4" name=""/>
          <p:cNvSpPr/>
          <p:nvPr/>
        </p:nvSpPr>
        <p:spPr>
          <a:xfrm rot="0" flipH="0" flipV="0">
            <a:off x="11410950" y="4638675"/>
            <a:ext cx="66675" cy="95250"/>
          </a:xfrm>
          <a:custGeom>
            <a:pathLst>
              <a:path w="7" h="10">
                <a:moveTo>
                  <a:pt x="7" y="5"/>
                </a:moveTo>
                <a:lnTo>
                  <a:pt x="7" y="5"/>
                </a:lnTo>
                <a:lnTo>
                  <a:pt x="7" y="10"/>
                </a:lnTo>
                <a:lnTo>
                  <a:pt x="0" y="1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05" name=""/>
          <p:cNvSpPr/>
          <p:nvPr/>
        </p:nvSpPr>
        <p:spPr>
          <a:xfrm rot="0" flipH="0" flipV="0">
            <a:off x="4991100" y="5200650"/>
            <a:ext cx="6629400" cy="895350"/>
          </a:xfrm>
          <a:prstGeom prst="roundRect">
            <a:avLst>
              <a:gd name="adj" fmla="val 10638"/>
            </a:avLst>
          </a:prstGeom>
          <a:solidFill>
            <a:srgbClr val="FFFFFF"/>
          </a:solidFill>
          <a:ln/>
          <a:effectLst>
            <a:outerShdw blurRad="133350" dist="28575" dir="5400000">
              <a:srgbClr val="0B2A6B">
                <a:alpha val="6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06" name=""/>
          <p:cNvSpPr/>
          <p:nvPr/>
        </p:nvSpPr>
        <p:spPr>
          <a:xfrm rot="0" flipH="0" flipV="0">
            <a:off x="4991100" y="5200650"/>
            <a:ext cx="6629400" cy="895350"/>
          </a:xfrm>
          <a:custGeom>
            <a:pathLst>
              <a:path w="696" h="94">
                <a:moveTo>
                  <a:pt x="9" y="0"/>
                </a:moveTo>
                <a:cubicBezTo>
                  <a:pt x="6" y="0"/>
                  <a:pt x="4" y="3"/>
                  <a:pt x="4" y="6"/>
                </a:cubicBezTo>
                <a:lnTo>
                  <a:pt x="4" y="88"/>
                </a:lnTo>
                <a:cubicBezTo>
                  <a:pt x="4" y="91"/>
                  <a:pt x="6" y="93"/>
                  <a:pt x="9" y="94"/>
                </a:cubicBezTo>
                <a:cubicBezTo>
                  <a:pt x="4" y="93"/>
                  <a:pt x="0" y="89"/>
                  <a:pt x="0" y="84"/>
                </a:cubicBezTo>
                <a:lnTo>
                  <a:pt x="0" y="10"/>
                </a:lnTo>
                <a:cubicBezTo>
                  <a:pt x="0" y="5"/>
                  <a:pt x="4" y="0"/>
                  <a:pt x="10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407" name="" descr="{&quot;isTemplate&quot;:true,&quot;type&quot;:&quot;text&quot;}"/>
          <p:cNvSpPr txBox="1"/>
          <p:nvPr/>
        </p:nvSpPr>
        <p:spPr>
          <a:xfrm rot="0" flipH="0" flipV="0">
            <a:off x="5162550" y="5495925"/>
            <a:ext cx="438150" cy="3048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950" b="1">
                <a:solidFill>
                  <a:srgbClr val="FF8A3D"/>
                </a:solidFill>
                <a:latin typeface="Arial"/>
                <a:ea typeface="Arial"/>
              </a:rPr>
              <a:t>05</a:t>
            </a:r>
            <a:endParaRPr/>
          </a:p>
        </p:txBody>
      </p:sp>
      <p:sp>
        <p:nvSpPr>
          <p:cNvPr id="408" name="" descr="{&quot;isTemplate&quot;:true,&quot;type&quot;:&quot;text&quot;}"/>
          <p:cNvSpPr txBox="1"/>
          <p:nvPr/>
        </p:nvSpPr>
        <p:spPr>
          <a:xfrm rot="0" flipH="0" flipV="0">
            <a:off x="5753100" y="5419725"/>
            <a:ext cx="56578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0B2A6B"/>
                </a:solidFill>
                <a:latin typeface="Microsoft YaHei"/>
                <a:ea typeface="Microsoft YaHei"/>
              </a:rPr>
              <a:t>给建议</a:t>
            </a:r>
            <a:endParaRPr/>
          </a:p>
        </p:txBody>
      </p:sp>
      <p:sp>
        <p:nvSpPr>
          <p:cNvPr id="409" name="" descr="{&quot;isTemplate&quot;:true,&quot;type&quot;:&quot;text&quot;}"/>
          <p:cNvSpPr txBox="1"/>
          <p:nvPr/>
        </p:nvSpPr>
        <p:spPr>
          <a:xfrm rot="0" flipH="0" flipV="0">
            <a:off x="5753100" y="5648325"/>
            <a:ext cx="5657850" cy="2381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五维运营诊断</a:t>
            </a:r>
            <a:r>
              <a:rPr lang="en-US" sz="975">
                <a:solidFill>
                  <a:srgbClr val="5A6B8C"/>
                </a:solidFill>
                <a:latin typeface="Microsoft YaHei"/>
                <a:ea typeface="Microsoft YaHei"/>
              </a:rPr>
              <a:t xml:space="preserve"> + P0/P1 </a:t>
            </a:r>
            <a:r>
              <a:rPr lang="zh-CN" sz="975">
                <a:solidFill>
                  <a:srgbClr val="5A6B8C"/>
                </a:solidFill>
                <a:latin typeface="Microsoft YaHei"/>
                <a:ea typeface="Microsoft YaHei"/>
              </a:rPr>
              <a:t>优先级行动项</a:t>
            </a:r>
            <a:endParaRPr/>
          </a:p>
        </p:txBody>
      </p:sp>
      <p:sp>
        <p:nvSpPr>
          <p:cNvPr id="410" name=""/>
          <p:cNvSpPr/>
          <p:nvPr/>
        </p:nvSpPr>
        <p:spPr>
          <a:xfrm rot="0" flipH="0" flipV="0">
            <a:off x="609600" y="1143000"/>
            <a:ext cx="4095750" cy="4953000"/>
          </a:xfrm>
          <a:prstGeom prst="roundRect">
            <a:avLst>
              <a:gd name="adj" fmla="val 3721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42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11" name="" descr="{&quot;isTemplate&quot;:true,&quot;type&quot;:&quot;text&quot;}"/>
          <p:cNvSpPr txBox="1"/>
          <p:nvPr/>
        </p:nvSpPr>
        <p:spPr>
          <a:xfrm rot="0" flipH="0" flipV="0">
            <a:off x="857250" y="1390650"/>
            <a:ext cx="36004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425" b="1">
                <a:solidFill>
                  <a:srgbClr val="FFFFFF"/>
                </a:solidFill>
                <a:latin typeface="Microsoft YaHei"/>
                <a:ea typeface="Microsoft YaHei"/>
              </a:rPr>
              <a:t>经营闭环</a:t>
            </a:r>
            <a:endParaRPr/>
          </a:p>
        </p:txBody>
      </p:sp>
      <p:sp>
        <p:nvSpPr>
          <p:cNvPr id="412" name="" descr="{&quot;isTemplate&quot;:true,&quot;type&quot;:&quot;text&quot;}"/>
          <p:cNvSpPr txBox="1"/>
          <p:nvPr/>
        </p:nvSpPr>
        <p:spPr>
          <a:xfrm rot="0" flipH="0" flipV="0">
            <a:off x="857250" y="1647825"/>
            <a:ext cx="36004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数据进来</a:t>
            </a:r>
            <a:r>
              <a:rPr lang="en-US" sz="900">
                <a:solidFill>
                  <a:srgbClr val="8FC4F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结论出去</a:t>
            </a:r>
            <a:r>
              <a:rPr lang="en-US" sz="900">
                <a:solidFill>
                  <a:srgbClr val="8FC4F8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00">
                <a:solidFill>
                  <a:srgbClr val="8FC4F8"/>
                </a:solidFill>
                <a:latin typeface="Microsoft YaHei"/>
                <a:ea typeface="Microsoft YaHei"/>
              </a:rPr>
              <a:t>动作落地</a:t>
            </a:r>
            <a:endParaRPr/>
          </a:p>
        </p:txBody>
      </p:sp>
      <p:sp>
        <p:nvSpPr>
          <p:cNvPr id="413" name=""/>
          <p:cNvSpPr/>
          <p:nvPr/>
        </p:nvSpPr>
        <p:spPr>
          <a:xfrm rot="0" flipH="0" flipV="0">
            <a:off x="857250" y="5219700"/>
            <a:ext cx="3600450" cy="628650"/>
          </a:xfrm>
          <a:prstGeom prst="roundRect">
            <a:avLst>
              <a:gd name="adj" fmla="val 12121"/>
            </a:avLst>
          </a:prstGeom>
          <a:solidFill>
            <a:srgbClr val="FFFFFF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14" name=""/>
          <p:cNvSpPr/>
          <p:nvPr/>
        </p:nvSpPr>
        <p:spPr>
          <a:xfrm rot="0" flipH="0" flipV="0">
            <a:off x="990600" y="550545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15" name="" descr="{&quot;isTemplate&quot;:true,&quot;type&quot;:&quot;text&quot;}"/>
          <p:cNvSpPr txBox="1"/>
          <p:nvPr/>
        </p:nvSpPr>
        <p:spPr>
          <a:xfrm rot="0" flipH="0" flipV="0">
            <a:off x="1133475" y="5324475"/>
            <a:ext cx="3190875" cy="419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全部数据来自门店真实经营参谋截图，分析结论可回溯到具体数字</a:t>
            </a:r>
            <a:endParaRPr/>
          </a:p>
        </p:txBody>
      </p:sp>
      <p:pic>
        <p:nvPicPr>
          <p:cNvPr id="416" name="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r:embed="rId1"/>
              </a:ext>
            </a:extLst>
          </a:blip>
          <a:stretch>
            <a:fillRect/>
          </a:stretch>
        </p:blipFill>
        <p:spPr>
          <a:xfrm rot="0" flipH="0" flipV="0">
            <a:off x="1143000" y="2076450"/>
            <a:ext cx="3028950" cy="3028950"/>
          </a:xfrm>
          <a:prstGeom prst="rect">
            <a:avLst/>
          </a:prstGeom>
          <a:ln/>
        </p:spPr>
      </p:pic>
      <p:sp>
        <p:nvSpPr>
          <p:cNvPr id="417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418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03 / 15</a:t>
            </a:r>
            <a:endParaRPr/>
          </a:p>
        </p:txBody>
      </p:sp>
    </p:spTree>
  </p:cSld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19" name="" descr="&lt;Slide style={{&#13;&#10;    width: 1280, height: 720,&#13;&#10;    position: 'relative',&#13;&#10;    background: '#0B2A6B',&#13;&#10;    fontFamily: &quot;'Microsoft YaHei', '微软雅黑', sans-serif&quot;,&#13;&#10;    overflow: 'hidden',&#13;&#10;}}&gt;&#13;&#10;    {/* 背景装饰网格 */}&#13;&#10;    &lt;Box style={{&#13;&#10;        position: 'absolute', top: 0, right: 0, width: 520, height: 720,&#13;&#10;        background: 'linear-gradient(200deg, rgba(53,200,240,0.16) 0%, rgba(53,200,240,0) 60%)',&#13;&#10;    }} /&gt;&#13;&#10;&#13;&#10;    {/* A 标题块 */}&#13;&#10;    &lt;Box style={{ position: 'absolute', top: 30, left: 64, flexDirection: 'row', alignItems: 'center', gap: 16 }}&gt;&#13;&#10;        &lt;Box style={{ width: 6, height: 38, background: '#35C8F0', borderRadius: 3 }} /&gt;&#13;&#10;        &lt;Box&gt;&#13;&#10;            &lt;Text style={{ fontSize: 32, fontWeight: 'bold', color: '#FFFFFF', lineHeight: 1.2 }}&gt;技术架构：轻量、可控、不中断&lt;/Text&gt;&#13;&#10;            &lt;Text style={{ fontSize: 13, color: '#8FC4F8', marginTop: 4, letterSpacing: 1 }}&gt;单文件前端 + 轻量后端 + 国产大模型&lt;/Text&gt;&#13;&#10;        &lt;/Box&gt;&#13;&#10;    &lt;/Box&gt;&#13;&#10;    &lt;Image src=&quot;assets/logo_2026.png&quot; style={{&#13;&#10;        position: 'absolute', top: 32, right: 64,&#13;&#10;        width: 128, height: 54, objectFit: 'contain', opacity: 0.4,&#13;&#10;    }} /&gt;&#13;&#10;&#13;&#10;    {/* B 内容区：三层堆叠 */}&#13;&#10;    &lt;Box style={{&#13;&#10;        position: 'absolute', top: 122, left: 64, right: 64, height: 486,&#13;&#10;        flexDirection: 'column', gap: 12,&#13;&#10;    }}&gt;&#13;&#10;        {/* L1 用户层 */}&#13;&#10;        &lt;Box style={{&#13;&#10;            flex: 1,&#13;&#10;            background: 'rgba(255,255,255,0.07)',&#13;&#10;            borderRadius: 12,&#13;&#10;            borderLeft: '4px solid #35C8F0',&#13;&#10;            paddingLeft: 24, paddingRight: 24, paddingTop: 16, paddingBottom: 16,&#13;&#10;            flexDirection: 'row', alignItems: 'center', gap: 22,&#13;&#10;        }}&gt;&#13;&#10;            &lt;Box style={{ width: 92 }}&gt;&#13;&#10;                &lt;Text style={{ fontSize: 12, color: '#8FC4F8', letterSpacing: 1, marginBottom: 4 }}&gt;接入层&lt;/Text&gt;&#13;&#10;                &lt;Text style={{ fontSize: 20, fontWeight: 'bold', color: '#FFFFFF' }}&gt;门店用户&lt;/Text&gt;&#13;&#10;            &lt;/Box&gt;&#13;&#10;            &lt;Box style={{ flex: 1, flexDirection: 'row', gap: 10 }}&gt;&#13;&#10;                {['经营驾驶舱', '门诊采集', '竞品分析', '文案生成', '套图生成', '主图诊断', '文案优化', '评价管理', '运营诊断', '话术建议'].map((m, i) =&gt; (&#13;&#10;                    &lt;Box key={m} style={{&#13;&#10;                        background: i % 3 === 0 ? '#35C8F0' : 'rgba(255,255,255,0.14)',&#13;&#10;                        borderRadius: 6, padding: '9px 7px',&#13;&#10;                        alignItems: 'center', justifyContent: 'center',&#13;&#10;                    }}&gt;&#13;&#10;                        &lt;Text style={{&#13;&#10;                            fontSize: 12,&#13;&#10;                            color: i % 3 === 0 ? '#0B2A6B' : '#D6E8FF',&#13;&#10;                            fontWeight: i % 3 === 0 ? 'bold' : 'normal',&#13;&#10;                            textAlign: 'center', lineHeight: 1.3,&#13;&#10;                        }}&gt;{m}&lt;/Text&gt;&#13;&#10;                    &lt;/Box&gt;&#13;&#10;                ))}&#13;&#10;            &lt;/Box&gt;&#13;&#10;        &lt;/Box&gt;&#13;&#10;&#13;&#10;        {/* L2 应用层 */}&#13;&#10;        &lt;Box style={{&#13;&#10;            flex: 1,&#13;&#10;            background: 'rgba(255,255,255,0.07)',&#13;&#10;            borderRadius: 12,&#13;&#10;            borderLeft: '4px solid #35C8F0',&#13;&#10;            paddingLeft: 24, paddingRight: 24, paddingTop: 16, paddingBottom: 16,&#13;&#10;            flexDirection: 'row', alignItems: 'center', gap: 22,&#13;&#10;        }}&gt;&#13;&#10;            &lt;Box style={{ width: 92 }}&gt;&#13;&#10;                &lt;Text style={{ fontSize: 12, color: '#8FC4F8', letterSpacing: 1, marginBottom: 4 }}&gt;应用层&lt;/Text&gt;&#13;&#10;                &lt;Text style={{ fontSize: 20, fontWeight: 'bold', color: '#FFFFFF' }}&gt;单文件 SPA&lt;/Text&gt;&#13;&#10;            &lt;/Box&gt;&#13;&#10;            &lt;Box style={{ flex: 1, flexDirection: 'row', gap: 12 }}&gt;&#13;&#10;                &lt;Box style={{&#13;&#10;                    flex: 1, background: 'rgba(53,200,240,0.16)',&#13;&#10;                    borderRadius: 8, padding: 14,&#13;&#10;                    border: '1px solid rgba(53,200,240,0.35)',&#13;&#10;                }}&gt;&#13;&#10;                    &lt;Text style={{ fontSize: 15, fontWeight: 'bold', color: '#ADE8FF', marginBottom: 6 }}&gt;前端 meituan-agent.html&lt;/Text&gt;&#13;&#10;                    &lt;Text style={{ fontSize: 12, color: '#B8D6F5', lineHeight: 1.6 }}&gt;&#13;&#10;                        单文件 HTML + 原生 JS，零框架依赖，10 个功能页面 + 移动端自适应（414px 视口可直接拍照上传）&#13;&#10;                    &lt;/Text&gt;&#13;&#10;                &lt;/Box&gt;&#13;&#10;                &lt;Box style={{&#13;&#10;                    flex: 1, background: 'rgba(53,200,240,0.16)',&#13;&#10;                    borderRadius: 8, padding: 14,&#13;&#10;                    border: '1px solid rgba(53,200,240,0.35)',&#13;&#10;                }}&gt;&#13;&#10;                    &lt;Text style={{ fontSize: 15, fontWeight: 'bold', color: '#ADE8FF', marginBottom: 6 }}&gt;后端 server.js&lt;/Text&gt;&#13;&#10;                    &lt;Text style={{ fontSize: 12, color: '#B8D6F5', lineHeight: 1.6 }}&gt;&#13;&#10;                        Node.js + Express，9 个业务 API 端点，负责模型编排、数据清洗与降级兜底&#13;&#10;                    &lt;/Text&gt;&#13;&#10;                &lt;/Box&gt;&#13;&#10;            &lt;/Box&gt;&#13;&#10;        &lt;/Box&gt;&#13;&#10;&#13;&#10;        {/* L3 模型层 */}&#13;&#10;        &lt;Box style={{&#13;&#10;            flex: 1,&#13;&#10;            background: 'linear-gradient(90deg, rgba(53,200,240,0.24) 0%, rgba(53,200,240,0.10) 100%)',&#13;&#10;            borderRadius: 12,&#13;&#10;            borderLeft: '4px solid #FF8A3D',&#13;&#10;            paddingLeft: 24, paddingRight: 24, paddingTop: 16, paddingBottom: 16,&#13;&#10;            flexDirection: 'row', alignItems: 'center', gap: 22,&#13;&#10;        }}&gt;&#13;&#10;            &lt;Box style={{ width: 92 }}&gt;&#13;&#10;                &lt;Text style={{ fontSize: 12, color: '#8FC4F8', letterSpacing: 1, marginBottom: 4 }}&gt;模型层&lt;/Text&gt;&#13;&#10;                &lt;Text style={{ fontSize: 20, fontWeight: 'bold', color: '#FFFFFF' }}&gt;火山引擎&lt;/Text&gt;&#13;&#10;            &lt;/Box&gt;&#13;&#10;            &lt;Box style={{ flex: 1, flexDirection: 'row', gap: 12 }}&gt;&#13;&#10;                &lt;Box style={{ flex: 1, background: 'rgba(11,42,107,0.45)', borderRadius: 8, padding: 14 }}&gt;&#13;&#10;                    &lt;Box style={{ flexDirection: 'row', alignItems: 'center', gap: 8, marginBottom: 6 }}&gt;&#13;&#10;                        &lt;Box style={{ width: 7, height: 7, borderRadius: 4, background: '#35C8F0' }} /&gt;&#13;&#10;                        &lt;Text style={{ fontSize: 15, fontWeight: 'bold', color: '#FFFFFF' }}&gt;Seedream 图像生成&lt;/Text&gt;&#13;&#10;                    &lt;/Box&gt;&#13;&#10;                    &lt;Text style={{ fontSize: 12, color: '#B8D6F5', lineHeight: 1.6 }}&gt;&#13;&#10;                        套图批量生成 · 主图质量诊断 · 门店实景素材，2028×2028 出图已实测可用&#13;&#10;                    &lt;/Text&gt;&#13;&#10;                &lt;/Box&gt;&#13;&#10;                &lt;Box style={{ flex: 1, background: 'rgba(11,42,107,0.45)', borderRadius: 8, padding: 14 }}&gt;&#13;&#10;                    &lt;Box style={{ flexDirection: 'row', alignItems: 'center', gap: 8, marginBottom: 6 }}&gt;&#13;&#10;                        &lt;Box style={{ width: 7, height: 7, borderRadius: 4, background: '#FF8A3D' }} /&gt;&#13;&#10;                        &lt;Text style={{ fontSize: 15, fontWeight: 'bold', color: '#FFFFFF' }}&gt;豆包视觉模型 OCR&lt;/Text&gt;&#13;&#10;                    &lt;/Box&gt;&#13;&#10;                    &lt;Text style={{ fontSize: 12, color: '#B8D6F5', lineHeight: 1.6 }}&gt;&#13;&#10;                        经营参谋截图识别 · 5 个端点自动探测降级 · 权限开通即启用&#13;&#10;                    &lt;/Text&gt;&#13;&#10;                &lt;/Box&gt;&#13;&#10;            &lt;/Box&gt;&#13;&#10;        &lt;/Box&gt;&#13;&#10;    &lt;/Box&gt;&#13;&#10;&#13;&#10;    {/* C 页脚条 */}&#13;&#10;    &lt;Box style={{&#13;&#10;        position: 'absolute', left: 64, right: 64, bottom: 20,&#13;&#10;        flexDirection: 'row', alignItems: 'center', justifyContent: 'space-between',&#13;&#10;    }}&gt;&#13;&#10;        &lt;Text style={{ fontSize: 13, color: '#6E93C8' }}&gt;美团电商眼科运营AI助手 · 爱尔眼科集团AI创新应用大赛&lt;/Text&gt;&#13;&#10;        &lt;Text style={{ fontSize: 13, color: '#6E93C8', fontFamily: 'Arial, sans-serif' }}&gt;04 / 15&lt;/Text&gt;&#13;&#10;    &lt;/Box&gt;&#13;&#10;&lt;/Slide&gt;&#13;&#10;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/>
        </p:txBody>
      </p:sp>
      <p:sp>
        <p:nvSpPr>
          <p:cNvPr id="421" name=""/>
          <p:cNvSpPr/>
          <p:nvPr/>
        </p:nvSpPr>
        <p:spPr>
          <a:xfrm rot="0" flipH="0" flipV="0">
            <a:off x="7239000" y="0"/>
            <a:ext cx="4953000" cy="6858000"/>
          </a:xfrm>
          <a:prstGeom prst="rect">
            <a:avLst/>
          </a:prstGeom>
          <a:gradFill>
            <a:gsLst>
              <a:gs pos="0">
                <a:srgbClr val="35C8F0">
                  <a:alpha val="16000"/>
                </a:srgbClr>
              </a:gs>
              <a:gs pos="60000">
                <a:srgbClr val="35C8F0">
                  <a:alpha val="0"/>
                </a:srgbClr>
              </a:gs>
            </a:gsLst>
            <a:lin ang="6600000" scaled="1"/>
          </a:gradFill>
          <a:ln/>
        </p:spPr>
        <p:txBody>
          <a:bodyPr/>
          <a:p/>
        </p:txBody>
      </p:sp>
      <p:sp>
        <p:nvSpPr>
          <p:cNvPr id="422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423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42672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技术架构：轻量、可控、不中断</a:t>
            </a:r>
            <a:endParaRPr/>
          </a:p>
        </p:txBody>
      </p:sp>
      <p:sp>
        <p:nvSpPr>
          <p:cNvPr id="424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426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单文件前端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轻量后端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国产大模型</a:t>
            </a:r>
            <a:endParaRPr/>
          </a:p>
        </p:txBody>
      </p:sp>
      <p:pic>
        <p:nvPicPr>
          <p:cNvPr id="425" name=""/>
          <p:cNvPicPr>
            <a:picLocks noChangeAspect="1"/>
          </p:cNvPicPr>
          <p:nvPr/>
        </p:nvPicPr>
        <p:blipFill>
          <a:blip r:embed="rId1">
            <a:alphaModFix amt="40000"/>
          </a:blip>
          <a:srcRect l="0" t="889" r="0" b="889"/>
          <a:stretch>
            <a:fillRect/>
          </a:stretch>
        </p:blipFill>
        <p:spPr>
          <a:xfrm rot="0" flipH="0" flipV="0">
            <a:off x="10363200" y="304800"/>
            <a:ext cx="1219200" cy="514350"/>
          </a:xfrm>
          <a:prstGeom prst="rect">
            <a:avLst/>
          </a:prstGeom>
          <a:ln/>
        </p:spPr>
      </p:pic>
      <p:sp>
        <p:nvSpPr>
          <p:cNvPr id="426" name=""/>
          <p:cNvSpPr/>
          <p:nvPr/>
        </p:nvSpPr>
        <p:spPr>
          <a:xfrm rot="0" flipH="0" flipV="0">
            <a:off x="647700" y="1162050"/>
            <a:ext cx="10972800" cy="1181100"/>
          </a:xfrm>
          <a:prstGeom prst="roundRect">
            <a:avLst>
              <a:gd name="adj" fmla="val 9677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27" name=""/>
          <p:cNvSpPr/>
          <p:nvPr/>
        </p:nvSpPr>
        <p:spPr>
          <a:xfrm rot="0" flipH="0" flipV="0">
            <a:off x="647700" y="1162050"/>
            <a:ext cx="10972800" cy="1181100"/>
          </a:xfrm>
          <a:custGeom>
            <a:pathLst>
              <a:path w="1152" h="124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16"/>
                </a:lnTo>
                <a:cubicBezTo>
                  <a:pt x="4" y="120"/>
                  <a:pt x="7" y="123"/>
                  <a:pt x="10" y="124"/>
                </a:cubicBezTo>
                <a:cubicBezTo>
                  <a:pt x="4" y="123"/>
                  <a:pt x="0" y="118"/>
                  <a:pt x="0" y="112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428" name="" descr="{&quot;isTemplate&quot;:true,&quot;type&quot;:&quot;text&quot;}"/>
          <p:cNvSpPr txBox="1"/>
          <p:nvPr/>
        </p:nvSpPr>
        <p:spPr>
          <a:xfrm rot="0" flipH="0" flipV="0">
            <a:off x="876300" y="15525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接入层</a:t>
            </a:r>
            <a:endParaRPr/>
          </a:p>
        </p:txBody>
      </p:sp>
      <p:sp>
        <p:nvSpPr>
          <p:cNvPr id="429" name="" descr="{&quot;isTemplate&quot;:true,&quot;type&quot;:&quot;text&quot;}"/>
          <p:cNvSpPr txBox="1"/>
          <p:nvPr/>
        </p:nvSpPr>
        <p:spPr>
          <a:xfrm rot="0" flipH="0" flipV="0">
            <a:off x="876300" y="1733550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门店用户</a:t>
            </a:r>
            <a:endParaRPr/>
          </a:p>
        </p:txBody>
      </p:sp>
      <p:sp>
        <p:nvSpPr>
          <p:cNvPr id="430" name=""/>
          <p:cNvSpPr/>
          <p:nvPr/>
        </p:nvSpPr>
        <p:spPr>
          <a:xfrm rot="0" flipH="0" flipV="0">
            <a:off x="1962150" y="1581150"/>
            <a:ext cx="7048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431" name="" descr="{&quot;isTemplate&quot;:true,&quot;type&quot;:&quot;text&quot;}"/>
          <p:cNvSpPr txBox="1"/>
          <p:nvPr/>
        </p:nvSpPr>
        <p:spPr>
          <a:xfrm rot="0" flipH="0" flipV="0">
            <a:off x="2028825" y="1666875"/>
            <a:ext cx="5715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经营驾驶舱</a:t>
            </a:r>
            <a:endParaRPr/>
          </a:p>
        </p:txBody>
      </p:sp>
      <p:sp>
        <p:nvSpPr>
          <p:cNvPr id="432" name=""/>
          <p:cNvSpPr/>
          <p:nvPr/>
        </p:nvSpPr>
        <p:spPr>
          <a:xfrm rot="0" flipH="0" flipV="0">
            <a:off x="27622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33" name="" descr="{&quot;isTemplate&quot;:true,&quot;type&quot;:&quot;text&quot;}"/>
          <p:cNvSpPr txBox="1"/>
          <p:nvPr/>
        </p:nvSpPr>
        <p:spPr>
          <a:xfrm rot="0" flipH="0" flipV="0">
            <a:off x="28289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门诊采集</a:t>
            </a:r>
            <a:endParaRPr/>
          </a:p>
        </p:txBody>
      </p:sp>
      <p:sp>
        <p:nvSpPr>
          <p:cNvPr id="434" name=""/>
          <p:cNvSpPr/>
          <p:nvPr/>
        </p:nvSpPr>
        <p:spPr>
          <a:xfrm rot="0" flipH="0" flipV="0">
            <a:off x="34480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35" name="" descr="{&quot;isTemplate&quot;:true,&quot;type&quot;:&quot;text&quot;}"/>
          <p:cNvSpPr txBox="1"/>
          <p:nvPr/>
        </p:nvSpPr>
        <p:spPr>
          <a:xfrm rot="0" flipH="0" flipV="0">
            <a:off x="35147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436" name=""/>
          <p:cNvSpPr/>
          <p:nvPr/>
        </p:nvSpPr>
        <p:spPr>
          <a:xfrm rot="0" flipH="0" flipV="0">
            <a:off x="41338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437" name="" descr="{&quot;isTemplate&quot;:true,&quot;type&quot;:&quot;text&quot;}"/>
          <p:cNvSpPr txBox="1"/>
          <p:nvPr/>
        </p:nvSpPr>
        <p:spPr>
          <a:xfrm rot="0" flipH="0" flipV="0">
            <a:off x="42005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438" name=""/>
          <p:cNvSpPr/>
          <p:nvPr/>
        </p:nvSpPr>
        <p:spPr>
          <a:xfrm rot="0" flipH="0" flipV="0">
            <a:off x="48196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39" name="" descr="{&quot;isTemplate&quot;:true,&quot;type&quot;:&quot;text&quot;}"/>
          <p:cNvSpPr txBox="1"/>
          <p:nvPr/>
        </p:nvSpPr>
        <p:spPr>
          <a:xfrm rot="0" flipH="0" flipV="0">
            <a:off x="48863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440" name=""/>
          <p:cNvSpPr/>
          <p:nvPr/>
        </p:nvSpPr>
        <p:spPr>
          <a:xfrm rot="0" flipH="0" flipV="0">
            <a:off x="55054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41" name="" descr="{&quot;isTemplate&quot;:true,&quot;type&quot;:&quot;text&quot;}"/>
          <p:cNvSpPr txBox="1"/>
          <p:nvPr/>
        </p:nvSpPr>
        <p:spPr>
          <a:xfrm rot="0" flipH="0" flipV="0">
            <a:off x="55721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442" name=""/>
          <p:cNvSpPr/>
          <p:nvPr/>
        </p:nvSpPr>
        <p:spPr>
          <a:xfrm rot="0" flipH="0" flipV="0">
            <a:off x="61912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443" name="" descr="{&quot;isTemplate&quot;:true,&quot;type&quot;:&quot;text&quot;}"/>
          <p:cNvSpPr txBox="1"/>
          <p:nvPr/>
        </p:nvSpPr>
        <p:spPr>
          <a:xfrm rot="0" flipH="0" flipV="0">
            <a:off x="62579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444" name=""/>
          <p:cNvSpPr/>
          <p:nvPr/>
        </p:nvSpPr>
        <p:spPr>
          <a:xfrm rot="0" flipH="0" flipV="0">
            <a:off x="68770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45" name="" descr="{&quot;isTemplate&quot;:true,&quot;type&quot;:&quot;text&quot;}"/>
          <p:cNvSpPr txBox="1"/>
          <p:nvPr/>
        </p:nvSpPr>
        <p:spPr>
          <a:xfrm rot="0" flipH="0" flipV="0">
            <a:off x="69437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评价管理</a:t>
            </a:r>
            <a:endParaRPr/>
          </a:p>
        </p:txBody>
      </p:sp>
      <p:sp>
        <p:nvSpPr>
          <p:cNvPr id="446" name=""/>
          <p:cNvSpPr/>
          <p:nvPr/>
        </p:nvSpPr>
        <p:spPr>
          <a:xfrm rot="0" flipH="0" flipV="0">
            <a:off x="75628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FFFFFF">
              <a:alpha val="14000"/>
            </a:srgbClr>
          </a:solidFill>
          <a:ln/>
        </p:spPr>
        <p:txBody>
          <a:bodyPr/>
          <a:p/>
        </p:txBody>
      </p:sp>
      <p:sp>
        <p:nvSpPr>
          <p:cNvPr id="447" name="" descr="{&quot;isTemplate&quot;:true,&quot;type&quot;:&quot;text&quot;}"/>
          <p:cNvSpPr txBox="1"/>
          <p:nvPr/>
        </p:nvSpPr>
        <p:spPr>
          <a:xfrm rot="0" flipH="0" flipV="0">
            <a:off x="76295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>
                <a:solidFill>
                  <a:srgbClr val="D6E8FF"/>
                </a:solidFill>
                <a:latin typeface="Microsoft YaHei"/>
                <a:ea typeface="Microsoft YaHei"/>
              </a:rPr>
              <a:t>运营诊断</a:t>
            </a:r>
            <a:endParaRPr/>
          </a:p>
        </p:txBody>
      </p:sp>
      <p:sp>
        <p:nvSpPr>
          <p:cNvPr id="448" name=""/>
          <p:cNvSpPr/>
          <p:nvPr/>
        </p:nvSpPr>
        <p:spPr>
          <a:xfrm rot="0" flipH="0" flipV="0">
            <a:off x="8248650" y="1581150"/>
            <a:ext cx="590550" cy="352425"/>
          </a:xfrm>
          <a:prstGeom prst="roundRect">
            <a:avLst>
              <a:gd name="adj" fmla="val 16216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449" name="" descr="{&quot;isTemplate&quot;:true,&quot;type&quot;:&quot;text&quot;}"/>
          <p:cNvSpPr txBox="1"/>
          <p:nvPr/>
        </p:nvSpPr>
        <p:spPr>
          <a:xfrm rot="0" flipH="0" flipV="0">
            <a:off x="8315325" y="1666875"/>
            <a:ext cx="457200" cy="180975"/>
          </a:xfrm>
          <a:prstGeom prst="rect"/>
        </p:spPr>
        <p:txBody>
          <a:bodyPr wrap="none" lIns="0" tIns="0" rIns="0" bIns="0"/>
          <a:p>
            <a:pPr algn="ctr">
              <a:lnSpc>
                <a:spcPct val="13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450" name=""/>
          <p:cNvSpPr/>
          <p:nvPr/>
        </p:nvSpPr>
        <p:spPr>
          <a:xfrm rot="0" flipH="0" flipV="0">
            <a:off x="647700" y="2457450"/>
            <a:ext cx="10972800" cy="1724025"/>
          </a:xfrm>
          <a:prstGeom prst="roundRect">
            <a:avLst>
              <a:gd name="adj" fmla="val 6630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/>
        </p:txBody>
      </p:sp>
      <p:sp>
        <p:nvSpPr>
          <p:cNvPr id="451" name=""/>
          <p:cNvSpPr/>
          <p:nvPr/>
        </p:nvSpPr>
        <p:spPr>
          <a:xfrm rot="0" flipH="0" flipV="0">
            <a:off x="647700" y="2457450"/>
            <a:ext cx="10972800" cy="1724025"/>
          </a:xfrm>
          <a:custGeom>
            <a:pathLst>
              <a:path w="1152" h="18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73"/>
                </a:lnTo>
                <a:cubicBezTo>
                  <a:pt x="4" y="177"/>
                  <a:pt x="7" y="180"/>
                  <a:pt x="10" y="181"/>
                </a:cubicBezTo>
                <a:cubicBezTo>
                  <a:pt x="4" y="180"/>
                  <a:pt x="0" y="175"/>
                  <a:pt x="0" y="16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/>
        </p:txBody>
      </p:sp>
      <p:sp>
        <p:nvSpPr>
          <p:cNvPr id="452" name="" descr="{&quot;isTemplate&quot;:true,&quot;type&quot;:&quot;text&quot;}"/>
          <p:cNvSpPr txBox="1"/>
          <p:nvPr/>
        </p:nvSpPr>
        <p:spPr>
          <a:xfrm rot="0" flipH="0" flipV="0">
            <a:off x="876300" y="3000375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应用层</a:t>
            </a:r>
            <a:endParaRPr/>
          </a:p>
        </p:txBody>
      </p:sp>
      <p:sp>
        <p:nvSpPr>
          <p:cNvPr id="453" name="" descr="{&quot;isTemplate&quot;:true,&quot;type&quot;:&quot;text&quot;}"/>
          <p:cNvSpPr txBox="1"/>
          <p:nvPr/>
        </p:nvSpPr>
        <p:spPr>
          <a:xfrm rot="0" flipH="0" flipV="0">
            <a:off x="876300" y="3181350"/>
            <a:ext cx="876300" cy="4572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单文件</a:t>
            </a:r>
            <a:r>
              <a:rPr lang="en-US" sz="150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SPA</a:t>
            </a:r>
            <a:endParaRPr/>
          </a:p>
        </p:txBody>
      </p:sp>
      <p:sp>
        <p:nvSpPr>
          <p:cNvPr id="454" name=""/>
          <p:cNvSpPr/>
          <p:nvPr/>
        </p:nvSpPr>
        <p:spPr>
          <a:xfrm rot="0" flipH="0" flipV="0">
            <a:off x="1962150" y="2847975"/>
            <a:ext cx="4638675" cy="942975"/>
          </a:xfrm>
          <a:prstGeom prst="roundRect">
            <a:avLst>
              <a:gd name="adj" fmla="val 8081"/>
            </a:avLst>
          </a:prstGeom>
          <a:solidFill>
            <a:srgbClr val="35C8F0">
              <a:alpha val="16000"/>
            </a:srgbClr>
          </a:solidFill>
          <a:ln w="12700">
            <a:solidFill>
              <a:srgbClr val="35C8F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5" name="" descr="{&quot;isTemplate&quot;:true,&quot;type&quot;:&quot;text&quot;}"/>
          <p:cNvSpPr txBox="1"/>
          <p:nvPr/>
        </p:nvSpPr>
        <p:spPr>
          <a:xfrm rot="0" flipH="0" flipV="0">
            <a:off x="2095500" y="2981325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DE8FF"/>
                </a:solidFill>
                <a:latin typeface="Microsoft YaHei"/>
                <a:ea typeface="Microsoft YaHei"/>
              </a:rPr>
              <a:t>前端</a:t>
            </a:r>
            <a:r>
              <a:rPr lang="en-US" sz="1125" b="1">
                <a:solidFill>
                  <a:srgbClr val="ADE8FF"/>
                </a:solidFill>
                <a:latin typeface="Microsoft YaHei"/>
                <a:ea typeface="Microsoft YaHei"/>
              </a:rPr>
              <a:t xml:space="preserve"> meituan-agent.html</a:t>
            </a:r>
            <a:endParaRPr/>
          </a:p>
        </p:txBody>
      </p:sp>
      <p:sp>
        <p:nvSpPr>
          <p:cNvPr id="456" name="" descr="{&quot;isTemplate&quot;:true,&quot;type&quot;:&quot;text&quot;}"/>
          <p:cNvSpPr txBox="1"/>
          <p:nvPr/>
        </p:nvSpPr>
        <p:spPr>
          <a:xfrm rot="0" flipH="0" flipV="0">
            <a:off x="2095500" y="3209925"/>
            <a:ext cx="4371975" cy="4476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单文件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HTML +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原生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JS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，零框架依赖，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个功能页面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移动端自适应（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414px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视口可直接拍照上传）</a:t>
            </a:r>
            <a:endParaRPr/>
          </a:p>
        </p:txBody>
      </p:sp>
      <p:sp>
        <p:nvSpPr>
          <p:cNvPr id="457" name=""/>
          <p:cNvSpPr/>
          <p:nvPr/>
        </p:nvSpPr>
        <p:spPr>
          <a:xfrm rot="0" flipH="0" flipV="0">
            <a:off x="6715125" y="2847975"/>
            <a:ext cx="4638675" cy="942975"/>
          </a:xfrm>
          <a:prstGeom prst="roundRect">
            <a:avLst>
              <a:gd name="adj" fmla="val 8081"/>
            </a:avLst>
          </a:prstGeom>
          <a:solidFill>
            <a:srgbClr val="35C8F0">
              <a:alpha val="16000"/>
            </a:srgbClr>
          </a:solidFill>
          <a:ln w="12700">
            <a:solidFill>
              <a:srgbClr val="35C8F0">
                <a:alpha val="35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458" name="" descr="{&quot;isTemplate&quot;:true,&quot;type&quot;:&quot;text&quot;}"/>
          <p:cNvSpPr txBox="1"/>
          <p:nvPr/>
        </p:nvSpPr>
        <p:spPr>
          <a:xfrm rot="0" flipH="0" flipV="0">
            <a:off x="6848475" y="2981325"/>
            <a:ext cx="4371975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ADE8FF"/>
                </a:solidFill>
                <a:latin typeface="Microsoft YaHei"/>
                <a:ea typeface="Microsoft YaHei"/>
              </a:rPr>
              <a:t>后端</a:t>
            </a:r>
            <a:r>
              <a:rPr lang="en-US" sz="1125" b="1">
                <a:solidFill>
                  <a:srgbClr val="ADE8FF"/>
                </a:solidFill>
                <a:latin typeface="Microsoft YaHei"/>
                <a:ea typeface="Microsoft YaHei"/>
              </a:rPr>
              <a:t xml:space="preserve"> server.js</a:t>
            </a:r>
            <a:endParaRPr/>
          </a:p>
        </p:txBody>
      </p:sp>
      <p:sp>
        <p:nvSpPr>
          <p:cNvPr id="459" name="" descr="{&quot;isTemplate&quot;:true,&quot;type&quot;:&quot;text&quot;}"/>
          <p:cNvSpPr txBox="1"/>
          <p:nvPr/>
        </p:nvSpPr>
        <p:spPr>
          <a:xfrm rot="0" flipH="0" flipV="0">
            <a:off x="6848475" y="3209925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>Node.js + Express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9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个业务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端点，负责模型编排、数据清洗与降级兜底</a:t>
            </a:r>
            <a:endParaRPr/>
          </a:p>
        </p:txBody>
      </p:sp>
      <p:sp>
        <p:nvSpPr>
          <p:cNvPr id="460" name=""/>
          <p:cNvSpPr/>
          <p:nvPr/>
        </p:nvSpPr>
        <p:spPr>
          <a:xfrm rot="0" flipH="0" flipV="0">
            <a:off x="647700" y="4295775"/>
            <a:ext cx="10972800" cy="1495425"/>
          </a:xfrm>
          <a:prstGeom prst="roundRect">
            <a:avLst>
              <a:gd name="adj" fmla="val 7643"/>
            </a:avLst>
          </a:prstGeom>
          <a:gradFill>
            <a:gsLst>
              <a:gs pos="0">
                <a:srgbClr val="35C8F0">
                  <a:alpha val="24000"/>
                </a:srgbClr>
              </a:gs>
              <a:gs pos="100000">
                <a:srgbClr val="35C8F0">
                  <a:alpha val="10000"/>
                </a:srgbClr>
              </a:gs>
            </a:gsLst>
            <a:lin ang="0" scaled="1"/>
          </a:gradFill>
          <a:ln/>
        </p:spPr>
        <p:txBody>
          <a:bodyPr/>
          <a:p/>
        </p:txBody>
      </p:sp>
      <p:sp>
        <p:nvSpPr>
          <p:cNvPr id="461" name=""/>
          <p:cNvSpPr/>
          <p:nvPr/>
        </p:nvSpPr>
        <p:spPr>
          <a:xfrm rot="0" flipH="0" flipV="0">
            <a:off x="647700" y="4295775"/>
            <a:ext cx="10972800" cy="1495425"/>
          </a:xfrm>
          <a:custGeom>
            <a:pathLst>
              <a:path w="1152" h="157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49"/>
                </a:lnTo>
                <a:cubicBezTo>
                  <a:pt x="4" y="153"/>
                  <a:pt x="7" y="156"/>
                  <a:pt x="10" y="157"/>
                </a:cubicBezTo>
                <a:cubicBezTo>
                  <a:pt x="4" y="156"/>
                  <a:pt x="0" y="151"/>
                  <a:pt x="0" y="145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/>
        </p:txBody>
      </p:sp>
      <p:sp>
        <p:nvSpPr>
          <p:cNvPr id="462" name="" descr="{&quot;isTemplate&quot;:true,&quot;type&quot;:&quot;text&quot;}"/>
          <p:cNvSpPr txBox="1"/>
          <p:nvPr/>
        </p:nvSpPr>
        <p:spPr>
          <a:xfrm rot="0" flipH="0" flipV="0">
            <a:off x="876300" y="4838700"/>
            <a:ext cx="876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模型层</a:t>
            </a:r>
            <a:endParaRPr/>
          </a:p>
        </p:txBody>
      </p:sp>
      <p:sp>
        <p:nvSpPr>
          <p:cNvPr id="463" name="" descr="{&quot;isTemplate&quot;:true,&quot;type&quot;:&quot;text&quot;}"/>
          <p:cNvSpPr txBox="1"/>
          <p:nvPr/>
        </p:nvSpPr>
        <p:spPr>
          <a:xfrm rot="0" flipH="0" flipV="0">
            <a:off x="876300" y="5019675"/>
            <a:ext cx="8763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 b="1">
                <a:solidFill>
                  <a:srgbClr val="FFFFFF"/>
                </a:solidFill>
                <a:latin typeface="Microsoft YaHei"/>
                <a:ea typeface="Microsoft YaHei"/>
              </a:rPr>
              <a:t>火山引擎</a:t>
            </a:r>
            <a:endParaRPr/>
          </a:p>
        </p:txBody>
      </p:sp>
      <p:sp>
        <p:nvSpPr>
          <p:cNvPr id="464" name=""/>
          <p:cNvSpPr/>
          <p:nvPr/>
        </p:nvSpPr>
        <p:spPr>
          <a:xfrm rot="0" flipH="0" flipV="0">
            <a:off x="1962150" y="4686300"/>
            <a:ext cx="4638675" cy="723900"/>
          </a:xfrm>
          <a:prstGeom prst="roundRect">
            <a:avLst>
              <a:gd name="adj" fmla="val 10526"/>
            </a:avLst>
          </a:prstGeom>
          <a:solidFill>
            <a:srgbClr val="0B2A6B">
              <a:alpha val="45000"/>
            </a:srgbClr>
          </a:solidFill>
          <a:ln/>
        </p:spPr>
        <p:txBody>
          <a:bodyPr/>
          <a:p/>
        </p:txBody>
      </p:sp>
      <p:sp>
        <p:nvSpPr>
          <p:cNvPr id="465" name=""/>
          <p:cNvSpPr/>
          <p:nvPr/>
        </p:nvSpPr>
        <p:spPr>
          <a:xfrm rot="0" flipH="0" flipV="0">
            <a:off x="2095500" y="48768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/>
        </p:txBody>
      </p:sp>
      <p:sp>
        <p:nvSpPr>
          <p:cNvPr id="466" name="" descr="{&quot;isTemplate&quot;:true,&quot;type&quot;:&quot;text&quot;}"/>
          <p:cNvSpPr txBox="1"/>
          <p:nvPr/>
        </p:nvSpPr>
        <p:spPr>
          <a:xfrm rot="0" flipH="0" flipV="0">
            <a:off x="2238375" y="4819650"/>
            <a:ext cx="1333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图像生成</a:t>
            </a:r>
            <a:endParaRPr/>
          </a:p>
        </p:txBody>
      </p:sp>
      <p:sp>
        <p:nvSpPr>
          <p:cNvPr id="467" name="" descr="{&quot;isTemplate&quot;:true,&quot;type&quot;:&quot;text&quot;}"/>
          <p:cNvSpPr txBox="1"/>
          <p:nvPr/>
        </p:nvSpPr>
        <p:spPr>
          <a:xfrm rot="0" flipH="0" flipV="0">
            <a:off x="2095500" y="5048250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套图批量生成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主图质量诊断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门店实景素材，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2028×2028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出图已实测可用</a:t>
            </a:r>
            <a:endParaRPr/>
          </a:p>
        </p:txBody>
      </p:sp>
      <p:sp>
        <p:nvSpPr>
          <p:cNvPr id="468" name=""/>
          <p:cNvSpPr/>
          <p:nvPr/>
        </p:nvSpPr>
        <p:spPr>
          <a:xfrm rot="0" flipH="0" flipV="0">
            <a:off x="6715125" y="4686300"/>
            <a:ext cx="4638675" cy="723900"/>
          </a:xfrm>
          <a:prstGeom prst="roundRect">
            <a:avLst>
              <a:gd name="adj" fmla="val 10526"/>
            </a:avLst>
          </a:prstGeom>
          <a:solidFill>
            <a:srgbClr val="0B2A6B">
              <a:alpha val="45000"/>
            </a:srgbClr>
          </a:solidFill>
          <a:ln/>
        </p:spPr>
        <p:txBody>
          <a:bodyPr/>
          <a:p/>
        </p:txBody>
      </p:sp>
      <p:sp>
        <p:nvSpPr>
          <p:cNvPr id="469" name=""/>
          <p:cNvSpPr/>
          <p:nvPr/>
        </p:nvSpPr>
        <p:spPr>
          <a:xfrm rot="0" flipH="0" flipV="0">
            <a:off x="6848475" y="4876800"/>
            <a:ext cx="66675" cy="66675"/>
          </a:xfrm>
          <a:prstGeom prst="roundRect">
            <a:avLst>
              <a:gd name="adj" fmla="val 57143"/>
            </a:avLst>
          </a:prstGeom>
          <a:solidFill>
            <a:srgbClr val="FF8A3D"/>
          </a:solidFill>
          <a:ln/>
        </p:spPr>
        <p:txBody>
          <a:bodyPr/>
          <a:p/>
        </p:txBody>
      </p:sp>
      <p:sp>
        <p:nvSpPr>
          <p:cNvPr id="470" name="" descr="{&quot;isTemplate&quot;:true,&quot;type&quot;:&quot;text&quot;}"/>
          <p:cNvSpPr txBox="1"/>
          <p:nvPr/>
        </p:nvSpPr>
        <p:spPr>
          <a:xfrm rot="0" flipH="0" flipV="0">
            <a:off x="6991350" y="4819650"/>
            <a:ext cx="12192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豆包视觉模型</a:t>
            </a:r>
            <a:r>
              <a:rPr lang="en-US" sz="112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OCR</a:t>
            </a:r>
            <a:endParaRPr/>
          </a:p>
        </p:txBody>
      </p:sp>
      <p:sp>
        <p:nvSpPr>
          <p:cNvPr id="471" name="" descr="{&quot;isTemplate&quot;:true,&quot;type&quot;:&quot;text&quot;}"/>
          <p:cNvSpPr txBox="1"/>
          <p:nvPr/>
        </p:nvSpPr>
        <p:spPr>
          <a:xfrm rot="0" flipH="0" flipV="0">
            <a:off x="6848475" y="5048250"/>
            <a:ext cx="4371975" cy="228600"/>
          </a:xfrm>
          <a:prstGeom prst="rect"/>
        </p:spPr>
        <p:txBody>
          <a:bodyPr wrap="none" lIns="0" tIns="0" rIns="0" bIns="0"/>
          <a:p>
            <a:pPr>
              <a:lnSpc>
                <a:spcPct val="16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经营参谋截图识别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5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个端点自动探测降级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权限开通即启用</a:t>
            </a:r>
            <a:endParaRPr/>
          </a:p>
        </p:txBody>
      </p:sp>
      <p:sp>
        <p:nvSpPr>
          <p:cNvPr id="472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473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6E93C8"/>
                </a:solidFill>
                <a:latin typeface="Arial"/>
                <a:ea typeface="Arial"/>
              </a:rPr>
              <a:t>04 / 15</a:t>
            </a:r>
            <a:endParaRPr/>
          </a:p>
        </p:txBody>
      </p:sp>
    </p:spTree>
  </p:cSld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47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pic>
        <p:nvPicPr>
          <p:cNvPr id="476" name=""/>
          <p:cNvPicPr>
            <a:picLocks noChangeAspect="1"/>
          </p:cNvPicPr>
          <p:nvPr/>
        </p:nvPicPr>
        <p:blipFill>
          <a:blip r:embed="rId1"/>
          <a:srcRect l="1159" t="0" r="1159" b="0"/>
          <a:stretch>
            <a:fillRect/>
          </a:stretch>
        </p:blipFill>
        <p:spPr>
          <a:xfrm rot="0" flipH="0" flipV="0">
            <a:off x="0" y="0"/>
            <a:ext cx="12192000" cy="990600"/>
          </a:xfrm>
          <a:prstGeom prst="rect">
            <a:avLst/>
          </a:prstGeom>
          <a:ln/>
        </p:spPr>
      </p:pic>
      <p:sp>
        <p:nvSpPr>
          <p:cNvPr id="477" name=""/>
          <p:cNvSpPr/>
          <p:nvPr/>
        </p:nvSpPr>
        <p:spPr>
          <a:xfrm rot="0" flipH="0" flipV="0">
            <a:off x="0" y="0"/>
            <a:ext cx="12192000" cy="990600"/>
          </a:xfrm>
          <a:prstGeom prst="rect">
            <a:avLst/>
          </a:prstGeom>
          <a:gradFill>
            <a:gsLst>
              <a:gs pos="0">
                <a:srgbClr val="0B2A6B">
                  <a:alpha val="95000"/>
                </a:srgbClr>
              </a:gs>
              <a:gs pos="55000">
                <a:srgbClr val="1B5FD9">
                  <a:alpha val="85000"/>
                </a:srgbClr>
              </a:gs>
              <a:gs pos="100000">
                <a:srgbClr val="1B5FD9">
                  <a:alpha val="6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478" name=""/>
          <p:cNvSpPr/>
          <p:nvPr/>
        </p:nvSpPr>
        <p:spPr>
          <a:xfrm rot="0" flipH="0" flipV="0">
            <a:off x="609600" y="37147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479" name="" descr="{&quot;isTemplate&quot;:true,&quot;type&quot;:&quot;text&quot;}"/>
          <p:cNvSpPr txBox="1"/>
          <p:nvPr/>
        </p:nvSpPr>
        <p:spPr>
          <a:xfrm rot="0" flipH="0" flipV="0">
            <a:off x="819150" y="228600"/>
            <a:ext cx="45720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五个场景，全部对齐集团需求规格</a:t>
            </a:r>
            <a:endParaRPr/>
          </a:p>
        </p:txBody>
      </p:sp>
      <p:sp>
        <p:nvSpPr>
          <p:cNvPr id="480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4572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《爱尔小龙虾美团商家版需求规格说明书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 xml:space="preserve"> v1.0</a:t>
            </a:r>
            <a:r>
              <a:rPr lang="zh-CN" sz="975" spc="75">
                <a:solidFill>
                  <a:srgbClr val="ADE8FF"/>
                </a:solidFill>
                <a:latin typeface="Microsoft YaHei"/>
                <a:ea typeface="Microsoft YaHei"/>
              </a:rPr>
              <a:t>》</a:t>
            </a:r>
            <a:r>
              <a:rPr lang="en-US" sz="975" spc="75">
                <a:solidFill>
                  <a:srgbClr val="ADE8FF"/>
                </a:solidFill>
                <a:latin typeface="Microsoft YaHei"/>
                <a:ea typeface="Microsoft YaHei"/>
              </a:rPr>
              <a:t>REQ-01 ~ REQ-05</a:t>
            </a:r>
            <a:endParaRPr/>
          </a:p>
        </p:txBody>
      </p:sp>
      <p:pic>
        <p:nvPicPr>
          <p:cNvPr id="481" name=""/>
          <p:cNvPicPr>
            <a:picLocks noChangeAspect="1"/>
          </p:cNvPicPr>
          <p:nvPr/>
        </p:nvPicPr>
        <p:blipFill>
          <a:blip r:embed="rId2">
            <a:alphaModFix amt="42000"/>
          </a:blip>
          <a:srcRect l="0" t="889" r="0" b="889"/>
          <a:stretch>
            <a:fillRect/>
          </a:stretch>
        </p:blipFill>
        <p:spPr>
          <a:xfrm rot="0" flipH="0" flipV="0">
            <a:off x="10363200" y="247650"/>
            <a:ext cx="1219200" cy="514350"/>
          </a:xfrm>
          <a:prstGeom prst="rect">
            <a:avLst/>
          </a:prstGeom>
          <a:ln/>
        </p:spPr>
      </p:pic>
      <p:sp>
        <p:nvSpPr>
          <p:cNvPr id="482" name=""/>
          <p:cNvSpPr/>
          <p:nvPr/>
        </p:nvSpPr>
        <p:spPr>
          <a:xfrm rot="0" flipH="0" flipV="0">
            <a:off x="60960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83" name=""/>
          <p:cNvSpPr/>
          <p:nvPr/>
        </p:nvSpPr>
        <p:spPr>
          <a:xfrm rot="0" flipH="0" flipV="0">
            <a:off x="60960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4" name=""/>
          <p:cNvSpPr/>
          <p:nvPr/>
        </p:nvSpPr>
        <p:spPr>
          <a:xfrm rot="0" flipH="0" flipV="0">
            <a:off x="80010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5" name="" descr="{&quot;isTemplate&quot;:true,&quot;type&quot;:&quot;text&quot;}"/>
          <p:cNvSpPr txBox="1"/>
          <p:nvPr/>
        </p:nvSpPr>
        <p:spPr>
          <a:xfrm rot="0" flipH="0" flipV="0">
            <a:off x="88582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REQ-01</a:t>
            </a:r>
            <a:endParaRPr/>
          </a:p>
        </p:txBody>
      </p:sp>
      <p:sp>
        <p:nvSpPr>
          <p:cNvPr id="486" name="" descr="{&quot;isTemplate&quot;:true,&quot;type&quot;:&quot;text&quot;}"/>
          <p:cNvSpPr txBox="1"/>
          <p:nvPr/>
        </p:nvSpPr>
        <p:spPr>
          <a:xfrm rot="0" flipH="0" flipV="0">
            <a:off x="800100" y="1781175"/>
            <a:ext cx="1714500" cy="457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经营数据采集与驾驶舱</a:t>
            </a:r>
            <a:endParaRPr/>
          </a:p>
        </p:txBody>
      </p:sp>
      <p:sp>
        <p:nvSpPr>
          <p:cNvPr id="487" name="" descr="{&quot;isTemplate&quot;:true,&quot;type&quot;:&quot;text&quot;}"/>
          <p:cNvSpPr txBox="1"/>
          <p:nvPr/>
        </p:nvSpPr>
        <p:spPr>
          <a:xfrm rot="0" flipH="0" flipV="0">
            <a:off x="800100" y="2352675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经营参谋截图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 / API /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页面操作三种方式采集，统一汇总至集团后台，形成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 4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维经营驾驶舱</a:t>
            </a:r>
            <a:endParaRPr/>
          </a:p>
        </p:txBody>
      </p:sp>
      <p:sp>
        <p:nvSpPr>
          <p:cNvPr id="488" name=""/>
          <p:cNvSpPr/>
          <p:nvPr/>
        </p:nvSpPr>
        <p:spPr>
          <a:xfrm rot="0" flipH="0" flipV="0">
            <a:off x="800100" y="32480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89" name="" descr="{&quot;isTemplate&quot;:true,&quot;type&quot;:&quot;text&quot;}"/>
          <p:cNvSpPr txBox="1"/>
          <p:nvPr/>
        </p:nvSpPr>
        <p:spPr>
          <a:xfrm rot="0" flipH="0" flipV="0">
            <a:off x="914400" y="31813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个界面分图上传指引</a:t>
            </a:r>
            <a:endParaRPr/>
          </a:p>
        </p:txBody>
      </p:sp>
      <p:sp>
        <p:nvSpPr>
          <p:cNvPr id="490" name=""/>
          <p:cNvSpPr/>
          <p:nvPr/>
        </p:nvSpPr>
        <p:spPr>
          <a:xfrm rot="0" flipH="0" flipV="0">
            <a:off x="800100" y="3514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91" name="" descr="{&quot;isTemplate&quot;:true,&quot;type&quot;:&quot;text&quot;}"/>
          <p:cNvSpPr txBox="1"/>
          <p:nvPr/>
        </p:nvSpPr>
        <p:spPr>
          <a:xfrm rot="0" flipH="0" flipV="0">
            <a:off x="914400" y="34480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门店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周期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数据类型三维筛选</a:t>
            </a:r>
            <a:endParaRPr/>
          </a:p>
        </p:txBody>
      </p:sp>
      <p:sp>
        <p:nvSpPr>
          <p:cNvPr id="492" name=""/>
          <p:cNvSpPr/>
          <p:nvPr/>
        </p:nvSpPr>
        <p:spPr>
          <a:xfrm rot="0" flipH="0" flipV="0">
            <a:off x="800100" y="3781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93" name="" descr="{&quot;isTemplate&quot;:true,&quot;type&quot;:&quot;text&quot;}"/>
          <p:cNvSpPr txBox="1"/>
          <p:nvPr/>
        </p:nvSpPr>
        <p:spPr>
          <a:xfrm rot="0" flipH="0" flipV="0">
            <a:off x="914400" y="37147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经营评分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漏斗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评价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星级</a:t>
            </a:r>
            <a:endParaRPr/>
          </a:p>
        </p:txBody>
      </p:sp>
      <p:sp>
        <p:nvSpPr>
          <p:cNvPr id="494" name=""/>
          <p:cNvSpPr/>
          <p:nvPr/>
        </p:nvSpPr>
        <p:spPr>
          <a:xfrm rot="0" flipH="0" flipV="0">
            <a:off x="800100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95" name="" descr="{&quot;isTemplate&quot;:true,&quot;type&quot;:&quot;text&quot;}"/>
          <p:cNvSpPr txBox="1"/>
          <p:nvPr/>
        </p:nvSpPr>
        <p:spPr>
          <a:xfrm rot="0" flipH="0" flipV="0">
            <a:off x="914400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496" name="" descr="{&quot;isTemplate&quot;:true,&quot;type&quot;:&quot;text&quot;}"/>
          <p:cNvSpPr txBox="1"/>
          <p:nvPr/>
        </p:nvSpPr>
        <p:spPr>
          <a:xfrm rot="0" flipH="0" flipV="0">
            <a:off x="914400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经营驾驶舱、门诊采集</a:t>
            </a:r>
            <a:endParaRPr/>
          </a:p>
        </p:txBody>
      </p:sp>
      <p:sp>
        <p:nvSpPr>
          <p:cNvPr id="497" name=""/>
          <p:cNvSpPr/>
          <p:nvPr/>
        </p:nvSpPr>
        <p:spPr>
          <a:xfrm rot="0" flipH="0" flipV="0">
            <a:off x="2828925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498" name=""/>
          <p:cNvSpPr/>
          <p:nvPr/>
        </p:nvSpPr>
        <p:spPr>
          <a:xfrm rot="0" flipH="0" flipV="0">
            <a:off x="2828925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499" name=""/>
          <p:cNvSpPr/>
          <p:nvPr/>
        </p:nvSpPr>
        <p:spPr>
          <a:xfrm rot="0" flipH="0" flipV="0">
            <a:off x="3019425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0" name="" descr="{&quot;isTemplate&quot;:true,&quot;type&quot;:&quot;text&quot;}"/>
          <p:cNvSpPr txBox="1"/>
          <p:nvPr/>
        </p:nvSpPr>
        <p:spPr>
          <a:xfrm rot="0" flipH="0" flipV="0">
            <a:off x="3105150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REQ-02</a:t>
            </a:r>
            <a:endParaRPr/>
          </a:p>
        </p:txBody>
      </p:sp>
      <p:sp>
        <p:nvSpPr>
          <p:cNvPr id="501" name="" descr="{&quot;isTemplate&quot;:true,&quot;type&quot;:&quot;text&quot;}"/>
          <p:cNvSpPr txBox="1"/>
          <p:nvPr/>
        </p:nvSpPr>
        <p:spPr>
          <a:xfrm rot="0" flipH="0" flipV="0">
            <a:off x="3019425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项目智能分析与竞争定价</a:t>
            </a:r>
            <a:endParaRPr/>
          </a:p>
        </p:txBody>
      </p:sp>
      <p:sp>
        <p:nvSpPr>
          <p:cNvPr id="502" name="" descr="{&quot;isTemplate&quot;:true,&quot;type&quot;:&quot;text&quot;}"/>
          <p:cNvSpPr txBox="1"/>
          <p:nvPr/>
        </p:nvSpPr>
        <p:spPr>
          <a:xfrm rot="0" flipH="0" flipV="0">
            <a:off x="3019425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综合竞品门店评分、销量、价格带，判断项目卖得好不好、定价合不合理，识别价格缺口</a:t>
            </a:r>
            <a:endParaRPr/>
          </a:p>
        </p:txBody>
      </p:sp>
      <p:sp>
        <p:nvSpPr>
          <p:cNvPr id="503" name=""/>
          <p:cNvSpPr/>
          <p:nvPr/>
        </p:nvSpPr>
        <p:spPr>
          <a:xfrm rot="0" flipH="0" flipV="0">
            <a:off x="3019425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4" name="" descr="{&quot;isTemplate&quot;:true,&quot;type&quot;:&quot;text&quot;}"/>
          <p:cNvSpPr txBox="1"/>
          <p:nvPr/>
        </p:nvSpPr>
        <p:spPr>
          <a:xfrm rot="0" flipH="0" flipV="0">
            <a:off x="3133725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竞品门店横向对比</a:t>
            </a:r>
            <a:endParaRPr/>
          </a:p>
        </p:txBody>
      </p:sp>
      <p:sp>
        <p:nvSpPr>
          <p:cNvPr id="505" name=""/>
          <p:cNvSpPr/>
          <p:nvPr/>
        </p:nvSpPr>
        <p:spPr>
          <a:xfrm rot="0" flipH="0" flipV="0">
            <a:off x="3019425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6" name="" descr="{&quot;isTemplate&quot;:true,&quot;type&quot;:&quot;text&quot;}"/>
          <p:cNvSpPr txBox="1"/>
          <p:nvPr/>
        </p:nvSpPr>
        <p:spPr>
          <a:xfrm rot="0" flipH="0" flipV="0">
            <a:off x="3133725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价格带缺口识别</a:t>
            </a:r>
            <a:endParaRPr/>
          </a:p>
        </p:txBody>
      </p:sp>
      <p:sp>
        <p:nvSpPr>
          <p:cNvPr id="507" name=""/>
          <p:cNvSpPr/>
          <p:nvPr/>
        </p:nvSpPr>
        <p:spPr>
          <a:xfrm rot="0" flipH="0" flipV="0">
            <a:off x="3019425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08" name="" descr="{&quot;isTemplate&quot;:true,&quot;type&quot;:&quot;text&quot;}"/>
          <p:cNvSpPr txBox="1"/>
          <p:nvPr/>
        </p:nvSpPr>
        <p:spPr>
          <a:xfrm rot="0" flipH="0" flipV="0">
            <a:off x="3133725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高销量</a:t>
            </a: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低销量双向预警</a:t>
            </a:r>
            <a:endParaRPr/>
          </a:p>
        </p:txBody>
      </p:sp>
      <p:sp>
        <p:nvSpPr>
          <p:cNvPr id="509" name=""/>
          <p:cNvSpPr/>
          <p:nvPr/>
        </p:nvSpPr>
        <p:spPr>
          <a:xfrm rot="0" flipH="0" flipV="0">
            <a:off x="3019425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10" name="" descr="{&quot;isTemplate&quot;:true,&quot;type&quot;:&quot;text&quot;}"/>
          <p:cNvSpPr txBox="1"/>
          <p:nvPr/>
        </p:nvSpPr>
        <p:spPr>
          <a:xfrm rot="0" flipH="0" flipV="0">
            <a:off x="3133725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11" name="" descr="{&quot;isTemplate&quot;:true,&quot;type&quot;:&quot;text&quot;}"/>
          <p:cNvSpPr txBox="1"/>
          <p:nvPr/>
        </p:nvSpPr>
        <p:spPr>
          <a:xfrm rot="0" flipH="0" flipV="0">
            <a:off x="3133725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竞品分析、运营诊断</a:t>
            </a:r>
            <a:endParaRPr/>
          </a:p>
        </p:txBody>
      </p:sp>
      <p:sp>
        <p:nvSpPr>
          <p:cNvPr id="512" name=""/>
          <p:cNvSpPr/>
          <p:nvPr/>
        </p:nvSpPr>
        <p:spPr>
          <a:xfrm rot="0" flipH="0" flipV="0">
            <a:off x="504825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13" name=""/>
          <p:cNvSpPr/>
          <p:nvPr/>
        </p:nvSpPr>
        <p:spPr>
          <a:xfrm rot="0" flipH="0" flipV="0">
            <a:off x="504825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14" name=""/>
          <p:cNvSpPr/>
          <p:nvPr/>
        </p:nvSpPr>
        <p:spPr>
          <a:xfrm rot="0" flipH="0" flipV="0">
            <a:off x="523875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15" name="" descr="{&quot;isTemplate&quot;:true,&quot;type&quot;:&quot;text&quot;}"/>
          <p:cNvSpPr txBox="1"/>
          <p:nvPr/>
        </p:nvSpPr>
        <p:spPr>
          <a:xfrm rot="0" flipH="0" flipV="0">
            <a:off x="532447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516" name="" descr="{&quot;isTemplate&quot;:true,&quot;type&quot;:&quot;text&quot;}"/>
          <p:cNvSpPr txBox="1"/>
          <p:nvPr/>
        </p:nvSpPr>
        <p:spPr>
          <a:xfrm rot="0" flipH="0" flipV="0">
            <a:off x="5238750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图片与营销素材智能生成</a:t>
            </a:r>
            <a:endParaRPr/>
          </a:p>
        </p:txBody>
      </p:sp>
      <p:sp>
        <p:nvSpPr>
          <p:cNvPr id="517" name="" descr="{&quot;isTemplate&quot;:true,&quot;type&quot;:&quot;text&quot;}"/>
          <p:cNvSpPr txBox="1"/>
          <p:nvPr/>
        </p:nvSpPr>
        <p:spPr>
          <a:xfrm rot="0" flipH="0" flipV="0">
            <a:off x="5238750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总部按月提供品牌视觉模板，门店一键生成符合集团视觉规范的文案、套图与主图</a:t>
            </a:r>
            <a:endParaRPr/>
          </a:p>
        </p:txBody>
      </p:sp>
      <p:sp>
        <p:nvSpPr>
          <p:cNvPr id="518" name=""/>
          <p:cNvSpPr/>
          <p:nvPr/>
        </p:nvSpPr>
        <p:spPr>
          <a:xfrm rot="0" flipH="0" flipV="0">
            <a:off x="5238750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19" name="" descr="{&quot;isTemplate&quot;:true,&quot;type&quot;:&quot;text&quot;}"/>
          <p:cNvSpPr txBox="1"/>
          <p:nvPr/>
        </p:nvSpPr>
        <p:spPr>
          <a:xfrm rot="0" flipH="0" flipV="0">
            <a:off x="5353050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总部模板机制下发</a:t>
            </a:r>
            <a:endParaRPr/>
          </a:p>
        </p:txBody>
      </p:sp>
      <p:sp>
        <p:nvSpPr>
          <p:cNvPr id="520" name=""/>
          <p:cNvSpPr/>
          <p:nvPr/>
        </p:nvSpPr>
        <p:spPr>
          <a:xfrm rot="0" flipH="0" flipV="0">
            <a:off x="5238750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21" name="" descr="{&quot;isTemplate&quot;:true,&quot;type&quot;:&quot;text&quot;}"/>
          <p:cNvSpPr txBox="1"/>
          <p:nvPr/>
        </p:nvSpPr>
        <p:spPr>
          <a:xfrm rot="0" flipH="0" flipV="0">
            <a:off x="5353050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63">
                <a:solidFill>
                  <a:srgbClr val="3A4A66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批量出图</a:t>
            </a:r>
            <a:endParaRPr/>
          </a:p>
        </p:txBody>
      </p:sp>
      <p:sp>
        <p:nvSpPr>
          <p:cNvPr id="522" name=""/>
          <p:cNvSpPr/>
          <p:nvPr/>
        </p:nvSpPr>
        <p:spPr>
          <a:xfrm rot="0" flipH="0" flipV="0">
            <a:off x="5238750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23" name="" descr="{&quot;isTemplate&quot;:true,&quot;type&quot;:&quot;text&quot;}"/>
          <p:cNvSpPr txBox="1"/>
          <p:nvPr/>
        </p:nvSpPr>
        <p:spPr>
          <a:xfrm rot="0" flipH="0" flipV="0">
            <a:off x="5353050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主图构图与合规诊断</a:t>
            </a:r>
            <a:endParaRPr/>
          </a:p>
        </p:txBody>
      </p:sp>
      <p:sp>
        <p:nvSpPr>
          <p:cNvPr id="524" name=""/>
          <p:cNvSpPr/>
          <p:nvPr/>
        </p:nvSpPr>
        <p:spPr>
          <a:xfrm rot="0" flipH="0" flipV="0">
            <a:off x="5238750" y="5057775"/>
            <a:ext cx="1714500" cy="809625"/>
          </a:xfrm>
          <a:prstGeom prst="roundRect">
            <a:avLst>
              <a:gd name="adj" fmla="val 8235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5" name="" descr="{&quot;isTemplate&quot;:true,&quot;type&quot;:&quot;text&quot;}"/>
          <p:cNvSpPr txBox="1"/>
          <p:nvPr/>
        </p:nvSpPr>
        <p:spPr>
          <a:xfrm rot="0" flipH="0" flipV="0">
            <a:off x="5353050" y="515302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26" name="" descr="{&quot;isTemplate&quot;:true,&quot;type&quot;:&quot;text&quot;}"/>
          <p:cNvSpPr txBox="1"/>
          <p:nvPr/>
        </p:nvSpPr>
        <p:spPr>
          <a:xfrm rot="0" flipH="0" flipV="0">
            <a:off x="5353050" y="5343525"/>
            <a:ext cx="1485900" cy="428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文案生成、套图生成、主图诊断</a:t>
            </a:r>
            <a:endParaRPr/>
          </a:p>
        </p:txBody>
      </p:sp>
      <p:sp>
        <p:nvSpPr>
          <p:cNvPr id="527" name=""/>
          <p:cNvSpPr/>
          <p:nvPr/>
        </p:nvSpPr>
        <p:spPr>
          <a:xfrm rot="0" flipH="0" flipV="0">
            <a:off x="7267575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28" name=""/>
          <p:cNvSpPr/>
          <p:nvPr/>
        </p:nvSpPr>
        <p:spPr>
          <a:xfrm rot="0" flipH="0" flipV="0">
            <a:off x="7267575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29" name=""/>
          <p:cNvSpPr/>
          <p:nvPr/>
        </p:nvSpPr>
        <p:spPr>
          <a:xfrm rot="0" flipH="0" flipV="0">
            <a:off x="7458075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30" name="" descr="{&quot;isTemplate&quot;:true,&quot;type&quot;:&quot;text&quot;}"/>
          <p:cNvSpPr txBox="1"/>
          <p:nvPr/>
        </p:nvSpPr>
        <p:spPr>
          <a:xfrm rot="0" flipH="0" flipV="0">
            <a:off x="7543800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531" name="" descr="{&quot;isTemplate&quot;:true,&quot;type&quot;:&quot;text&quot;}"/>
          <p:cNvSpPr txBox="1"/>
          <p:nvPr/>
        </p:nvSpPr>
        <p:spPr>
          <a:xfrm rot="0" flipH="0" flipV="0">
            <a:off x="7458075" y="1781175"/>
            <a:ext cx="1714500" cy="45720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差评智能分析与回复</a:t>
            </a:r>
            <a:endParaRPr/>
          </a:p>
        </p:txBody>
      </p:sp>
      <p:sp>
        <p:nvSpPr>
          <p:cNvPr id="532" name="" descr="{&quot;isTemplate&quot;:true,&quot;type&quot;:&quot;text&quot;}"/>
          <p:cNvSpPr txBox="1"/>
          <p:nvPr/>
        </p:nvSpPr>
        <p:spPr>
          <a:xfrm rot="0" flipH="0" flipV="0">
            <a:off x="7458075" y="2352675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支持文本粘贴与差评截图输入，</a:t>
            </a:r>
            <a:r>
              <a:rPr lang="en-US" sz="938">
                <a:solidFill>
                  <a:srgbClr val="5A6B8C"/>
                </a:solidFill>
                <a:latin typeface="Microsoft YaHei"/>
                <a:ea typeface="Microsoft YaHei"/>
              </a:rPr>
              <a:t xml:space="preserve">OCR </a:t>
            </a: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提取内容后自动分类并生成分层回复建议</a:t>
            </a:r>
            <a:endParaRPr/>
          </a:p>
        </p:txBody>
      </p:sp>
      <p:sp>
        <p:nvSpPr>
          <p:cNvPr id="533" name=""/>
          <p:cNvSpPr/>
          <p:nvPr/>
        </p:nvSpPr>
        <p:spPr>
          <a:xfrm rot="0" flipH="0" flipV="0">
            <a:off x="7458075" y="32480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34" name="" descr="{&quot;isTemplate&quot;:true,&quot;type&quot;:&quot;text&quot;}"/>
          <p:cNvSpPr txBox="1"/>
          <p:nvPr/>
        </p:nvSpPr>
        <p:spPr>
          <a:xfrm rot="0" flipH="0" flipV="0">
            <a:off x="7572375" y="31813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差评自动分类归因</a:t>
            </a:r>
            <a:endParaRPr/>
          </a:p>
        </p:txBody>
      </p:sp>
      <p:sp>
        <p:nvSpPr>
          <p:cNvPr id="535" name=""/>
          <p:cNvSpPr/>
          <p:nvPr/>
        </p:nvSpPr>
        <p:spPr>
          <a:xfrm rot="0" flipH="0" flipV="0">
            <a:off x="7458075" y="35147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36" name="" descr="{&quot;isTemplate&quot;:true,&quot;type&quot;:&quot;text&quot;}"/>
          <p:cNvSpPr txBox="1"/>
          <p:nvPr/>
        </p:nvSpPr>
        <p:spPr>
          <a:xfrm rot="0" flipH="0" flipV="0">
            <a:off x="7572375" y="34480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分层回复话术建议</a:t>
            </a:r>
            <a:endParaRPr/>
          </a:p>
        </p:txBody>
      </p:sp>
      <p:sp>
        <p:nvSpPr>
          <p:cNvPr id="537" name=""/>
          <p:cNvSpPr/>
          <p:nvPr/>
        </p:nvSpPr>
        <p:spPr>
          <a:xfrm rot="0" flipH="0" flipV="0">
            <a:off x="7458075" y="3781425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38" name="" descr="{&quot;isTemplate&quot;:true,&quot;type&quot;:&quot;text&quot;}"/>
          <p:cNvSpPr txBox="1"/>
          <p:nvPr/>
        </p:nvSpPr>
        <p:spPr>
          <a:xfrm rot="0" flipH="0" flipV="0">
            <a:off x="7572375" y="3714750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文案润色与合规检查</a:t>
            </a:r>
            <a:endParaRPr/>
          </a:p>
        </p:txBody>
      </p:sp>
      <p:sp>
        <p:nvSpPr>
          <p:cNvPr id="539" name=""/>
          <p:cNvSpPr/>
          <p:nvPr/>
        </p:nvSpPr>
        <p:spPr>
          <a:xfrm rot="0" flipH="0" flipV="0">
            <a:off x="7458075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40" name="" descr="{&quot;isTemplate&quot;:true,&quot;type&quot;:&quot;text&quot;}"/>
          <p:cNvSpPr txBox="1"/>
          <p:nvPr/>
        </p:nvSpPr>
        <p:spPr>
          <a:xfrm rot="0" flipH="0" flipV="0">
            <a:off x="7572375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5A6B8C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41" name="" descr="{&quot;isTemplate&quot;:true,&quot;type&quot;:&quot;text&quot;}"/>
          <p:cNvSpPr txBox="1"/>
          <p:nvPr/>
        </p:nvSpPr>
        <p:spPr>
          <a:xfrm rot="0" flipH="0" flipV="0">
            <a:off x="7572375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1B5FD9"/>
                </a:solidFill>
                <a:latin typeface="Microsoft YaHei"/>
                <a:ea typeface="Microsoft YaHei"/>
              </a:rPr>
              <a:t>评价管理、文案优化</a:t>
            </a:r>
            <a:endParaRPr/>
          </a:p>
        </p:txBody>
      </p:sp>
      <p:sp>
        <p:nvSpPr>
          <p:cNvPr id="542" name=""/>
          <p:cNvSpPr/>
          <p:nvPr/>
        </p:nvSpPr>
        <p:spPr>
          <a:xfrm rot="0" flipH="0" flipV="0">
            <a:off x="9486900" y="1257300"/>
            <a:ext cx="2095500" cy="48387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/>
          <a:effectLst>
            <a:outerShdw blurRad="190500" dist="47625" dir="5400000">
              <a:srgbClr val="0B2A6B">
                <a:alpha val="9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43" name=""/>
          <p:cNvSpPr/>
          <p:nvPr/>
        </p:nvSpPr>
        <p:spPr>
          <a:xfrm rot="0" flipH="0" flipV="0">
            <a:off x="9486900" y="1257300"/>
            <a:ext cx="2095500" cy="4838700"/>
          </a:xfrm>
          <a:custGeom>
            <a:pathLst>
              <a:path w="220" h="508">
                <a:moveTo>
                  <a:pt x="209" y="0"/>
                </a:moveTo>
                <a:cubicBezTo>
                  <a:pt x="214" y="0"/>
                  <a:pt x="219" y="4"/>
                  <a:pt x="220" y="10"/>
                </a:cubicBezTo>
                <a:cubicBezTo>
                  <a:pt x="219" y="6"/>
                  <a:pt x="216" y="4"/>
                  <a:pt x="212" y="4"/>
                </a:cubicBezTo>
                <a:lnTo>
                  <a:pt x="8" y="4"/>
                </a:lnTo>
                <a:cubicBezTo>
                  <a:pt x="4" y="4"/>
                  <a:pt x="1" y="7"/>
                  <a:pt x="0" y="10"/>
                </a:cubicBezTo>
                <a:cubicBezTo>
                  <a:pt x="1" y="4"/>
                  <a:pt x="6" y="0"/>
                  <a:pt x="12" y="0"/>
                </a:cubicBezTo>
                <a:lnTo>
                  <a:pt x="208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44" name=""/>
          <p:cNvSpPr/>
          <p:nvPr/>
        </p:nvSpPr>
        <p:spPr>
          <a:xfrm rot="0" flipH="0" flipV="0">
            <a:off x="9677400" y="1428750"/>
            <a:ext cx="590550" cy="219075"/>
          </a:xfrm>
          <a:prstGeom prst="roundRect">
            <a:avLst>
              <a:gd name="adj" fmla="val 21739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45" name="" descr="{&quot;isTemplate&quot;:true,&quot;type&quot;:&quot;text&quot;}"/>
          <p:cNvSpPr txBox="1"/>
          <p:nvPr/>
        </p:nvSpPr>
        <p:spPr>
          <a:xfrm rot="0" flipH="0" flipV="0">
            <a:off x="9763125" y="1466850"/>
            <a:ext cx="4191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 b="1">
                <a:solidFill>
                  <a:srgbClr val="FFFFFF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546" name="" descr="{&quot;isTemplate&quot;:true,&quot;type&quot;:&quot;text&quot;}"/>
          <p:cNvSpPr txBox="1"/>
          <p:nvPr/>
        </p:nvSpPr>
        <p:spPr>
          <a:xfrm rot="0" flipH="0" flipV="0">
            <a:off x="9677400" y="1781175"/>
            <a:ext cx="1714500" cy="5619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35000"/>
              </a:lnSpc>
            </a:pPr>
            <a:r>
              <a:rPr lang="zh-CN" sz="1350" b="1">
                <a:solidFill>
                  <a:srgbClr val="0B2A6B"/>
                </a:solidFill>
                <a:latin typeface="Microsoft YaHei"/>
                <a:ea typeface="Microsoft YaHei"/>
              </a:rPr>
              <a:t>流量活动与促销智能决策</a:t>
            </a:r>
            <a:endParaRPr/>
          </a:p>
        </p:txBody>
      </p:sp>
      <p:sp>
        <p:nvSpPr>
          <p:cNvPr id="547" name="" descr="{&quot;isTemplate&quot;:true,&quot;type&quot;:&quot;text&quot;}"/>
          <p:cNvSpPr txBox="1"/>
          <p:nvPr/>
        </p:nvSpPr>
        <p:spPr>
          <a:xfrm rot="0" flipH="0" flipV="0">
            <a:off x="9677400" y="2457450"/>
            <a:ext cx="1714500" cy="71437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zh-CN" sz="938">
                <a:solidFill>
                  <a:srgbClr val="5A6B8C"/>
                </a:solidFill>
                <a:latin typeface="Microsoft YaHei"/>
                <a:ea typeface="Microsoft YaHei"/>
              </a:rPr>
              <a:t>持续监测经营指标，识别异常波动，主动输出运营策略与活动建议</a:t>
            </a:r>
            <a:endParaRPr/>
          </a:p>
        </p:txBody>
      </p:sp>
      <p:sp>
        <p:nvSpPr>
          <p:cNvPr id="548" name=""/>
          <p:cNvSpPr/>
          <p:nvPr/>
        </p:nvSpPr>
        <p:spPr>
          <a:xfrm rot="0" flipH="0" flipV="0">
            <a:off x="9677400" y="33528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49" name="" descr="{&quot;isTemplate&quot;:true,&quot;type&quot;:&quot;text&quot;}"/>
          <p:cNvSpPr txBox="1"/>
          <p:nvPr/>
        </p:nvSpPr>
        <p:spPr>
          <a:xfrm rot="0" flipH="0" flipV="0">
            <a:off x="9791700" y="32861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经营指标异常识别</a:t>
            </a:r>
            <a:endParaRPr/>
          </a:p>
        </p:txBody>
      </p:sp>
      <p:sp>
        <p:nvSpPr>
          <p:cNvPr id="550" name=""/>
          <p:cNvSpPr/>
          <p:nvPr/>
        </p:nvSpPr>
        <p:spPr>
          <a:xfrm rot="0" flipH="0" flipV="0">
            <a:off x="9677400" y="36195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51" name="" descr="{&quot;isTemplate&quot;:true,&quot;type&quot;:&quot;text&quot;}"/>
          <p:cNvSpPr txBox="1"/>
          <p:nvPr/>
        </p:nvSpPr>
        <p:spPr>
          <a:xfrm rot="0" flipH="0" flipV="0">
            <a:off x="9791700" y="35528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分场景转化话术</a:t>
            </a:r>
            <a:endParaRPr/>
          </a:p>
        </p:txBody>
      </p:sp>
      <p:sp>
        <p:nvSpPr>
          <p:cNvPr id="552" name=""/>
          <p:cNvSpPr/>
          <p:nvPr/>
        </p:nvSpPr>
        <p:spPr>
          <a:xfrm rot="0" flipH="0" flipV="0">
            <a:off x="9677400" y="3886200"/>
            <a:ext cx="47625" cy="47625"/>
          </a:xfrm>
          <a:prstGeom prst="roundRect">
            <a:avLst>
              <a:gd name="adj" fmla="val 6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553" name="" descr="{&quot;isTemplate&quot;:true,&quot;type&quot;:&quot;text&quot;}"/>
          <p:cNvSpPr txBox="1"/>
          <p:nvPr/>
        </p:nvSpPr>
        <p:spPr>
          <a:xfrm rot="0" flipH="0" flipV="0">
            <a:off x="9791700" y="3819525"/>
            <a:ext cx="1600200" cy="20002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3A4A66"/>
                </a:solidFill>
                <a:latin typeface="Microsoft YaHei"/>
                <a:ea typeface="Microsoft YaHei"/>
              </a:rPr>
              <a:t>活动与促销策略建议</a:t>
            </a:r>
            <a:endParaRPr/>
          </a:p>
        </p:txBody>
      </p:sp>
      <p:sp>
        <p:nvSpPr>
          <p:cNvPr id="554" name=""/>
          <p:cNvSpPr/>
          <p:nvPr/>
        </p:nvSpPr>
        <p:spPr>
          <a:xfrm rot="0" flipH="0" flipV="0">
            <a:off x="9677400" y="5267325"/>
            <a:ext cx="1714500" cy="600075"/>
          </a:xfrm>
          <a:prstGeom prst="roundRect">
            <a:avLst>
              <a:gd name="adj" fmla="val 11111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5" name="" descr="{&quot;isTemplate&quot;:true,&quot;type&quot;:&quot;text&quot;}"/>
          <p:cNvSpPr txBox="1"/>
          <p:nvPr/>
        </p:nvSpPr>
        <p:spPr>
          <a:xfrm rot="0" flipH="0" flipV="0">
            <a:off x="9791700" y="5362575"/>
            <a:ext cx="148590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spc="75">
                <a:solidFill>
                  <a:srgbClr val="B4560F"/>
                </a:solidFill>
                <a:latin typeface="Microsoft YaHei"/>
                <a:ea typeface="Microsoft YaHei"/>
              </a:rPr>
              <a:t>对应模块</a:t>
            </a:r>
            <a:endParaRPr/>
          </a:p>
        </p:txBody>
      </p:sp>
      <p:sp>
        <p:nvSpPr>
          <p:cNvPr id="556" name="" descr="{&quot;isTemplate&quot;:true,&quot;type&quot;:&quot;text&quot;}"/>
          <p:cNvSpPr txBox="1"/>
          <p:nvPr/>
        </p:nvSpPr>
        <p:spPr>
          <a:xfrm rot="0" flipH="0" flipV="0">
            <a:off x="9791700" y="5553075"/>
            <a:ext cx="1485900" cy="219075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38" b="1">
                <a:solidFill>
                  <a:srgbClr val="D96B15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557" name="" descr="{&quot;isTemplate&quot;:true,&quot;type&quot;:&quot;text&quot;}"/>
          <p:cNvSpPr txBox="1"/>
          <p:nvPr/>
        </p:nvSpPr>
        <p:spPr>
          <a:xfrm rot="0" flipH="0" flipV="0">
            <a:off x="609600" y="6515100"/>
            <a:ext cx="30765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558" name="" descr="{&quot;isTemplate&quot;:true,&quot;type&quot;:&quot;text&quot;}"/>
          <p:cNvSpPr txBox="1"/>
          <p:nvPr/>
        </p:nvSpPr>
        <p:spPr>
          <a:xfrm rot="0" flipH="0" flipV="0">
            <a:off x="11201400" y="651510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05 / 15</a:t>
            </a:r>
            <a:endParaRPr/>
          </a:p>
        </p:txBody>
      </p:sp>
    </p:spTree>
  </p:cSld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5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561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62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5248275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0B2A6B"/>
                </a:solidFill>
                <a:latin typeface="Microsoft YaHei"/>
                <a:ea typeface="Microsoft YaHei"/>
              </a:rPr>
              <a:t>经营驾驶舱：一眼看清</a:t>
            </a:r>
            <a:r>
              <a:rPr lang="en-US" sz="240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2400" b="1">
                <a:solidFill>
                  <a:srgbClr val="0B2A6B"/>
                </a:solidFill>
                <a:latin typeface="Microsoft YaHei"/>
                <a:ea typeface="Microsoft YaHei"/>
              </a:rPr>
              <a:t>家门店的家底</a:t>
            </a:r>
            <a:endParaRPr/>
          </a:p>
        </p:txBody>
      </p:sp>
      <p:sp>
        <p:nvSpPr>
          <p:cNvPr id="563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524827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经营评分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转化漏斗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评价分析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星级分析</a:t>
            </a:r>
            <a:r>
              <a:rPr lang="en-US" sz="975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</a:t>
            </a:r>
            <a:r>
              <a:rPr lang="zh-CN" sz="975" spc="75">
                <a:solidFill>
                  <a:srgbClr val="5A6B8C"/>
                </a:solidFill>
                <a:latin typeface="Microsoft YaHei"/>
                <a:ea typeface="Microsoft YaHei"/>
              </a:rPr>
              <a:t>四维联动</a:t>
            </a:r>
            <a:endParaRPr/>
          </a:p>
        </p:txBody>
      </p:sp>
      <p:pic>
        <p:nvPicPr>
          <p:cNvPr id="564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673" r="0" b="673"/>
          <a:stretch>
            <a:fillRect/>
          </a:stretch>
        </p:blipFill>
        <p:spPr>
          <a:xfrm rot="0" flipH="0" flipV="0">
            <a:off x="10458450" y="304800"/>
            <a:ext cx="1123950" cy="476250"/>
          </a:xfrm>
          <a:prstGeom prst="rect">
            <a:avLst/>
          </a:prstGeom>
          <a:ln/>
        </p:spPr>
      </p:pic>
      <p:sp>
        <p:nvSpPr>
          <p:cNvPr id="565" name=""/>
          <p:cNvSpPr/>
          <p:nvPr/>
        </p:nvSpPr>
        <p:spPr>
          <a:xfrm rot="0" flipH="0" flipV="0">
            <a:off x="533400" y="1123950"/>
            <a:ext cx="6724650" cy="4933950"/>
          </a:xfrm>
          <a:prstGeom prst="roundRect">
            <a:avLst>
              <a:gd name="adj" fmla="val 2317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228600" dist="57150" dir="5400000">
              <a:srgbClr val="0B2A6B">
                <a:alpha val="12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566" name=""/>
          <p:cNvPicPr>
            <a:picLocks noChangeAspect="1"/>
          </p:cNvPicPr>
          <p:nvPr/>
        </p:nvPicPr>
        <p:blipFill>
          <a:blip r:embed="rId2"/>
          <a:srcRect l="6952" t="0" r="6952" b="0"/>
          <a:stretch>
            <a:fillRect/>
          </a:stretch>
        </p:blipFill>
        <p:spPr>
          <a:xfrm rot="0" flipH="0" flipV="0">
            <a:off x="628650" y="1219200"/>
            <a:ext cx="6534150" cy="4743450"/>
          </a:xfrm>
          <a:prstGeom prst="roundRect">
            <a:avLst>
              <a:gd name="adj" fmla="val 1606"/>
            </a:avLst>
          </a:prstGeom>
          <a:ln/>
        </p:spPr>
      </p:pic>
      <p:sp>
        <p:nvSpPr>
          <p:cNvPr id="567" name=""/>
          <p:cNvSpPr/>
          <p:nvPr/>
        </p:nvSpPr>
        <p:spPr>
          <a:xfrm rot="0" flipH="0" flipV="0">
            <a:off x="7448550" y="1123950"/>
            <a:ext cx="4210050" cy="1504950"/>
          </a:xfrm>
          <a:prstGeom prst="roundRect">
            <a:avLst>
              <a:gd name="adj" fmla="val 7595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30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568" name="" descr="{&quot;isTemplate&quot;:true,&quot;type&quot;:&quot;text&quot;}"/>
          <p:cNvSpPr txBox="1"/>
          <p:nvPr/>
        </p:nvSpPr>
        <p:spPr>
          <a:xfrm rot="0" flipH="0" flipV="0">
            <a:off x="7620000" y="1295400"/>
            <a:ext cx="3867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spc="75">
                <a:solidFill>
                  <a:srgbClr val="8FC4F8"/>
                </a:solidFill>
                <a:latin typeface="Microsoft YaHei"/>
                <a:ea typeface="Microsoft YaHei"/>
              </a:rPr>
              <a:t>全部门店平均总分</a:t>
            </a:r>
            <a:endParaRPr/>
          </a:p>
        </p:txBody>
      </p:sp>
      <p:sp>
        <p:nvSpPr>
          <p:cNvPr id="569" name="" descr="{&quot;isTemplate&quot;:true,&quot;type&quot;:&quot;text&quot;}"/>
          <p:cNvSpPr txBox="1"/>
          <p:nvPr/>
        </p:nvSpPr>
        <p:spPr>
          <a:xfrm rot="0" flipH="0" flipV="0">
            <a:off x="7620000" y="1476375"/>
            <a:ext cx="1152525" cy="7143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650" b="1">
                <a:solidFill>
                  <a:srgbClr val="35C8F0"/>
                </a:solidFill>
                <a:latin typeface="Arial"/>
                <a:ea typeface="Arial"/>
              </a:rPr>
              <a:t>62.9</a:t>
            </a:r>
            <a:endParaRPr/>
          </a:p>
        </p:txBody>
      </p:sp>
      <p:sp>
        <p:nvSpPr>
          <p:cNvPr id="570" name="" descr="{&quot;isTemplate&quot;:true,&quot;type&quot;:&quot;text&quot;}"/>
          <p:cNvSpPr txBox="1"/>
          <p:nvPr/>
        </p:nvSpPr>
        <p:spPr>
          <a:xfrm rot="0" flipH="0" flipV="0">
            <a:off x="8848725" y="1866900"/>
            <a:ext cx="190500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00">
                <a:solidFill>
                  <a:srgbClr val="ADE8FF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571" name="" descr="{&quot;isTemplate&quot;:true,&quot;type&quot;:&quot;text&quot;}"/>
          <p:cNvSpPr txBox="1"/>
          <p:nvPr/>
        </p:nvSpPr>
        <p:spPr>
          <a:xfrm rot="0" flipH="0" flipV="0">
            <a:off x="7620000" y="2247900"/>
            <a:ext cx="3867150" cy="2095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累计总分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8306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最高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105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最低</a:t>
            </a:r>
            <a:r>
              <a:rPr lang="en-US" sz="900">
                <a:solidFill>
                  <a:srgbClr val="B8D6F5"/>
                </a:solidFill>
                <a:latin typeface="Microsoft YaHei"/>
                <a:ea typeface="Microsoft YaHei"/>
              </a:rPr>
              <a:t xml:space="preserve"> 0 </a:t>
            </a:r>
            <a:r>
              <a:rPr lang="zh-CN" sz="900">
                <a:solidFill>
                  <a:srgbClr val="B8D6F5"/>
                </a:solidFill>
                <a:latin typeface="Microsoft YaHei"/>
                <a:ea typeface="Microsoft YaHei"/>
              </a:rPr>
              <a:t>分</a:t>
            </a:r>
            <a:endParaRPr/>
          </a:p>
        </p:txBody>
      </p:sp>
      <p:sp>
        <p:nvSpPr>
          <p:cNvPr id="572" name=""/>
          <p:cNvSpPr/>
          <p:nvPr/>
        </p:nvSpPr>
        <p:spPr>
          <a:xfrm rot="0" flipH="0" flipV="0">
            <a:off x="7448550" y="272415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73" name="" descr="{&quot;isTemplate&quot;:true,&quot;type&quot;:&quot;text&quot;}"/>
          <p:cNvSpPr txBox="1"/>
          <p:nvPr/>
        </p:nvSpPr>
        <p:spPr>
          <a:xfrm rot="0" flipH="0" flipV="0">
            <a:off x="7581900" y="282892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服务质量</a:t>
            </a:r>
            <a:endParaRPr/>
          </a:p>
        </p:txBody>
      </p:sp>
      <p:sp>
        <p:nvSpPr>
          <p:cNvPr id="574" name="" descr="{&quot;isTemplate&quot;:true,&quot;type&quot;:&quot;text&quot;}"/>
          <p:cNvSpPr txBox="1"/>
          <p:nvPr/>
        </p:nvSpPr>
        <p:spPr>
          <a:xfrm rot="0" flipH="0" flipV="0">
            <a:off x="10953750" y="2828925"/>
            <a:ext cx="352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35C8F0"/>
                </a:solidFill>
                <a:latin typeface="Arial"/>
                <a:ea typeface="Arial"/>
              </a:rPr>
              <a:t>16.6</a:t>
            </a:r>
            <a:endParaRPr/>
          </a:p>
        </p:txBody>
      </p:sp>
      <p:sp>
        <p:nvSpPr>
          <p:cNvPr id="575" name="" descr="{&quot;isTemplate&quot;:true,&quot;type&quot;:&quot;text&quot;}"/>
          <p:cNvSpPr txBox="1"/>
          <p:nvPr/>
        </p:nvSpPr>
        <p:spPr>
          <a:xfrm rot="0" flipH="0" flipV="0">
            <a:off x="11334750" y="282892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20</a:t>
            </a:r>
            <a:endParaRPr/>
          </a:p>
        </p:txBody>
      </p:sp>
      <p:sp>
        <p:nvSpPr>
          <p:cNvPr id="576" name="" descr="{&quot;isTemplate&quot;:true,&quot;type&quot;:&quot;text&quot;}"/>
          <p:cNvSpPr txBox="1"/>
          <p:nvPr/>
        </p:nvSpPr>
        <p:spPr>
          <a:xfrm rot="0" flipH="0" flipV="0">
            <a:off x="7581900" y="320992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97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77" name=""/>
          <p:cNvSpPr/>
          <p:nvPr/>
        </p:nvSpPr>
        <p:spPr>
          <a:xfrm rot="0" flipH="0" flipV="0">
            <a:off x="7448550" y="354330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78" name="" descr="{&quot;isTemplate&quot;:true,&quot;type&quot;:&quot;text&quot;}"/>
          <p:cNvSpPr txBox="1"/>
          <p:nvPr/>
        </p:nvSpPr>
        <p:spPr>
          <a:xfrm rot="0" flipH="0" flipV="0">
            <a:off x="7581900" y="364807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基础信息</a:t>
            </a:r>
            <a:endParaRPr/>
          </a:p>
        </p:txBody>
      </p:sp>
      <p:sp>
        <p:nvSpPr>
          <p:cNvPr id="579" name="" descr="{&quot;isTemplate&quot;:true,&quot;type&quot;:&quot;text&quot;}"/>
          <p:cNvSpPr txBox="1"/>
          <p:nvPr/>
        </p:nvSpPr>
        <p:spPr>
          <a:xfrm rot="0" flipH="0" flipV="0">
            <a:off x="11049000" y="3648075"/>
            <a:ext cx="25717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Arial"/>
                <a:ea typeface="Arial"/>
              </a:rPr>
              <a:t>7.3</a:t>
            </a:r>
            <a:endParaRPr/>
          </a:p>
        </p:txBody>
      </p:sp>
      <p:sp>
        <p:nvSpPr>
          <p:cNvPr id="580" name="" descr="{&quot;isTemplate&quot;:true,&quot;type&quot;:&quot;text&quot;}"/>
          <p:cNvSpPr txBox="1"/>
          <p:nvPr/>
        </p:nvSpPr>
        <p:spPr>
          <a:xfrm rot="0" flipH="0" flipV="0">
            <a:off x="11334750" y="364807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10</a:t>
            </a:r>
            <a:endParaRPr/>
          </a:p>
        </p:txBody>
      </p:sp>
      <p:sp>
        <p:nvSpPr>
          <p:cNvPr id="581" name="" descr="{&quot;isTemplate&quot;:true,&quot;type&quot;:&quot;text&quot;}"/>
          <p:cNvSpPr txBox="1"/>
          <p:nvPr/>
        </p:nvSpPr>
        <p:spPr>
          <a:xfrm rot="0" flipH="0" flipV="0">
            <a:off x="7581900" y="402907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62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82" name=""/>
          <p:cNvSpPr/>
          <p:nvPr/>
        </p:nvSpPr>
        <p:spPr>
          <a:xfrm rot="0" flipH="0" flipV="0">
            <a:off x="7448550" y="436245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83" name="" descr="{&quot;isTemplate&quot;:true,&quot;type&quot;:&quot;text&quot;}"/>
          <p:cNvSpPr txBox="1"/>
          <p:nvPr/>
        </p:nvSpPr>
        <p:spPr>
          <a:xfrm rot="0" flipH="0" flipV="0">
            <a:off x="7581900" y="446722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商品货架</a:t>
            </a:r>
            <a:endParaRPr/>
          </a:p>
        </p:txBody>
      </p:sp>
      <p:sp>
        <p:nvSpPr>
          <p:cNvPr id="584" name="" descr="{&quot;isTemplate&quot;:true,&quot;type&quot;:&quot;text&quot;}"/>
          <p:cNvSpPr txBox="1"/>
          <p:nvPr/>
        </p:nvSpPr>
        <p:spPr>
          <a:xfrm rot="0" flipH="0" flipV="0">
            <a:off x="11096625" y="4467225"/>
            <a:ext cx="20955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1B5FD9"/>
                </a:solidFill>
                <a:latin typeface="Arial"/>
                <a:ea typeface="Arial"/>
              </a:rPr>
              <a:t>19</a:t>
            </a:r>
            <a:endParaRPr/>
          </a:p>
        </p:txBody>
      </p:sp>
      <p:sp>
        <p:nvSpPr>
          <p:cNvPr id="585" name="" descr="{&quot;isTemplate&quot;:true,&quot;type&quot;:&quot;text&quot;}"/>
          <p:cNvSpPr txBox="1"/>
          <p:nvPr/>
        </p:nvSpPr>
        <p:spPr>
          <a:xfrm rot="0" flipH="0" flipV="0">
            <a:off x="11334750" y="446722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30</a:t>
            </a:r>
            <a:endParaRPr/>
          </a:p>
        </p:txBody>
      </p:sp>
      <p:sp>
        <p:nvSpPr>
          <p:cNvPr id="586" name="" descr="{&quot;isTemplate&quot;:true,&quot;type&quot;:&quot;text&quot;}"/>
          <p:cNvSpPr txBox="1"/>
          <p:nvPr/>
        </p:nvSpPr>
        <p:spPr>
          <a:xfrm rot="0" flipH="0" flipV="0">
            <a:off x="7581900" y="484822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61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87" name=""/>
          <p:cNvSpPr/>
          <p:nvPr/>
        </p:nvSpPr>
        <p:spPr>
          <a:xfrm rot="0" flipH="0" flipV="0">
            <a:off x="7448550" y="5181600"/>
            <a:ext cx="4210050" cy="723900"/>
          </a:xfrm>
          <a:prstGeom prst="roundRect">
            <a:avLst>
              <a:gd name="adj" fmla="val 11842"/>
            </a:avLst>
          </a:prstGeom>
          <a:solidFill>
            <a:srgbClr val="FFFFFF"/>
          </a:solidFill>
          <a:ln/>
          <a:effectLst>
            <a:outerShdw blurRad="95250" dist="19050" dir="5400000">
              <a:srgbClr val="0B2A6B">
                <a:alpha val="5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588" name="" descr="{&quot;isTemplate&quot;:true,&quot;type&quot;:&quot;text&quot;}"/>
          <p:cNvSpPr txBox="1"/>
          <p:nvPr/>
        </p:nvSpPr>
        <p:spPr>
          <a:xfrm rot="0" flipH="0" flipV="0">
            <a:off x="7581900" y="5286375"/>
            <a:ext cx="5334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0B2A6B"/>
                </a:solidFill>
                <a:latin typeface="Microsoft YaHei"/>
                <a:ea typeface="Microsoft YaHei"/>
              </a:rPr>
              <a:t>交易表现</a:t>
            </a:r>
            <a:endParaRPr/>
          </a:p>
        </p:txBody>
      </p:sp>
      <p:sp>
        <p:nvSpPr>
          <p:cNvPr id="589" name="" descr="{&quot;isTemplate&quot;:true,&quot;type&quot;:&quot;text&quot;}"/>
          <p:cNvSpPr txBox="1"/>
          <p:nvPr/>
        </p:nvSpPr>
        <p:spPr>
          <a:xfrm rot="0" flipH="0" flipV="0">
            <a:off x="10953750" y="5286375"/>
            <a:ext cx="352425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425" b="1">
                <a:solidFill>
                  <a:srgbClr val="FF8A3D"/>
                </a:solidFill>
                <a:latin typeface="Arial"/>
                <a:ea typeface="Arial"/>
              </a:rPr>
              <a:t>18.1</a:t>
            </a:r>
            <a:endParaRPr/>
          </a:p>
        </p:txBody>
      </p:sp>
      <p:sp>
        <p:nvSpPr>
          <p:cNvPr id="590" name="" descr="{&quot;isTemplate&quot;:true,&quot;type&quot;:&quot;text&quot;}"/>
          <p:cNvSpPr txBox="1"/>
          <p:nvPr/>
        </p:nvSpPr>
        <p:spPr>
          <a:xfrm rot="0" flipH="0" flipV="0">
            <a:off x="11334750" y="5286375"/>
            <a:ext cx="190500" cy="219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/</a:t>
            </a:r>
            <a:r>
              <a:rPr lang="en-US" sz="900">
                <a:solidFill>
                  <a:srgbClr val="8494B4"/>
                </a:solidFill>
                <a:latin typeface="Microsoft YaHei"/>
                <a:ea typeface="Microsoft YaHei"/>
              </a:rPr>
              <a:t>40</a:t>
            </a:r>
            <a:endParaRPr/>
          </a:p>
        </p:txBody>
      </p:sp>
      <p:sp>
        <p:nvSpPr>
          <p:cNvPr id="591" name="" descr="{&quot;isTemplate&quot;:true,&quot;type&quot;:&quot;text&quot;}"/>
          <p:cNvSpPr txBox="1"/>
          <p:nvPr/>
        </p:nvSpPr>
        <p:spPr>
          <a:xfrm rot="0" flipH="0" flipV="0">
            <a:off x="7581900" y="5667375"/>
            <a:ext cx="39433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仅</a:t>
            </a:r>
            <a:r>
              <a:rPr lang="en-US" sz="825">
                <a:solidFill>
                  <a:srgbClr val="8494B4"/>
                </a:solidFill>
                <a:latin typeface="Microsoft YaHei"/>
                <a:ea typeface="Microsoft YaHei"/>
              </a:rPr>
              <a:t xml:space="preserve"> 21 </a:t>
            </a:r>
            <a:r>
              <a:rPr lang="zh-CN" sz="825">
                <a:solidFill>
                  <a:srgbClr val="8494B4"/>
                </a:solidFill>
                <a:latin typeface="Microsoft YaHei"/>
                <a:ea typeface="Microsoft YaHei"/>
              </a:rPr>
              <a:t>家满分</a:t>
            </a:r>
            <a:endParaRPr/>
          </a:p>
        </p:txBody>
      </p:sp>
      <p:sp>
        <p:nvSpPr>
          <p:cNvPr id="592" name=""/>
          <p:cNvSpPr/>
          <p:nvPr/>
        </p:nvSpPr>
        <p:spPr>
          <a:xfrm rot="0" flipH="0" flipV="0">
            <a:off x="7581900" y="310515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3" name=""/>
          <p:cNvSpPr/>
          <p:nvPr/>
        </p:nvSpPr>
        <p:spPr>
          <a:xfrm rot="0" flipH="0" flipV="0">
            <a:off x="7581900" y="3105150"/>
            <a:ext cx="3276600" cy="571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594" name=""/>
          <p:cNvSpPr/>
          <p:nvPr/>
        </p:nvSpPr>
        <p:spPr>
          <a:xfrm rot="0" flipH="0" flipV="0">
            <a:off x="7581900" y="392430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5" name=""/>
          <p:cNvSpPr/>
          <p:nvPr/>
        </p:nvSpPr>
        <p:spPr>
          <a:xfrm rot="0" flipH="0" flipV="0">
            <a:off x="7581900" y="3924300"/>
            <a:ext cx="2876550" cy="571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96" name=""/>
          <p:cNvSpPr/>
          <p:nvPr/>
        </p:nvSpPr>
        <p:spPr>
          <a:xfrm rot="0" flipH="0" flipV="0">
            <a:off x="7581900" y="474345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7" name=""/>
          <p:cNvSpPr/>
          <p:nvPr/>
        </p:nvSpPr>
        <p:spPr>
          <a:xfrm rot="0" flipH="0" flipV="0">
            <a:off x="7581900" y="4743450"/>
            <a:ext cx="2486025" cy="5715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598" name=""/>
          <p:cNvSpPr/>
          <p:nvPr/>
        </p:nvSpPr>
        <p:spPr>
          <a:xfrm rot="0" flipH="0" flipV="0">
            <a:off x="7581900" y="5562600"/>
            <a:ext cx="3943350" cy="57150"/>
          </a:xfrm>
          <a:prstGeom prst="roundRect">
            <a:avLst>
              <a:gd name="adj" fmla="val 50000"/>
            </a:avLst>
          </a:prstGeom>
          <a:solidFill>
            <a:srgbClr val="E8EEF8"/>
          </a:solidFill>
          <a:ln/>
        </p:spPr>
        <p:txBody>
          <a:bodyPr/>
          <a:p>
            <a:pPr/>
            <a:endParaRPr/>
          </a:p>
        </p:txBody>
      </p:sp>
      <p:sp>
        <p:nvSpPr>
          <p:cNvPr id="599" name=""/>
          <p:cNvSpPr/>
          <p:nvPr/>
        </p:nvSpPr>
        <p:spPr>
          <a:xfrm rot="0" flipH="0" flipV="0">
            <a:off x="7581900" y="5562600"/>
            <a:ext cx="1771650" cy="5715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600" name="" descr="{&quot;isTemplate&quot;:true,&quot;type&quot;:&quot;text&quot;}"/>
          <p:cNvSpPr txBox="1"/>
          <p:nvPr/>
        </p:nvSpPr>
        <p:spPr>
          <a:xfrm rot="0" flipH="0" flipV="0">
            <a:off x="609600" y="6534150"/>
            <a:ext cx="32004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数据源：临沂爱尔眼科金水河畔店</a:t>
            </a:r>
            <a:r>
              <a:rPr lang="en-US" sz="975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75">
                <a:solidFill>
                  <a:srgbClr val="8494B4"/>
                </a:solidFill>
                <a:latin typeface="Microsoft YaHei"/>
                <a:ea typeface="Microsoft YaHei"/>
              </a:rPr>
              <a:t>美团经营参谋真实数据</a:t>
            </a:r>
            <a:endParaRPr/>
          </a:p>
        </p:txBody>
      </p:sp>
      <p:sp>
        <p:nvSpPr>
          <p:cNvPr id="601" name="" descr="{&quot;isTemplate&quot;:true,&quot;type&quot;:&quot;text&quot;}"/>
          <p:cNvSpPr txBox="1"/>
          <p:nvPr/>
        </p:nvSpPr>
        <p:spPr>
          <a:xfrm rot="0" flipH="0" flipV="0">
            <a:off x="11201400" y="6534150"/>
            <a:ext cx="3810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75">
                <a:solidFill>
                  <a:srgbClr val="8494B4"/>
                </a:solidFill>
                <a:latin typeface="Arial"/>
                <a:ea typeface="Arial"/>
              </a:rPr>
              <a:t>06 / 15</a:t>
            </a:r>
            <a:endParaRPr/>
          </a:p>
        </p:txBody>
      </p:sp>
    </p:spTree>
  </p:cSld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0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604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05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83870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门诊采集：</a:t>
            </a: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张截图，替代一张手填表</a:t>
            </a:r>
            <a:endParaRPr/>
          </a:p>
        </p:txBody>
      </p:sp>
      <p:sp>
        <p:nvSpPr>
          <p:cNvPr id="606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8387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按界面分图上传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AI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识别提取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生成诊断报告</a:t>
            </a:r>
            <a:endParaRPr/>
          </a:p>
        </p:txBody>
      </p:sp>
      <p:pic>
        <p:nvPicPr>
          <p:cNvPr id="607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608" name=""/>
          <p:cNvSpPr/>
          <p:nvPr/>
        </p:nvSpPr>
        <p:spPr>
          <a:xfrm rot="0" flipH="0" flipV="0">
            <a:off x="533400" y="1028700"/>
            <a:ext cx="5676900" cy="5048250"/>
          </a:xfrm>
          <a:prstGeom prst="roundRect">
            <a:avLst>
              <a:gd name="adj" fmla="val 2075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209550" dist="57150" dir="5400000">
              <a:srgbClr val="0B2A6B">
                <a:alpha val="12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609" name=""/>
          <p:cNvPicPr>
            <a:picLocks noChangeAspect="1"/>
          </p:cNvPicPr>
          <p:nvPr/>
        </p:nvPicPr>
        <p:blipFill>
          <a:blip r:embed="rId2"/>
          <a:srcRect l="14737" t="0" r="14737" b="0"/>
          <a:stretch>
            <a:fillRect/>
          </a:stretch>
        </p:blipFill>
        <p:spPr>
          <a:xfrm rot="0" flipH="0" flipV="0">
            <a:off x="609600" y="1104900"/>
            <a:ext cx="5524500" cy="4895850"/>
          </a:xfrm>
          <a:prstGeom prst="roundRect">
            <a:avLst>
              <a:gd name="adj" fmla="val 1362"/>
            </a:avLst>
          </a:prstGeom>
          <a:ln/>
        </p:spPr>
      </p:pic>
      <p:sp>
        <p:nvSpPr>
          <p:cNvPr id="610" name="" descr="{&quot;isTemplate&quot;:true,&quot;type&quot;:&quot;text&quot;}"/>
          <p:cNvSpPr txBox="1"/>
          <p:nvPr/>
        </p:nvSpPr>
        <p:spPr>
          <a:xfrm rot="0" flipH="0" flipV="0">
            <a:off x="6343650" y="1038225"/>
            <a:ext cx="127635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125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7 </a:t>
            </a:r>
            <a:r>
              <a:rPr lang="zh-CN" sz="1125" b="1">
                <a:solidFill>
                  <a:srgbClr val="0B2A6B"/>
                </a:solidFill>
                <a:latin typeface="Microsoft YaHei"/>
                <a:ea typeface="Microsoft YaHei"/>
              </a:rPr>
              <a:t>个界面，逐个对应</a:t>
            </a:r>
            <a:endParaRPr/>
          </a:p>
        </p:txBody>
      </p:sp>
      <p:sp>
        <p:nvSpPr>
          <p:cNvPr id="611" name=""/>
          <p:cNvSpPr/>
          <p:nvPr/>
        </p:nvSpPr>
        <p:spPr>
          <a:xfrm rot="0" flipH="0" flipV="0">
            <a:off x="9001125" y="1028700"/>
            <a:ext cx="752475" cy="180975"/>
          </a:xfrm>
          <a:prstGeom prst="roundRect">
            <a:avLst>
              <a:gd name="adj" fmla="val 21053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612" name="" descr="{&quot;isTemplate&quot;:true,&quot;type&quot;:&quot;text&quot;}"/>
          <p:cNvSpPr txBox="1"/>
          <p:nvPr/>
        </p:nvSpPr>
        <p:spPr>
          <a:xfrm rot="0" flipH="0" flipV="0">
            <a:off x="9077325" y="1057275"/>
            <a:ext cx="6000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FFFFFF"/>
                </a:solidFill>
                <a:latin typeface="Microsoft YaHei"/>
                <a:ea typeface="Microsoft YaHei"/>
              </a:rPr>
              <a:t>分图上传指引</a:t>
            </a:r>
            <a:endParaRPr/>
          </a:p>
        </p:txBody>
      </p:sp>
      <p:sp>
        <p:nvSpPr>
          <p:cNvPr id="613" name=""/>
          <p:cNvSpPr/>
          <p:nvPr/>
        </p:nvSpPr>
        <p:spPr>
          <a:xfrm rot="0" flipH="0" flipV="0">
            <a:off x="6372225" y="130492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14" name=""/>
          <p:cNvSpPr/>
          <p:nvPr/>
        </p:nvSpPr>
        <p:spPr>
          <a:xfrm rot="0" flipH="0" flipV="0">
            <a:off x="6372225" y="130492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15" name=""/>
          <p:cNvSpPr/>
          <p:nvPr/>
        </p:nvSpPr>
        <p:spPr>
          <a:xfrm rot="0" flipH="0" flipV="0">
            <a:off x="6486525" y="15144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6" name="" descr="{&quot;isTemplate&quot;:true,&quot;type&quot;:&quot;text&quot;}"/>
          <p:cNvSpPr txBox="1"/>
          <p:nvPr/>
        </p:nvSpPr>
        <p:spPr>
          <a:xfrm rot="0" flipH="0" flipV="0">
            <a:off x="6562725" y="15525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1</a:t>
            </a:r>
            <a:endParaRPr/>
          </a:p>
        </p:txBody>
      </p:sp>
      <p:sp>
        <p:nvSpPr>
          <p:cNvPr id="617" name="" descr="{&quot;isTemplate&quot;:true,&quot;type&quot;:&quot;text&quot;}"/>
          <p:cNvSpPr txBox="1"/>
          <p:nvPr/>
        </p:nvSpPr>
        <p:spPr>
          <a:xfrm rot="0" flipH="0" flipV="0">
            <a:off x="6791325" y="14478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星级概览</a:t>
            </a:r>
            <a:endParaRPr/>
          </a:p>
        </p:txBody>
      </p:sp>
      <p:sp>
        <p:nvSpPr>
          <p:cNvPr id="618" name="" descr="{&quot;isTemplate&quot;:true,&quot;type&quot;:&quot;text&quot;}"/>
          <p:cNvSpPr txBox="1"/>
          <p:nvPr/>
        </p:nvSpPr>
        <p:spPr>
          <a:xfrm rot="0" flipH="0" flipV="0">
            <a:off x="6791325" y="16383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点评星级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美团星级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昨日新增评价</a:t>
            </a:r>
            <a:endParaRPr/>
          </a:p>
        </p:txBody>
      </p:sp>
      <p:sp>
        <p:nvSpPr>
          <p:cNvPr id="619" name=""/>
          <p:cNvSpPr/>
          <p:nvPr/>
        </p:nvSpPr>
        <p:spPr>
          <a:xfrm rot="0" flipH="0" flipV="0">
            <a:off x="6372225" y="2000250"/>
            <a:ext cx="34099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20" name=""/>
          <p:cNvSpPr/>
          <p:nvPr/>
        </p:nvSpPr>
        <p:spPr>
          <a:xfrm rot="0" flipH="0" flipV="0">
            <a:off x="6372225" y="2000250"/>
            <a:ext cx="3409950" cy="609600"/>
          </a:xfrm>
          <a:custGeom>
            <a:pathLst>
              <a:path w="358" h="6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9"/>
                </a:lnTo>
                <a:cubicBezTo>
                  <a:pt x="3" y="61"/>
                  <a:pt x="5" y="63"/>
                  <a:pt x="7" y="64"/>
                </a:cubicBezTo>
                <a:cubicBezTo>
                  <a:pt x="3" y="63"/>
                  <a:pt x="0" y="60"/>
                  <a:pt x="0" y="5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21" name=""/>
          <p:cNvSpPr/>
          <p:nvPr/>
        </p:nvSpPr>
        <p:spPr>
          <a:xfrm rot="0" flipH="0" flipV="0">
            <a:off x="6486525" y="22002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2" name="" descr="{&quot;isTemplate&quot;:true,&quot;type&quot;:&quot;text&quot;}"/>
          <p:cNvSpPr txBox="1"/>
          <p:nvPr/>
        </p:nvSpPr>
        <p:spPr>
          <a:xfrm rot="0" flipH="0" flipV="0">
            <a:off x="6562725" y="22383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2</a:t>
            </a:r>
            <a:endParaRPr/>
          </a:p>
        </p:txBody>
      </p:sp>
      <p:sp>
        <p:nvSpPr>
          <p:cNvPr id="623" name="" descr="{&quot;isTemplate&quot;:true,&quot;type&quot;:&quot;text&quot;}"/>
          <p:cNvSpPr txBox="1"/>
          <p:nvPr/>
        </p:nvSpPr>
        <p:spPr>
          <a:xfrm rot="0" flipH="0" flipV="0">
            <a:off x="6791325" y="21336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评价数据</a:t>
            </a:r>
            <a:endParaRPr/>
          </a:p>
        </p:txBody>
      </p:sp>
      <p:sp>
        <p:nvSpPr>
          <p:cNvPr id="624" name="" descr="{&quot;isTemplate&quot;:true,&quot;type&quot;:&quot;text&quot;}"/>
          <p:cNvSpPr txBox="1"/>
          <p:nvPr/>
        </p:nvSpPr>
        <p:spPr>
          <a:xfrm rot="0" flipH="0" flipV="0">
            <a:off x="6791325" y="23241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新增评价数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累计评价数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好评率</a:t>
            </a:r>
            <a:endParaRPr/>
          </a:p>
        </p:txBody>
      </p:sp>
      <p:sp>
        <p:nvSpPr>
          <p:cNvPr id="625" name=""/>
          <p:cNvSpPr/>
          <p:nvPr/>
        </p:nvSpPr>
        <p:spPr>
          <a:xfrm rot="0" flipH="0" flipV="0">
            <a:off x="6372225" y="2686050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26" name=""/>
          <p:cNvSpPr/>
          <p:nvPr/>
        </p:nvSpPr>
        <p:spPr>
          <a:xfrm rot="0" flipH="0" flipV="0">
            <a:off x="6372225" y="2686050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27" name=""/>
          <p:cNvSpPr/>
          <p:nvPr/>
        </p:nvSpPr>
        <p:spPr>
          <a:xfrm rot="0" flipH="0" flipV="0">
            <a:off x="6486525" y="289560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28" name="" descr="{&quot;isTemplate&quot;:true,&quot;type&quot;:&quot;text&quot;}"/>
          <p:cNvSpPr txBox="1"/>
          <p:nvPr/>
        </p:nvSpPr>
        <p:spPr>
          <a:xfrm rot="0" flipH="0" flipV="0">
            <a:off x="6562725" y="293370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3</a:t>
            </a:r>
            <a:endParaRPr/>
          </a:p>
        </p:txBody>
      </p:sp>
      <p:sp>
        <p:nvSpPr>
          <p:cNvPr id="629" name="" descr="{&quot;isTemplate&quot;:true,&quot;type&quot;:&quot;text&quot;}"/>
          <p:cNvSpPr txBox="1"/>
          <p:nvPr/>
        </p:nvSpPr>
        <p:spPr>
          <a:xfrm rot="0" flipH="0" flipV="0">
            <a:off x="6791325" y="282892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客流数据</a:t>
            </a:r>
            <a:endParaRPr/>
          </a:p>
        </p:txBody>
      </p:sp>
      <p:sp>
        <p:nvSpPr>
          <p:cNvPr id="630" name="" descr="{&quot;isTemplate&quot;:true,&quot;type&quot;:&quot;text&quot;}"/>
          <p:cNvSpPr txBox="1"/>
          <p:nvPr/>
        </p:nvSpPr>
        <p:spPr>
          <a:xfrm rot="0" flipH="0" flipV="0">
            <a:off x="6791325" y="301942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曝光人数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访问人数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意向转化</a:t>
            </a:r>
            <a:endParaRPr/>
          </a:p>
        </p:txBody>
      </p:sp>
      <p:sp>
        <p:nvSpPr>
          <p:cNvPr id="631" name=""/>
          <p:cNvSpPr/>
          <p:nvPr/>
        </p:nvSpPr>
        <p:spPr>
          <a:xfrm rot="0" flipH="0" flipV="0">
            <a:off x="6372225" y="338137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32" name=""/>
          <p:cNvSpPr/>
          <p:nvPr/>
        </p:nvSpPr>
        <p:spPr>
          <a:xfrm rot="0" flipH="0" flipV="0">
            <a:off x="6372225" y="338137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633" name=""/>
          <p:cNvSpPr/>
          <p:nvPr/>
        </p:nvSpPr>
        <p:spPr>
          <a:xfrm rot="0" flipH="0" flipV="0">
            <a:off x="6486525" y="359092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1B5FD9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34" name="" descr="{&quot;isTemplate&quot;:true,&quot;type&quot;:&quot;text&quot;}"/>
          <p:cNvSpPr txBox="1"/>
          <p:nvPr/>
        </p:nvSpPr>
        <p:spPr>
          <a:xfrm rot="0" flipH="0" flipV="0">
            <a:off x="6562725" y="362902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1B5FD9"/>
                </a:solidFill>
                <a:latin typeface="Arial"/>
                <a:ea typeface="Arial"/>
              </a:rPr>
              <a:t>4</a:t>
            </a:r>
            <a:endParaRPr/>
          </a:p>
        </p:txBody>
      </p:sp>
      <p:sp>
        <p:nvSpPr>
          <p:cNvPr id="635" name="" descr="{&quot;isTemplate&quot;:true,&quot;type&quot;:&quot;text&quot;}"/>
          <p:cNvSpPr txBox="1"/>
          <p:nvPr/>
        </p:nvSpPr>
        <p:spPr>
          <a:xfrm rot="0" flipH="0" flipV="0">
            <a:off x="6791325" y="352425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交易数据</a:t>
            </a:r>
            <a:endParaRPr/>
          </a:p>
        </p:txBody>
      </p:sp>
      <p:sp>
        <p:nvSpPr>
          <p:cNvPr id="636" name="" descr="{&quot;isTemplate&quot;:true,&quot;type&quot;:&quot;text&quot;}"/>
          <p:cNvSpPr txBox="1"/>
          <p:nvPr/>
        </p:nvSpPr>
        <p:spPr>
          <a:xfrm rot="0" flipH="0" flipV="0">
            <a:off x="6791325" y="371475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下单人数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成交金额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客单价</a:t>
            </a:r>
            <a:endParaRPr/>
          </a:p>
        </p:txBody>
      </p:sp>
      <p:sp>
        <p:nvSpPr>
          <p:cNvPr id="637" name=""/>
          <p:cNvSpPr/>
          <p:nvPr/>
        </p:nvSpPr>
        <p:spPr>
          <a:xfrm rot="0" flipH="0" flipV="0">
            <a:off x="6372225" y="4076700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38" name=""/>
          <p:cNvSpPr/>
          <p:nvPr/>
        </p:nvSpPr>
        <p:spPr>
          <a:xfrm rot="0" flipH="0" flipV="0">
            <a:off x="6372225" y="4076700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39" name=""/>
          <p:cNvSpPr/>
          <p:nvPr/>
        </p:nvSpPr>
        <p:spPr>
          <a:xfrm rot="0" flipH="0" flipV="0">
            <a:off x="6486525" y="42862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0" name="" descr="{&quot;isTemplate&quot;:true,&quot;type&quot;:&quot;text&quot;}"/>
          <p:cNvSpPr txBox="1"/>
          <p:nvPr/>
        </p:nvSpPr>
        <p:spPr>
          <a:xfrm rot="0" flipH="0" flipV="0">
            <a:off x="6562725" y="43243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5</a:t>
            </a:r>
            <a:endParaRPr/>
          </a:p>
        </p:txBody>
      </p:sp>
      <p:sp>
        <p:nvSpPr>
          <p:cNvPr id="641" name="" descr="{&quot;isTemplate&quot;:true,&quot;type&quot;:&quot;text&quot;}"/>
          <p:cNvSpPr txBox="1"/>
          <p:nvPr/>
        </p:nvSpPr>
        <p:spPr>
          <a:xfrm rot="0" flipH="0" flipV="0">
            <a:off x="6791325" y="421957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经营评分</a:t>
            </a:r>
            <a:endParaRPr/>
          </a:p>
        </p:txBody>
      </p:sp>
      <p:sp>
        <p:nvSpPr>
          <p:cNvPr id="642" name="" descr="{&quot;isTemplate&quot;:true,&quot;type&quot;:&quot;text&quot;}"/>
          <p:cNvSpPr txBox="1"/>
          <p:nvPr/>
        </p:nvSpPr>
        <p:spPr>
          <a:xfrm rot="0" flipH="0" flipV="0">
            <a:off x="6791325" y="441007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交易表现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服务质量分项得分</a:t>
            </a:r>
            <a:endParaRPr/>
          </a:p>
        </p:txBody>
      </p:sp>
      <p:sp>
        <p:nvSpPr>
          <p:cNvPr id="643" name=""/>
          <p:cNvSpPr/>
          <p:nvPr/>
        </p:nvSpPr>
        <p:spPr>
          <a:xfrm rot="0" flipH="0" flipV="0">
            <a:off x="6372225" y="4772025"/>
            <a:ext cx="3409950" cy="609600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44" name=""/>
          <p:cNvSpPr/>
          <p:nvPr/>
        </p:nvSpPr>
        <p:spPr>
          <a:xfrm rot="0" flipH="0" flipV="0">
            <a:off x="6372225" y="4772025"/>
            <a:ext cx="3409950" cy="609600"/>
          </a:xfrm>
          <a:custGeom>
            <a:pathLst>
              <a:path w="358" h="64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59"/>
                </a:lnTo>
                <a:cubicBezTo>
                  <a:pt x="3" y="61"/>
                  <a:pt x="5" y="63"/>
                  <a:pt x="7" y="64"/>
                </a:cubicBezTo>
                <a:cubicBezTo>
                  <a:pt x="3" y="63"/>
                  <a:pt x="0" y="60"/>
                  <a:pt x="0" y="56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45" name=""/>
          <p:cNvSpPr/>
          <p:nvPr/>
        </p:nvSpPr>
        <p:spPr>
          <a:xfrm rot="0" flipH="0" flipV="0">
            <a:off x="6486525" y="4972050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6" name="" descr="{&quot;isTemplate&quot;:true,&quot;type&quot;:&quot;text&quot;}"/>
          <p:cNvSpPr txBox="1"/>
          <p:nvPr/>
        </p:nvSpPr>
        <p:spPr>
          <a:xfrm rot="0" flipH="0" flipV="0">
            <a:off x="6562725" y="5010150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6</a:t>
            </a:r>
            <a:endParaRPr/>
          </a:p>
        </p:txBody>
      </p:sp>
      <p:sp>
        <p:nvSpPr>
          <p:cNvPr id="647" name="" descr="{&quot;isTemplate&quot;:true,&quot;type&quot;:&quot;text&quot;}"/>
          <p:cNvSpPr txBox="1"/>
          <p:nvPr/>
        </p:nvSpPr>
        <p:spPr>
          <a:xfrm rot="0" flipH="0" flipV="0">
            <a:off x="6791325" y="4905375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基础信息</a:t>
            </a:r>
            <a:endParaRPr/>
          </a:p>
        </p:txBody>
      </p:sp>
      <p:sp>
        <p:nvSpPr>
          <p:cNvPr id="648" name="" descr="{&quot;isTemplate&quot;:true,&quot;type&quot;:&quot;text&quot;}"/>
          <p:cNvSpPr txBox="1"/>
          <p:nvPr/>
        </p:nvSpPr>
        <p:spPr>
          <a:xfrm rot="0" flipH="0" flipV="0">
            <a:off x="6791325" y="5095875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门店名称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地址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营业时间</a:t>
            </a:r>
            <a:endParaRPr/>
          </a:p>
        </p:txBody>
      </p:sp>
      <p:sp>
        <p:nvSpPr>
          <p:cNvPr id="649" name=""/>
          <p:cNvSpPr/>
          <p:nvPr/>
        </p:nvSpPr>
        <p:spPr>
          <a:xfrm rot="0" flipH="0" flipV="0">
            <a:off x="6372225" y="5457825"/>
            <a:ext cx="3409950" cy="619125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50" name=""/>
          <p:cNvSpPr/>
          <p:nvPr/>
        </p:nvSpPr>
        <p:spPr>
          <a:xfrm rot="0" flipH="0" flipV="0">
            <a:off x="6372225" y="5457825"/>
            <a:ext cx="3409950" cy="619125"/>
          </a:xfrm>
          <a:custGeom>
            <a:pathLst>
              <a:path w="358" h="65">
                <a:moveTo>
                  <a:pt x="8" y="0"/>
                </a:moveTo>
                <a:cubicBezTo>
                  <a:pt x="5" y="0"/>
                  <a:pt x="3" y="2"/>
                  <a:pt x="3" y="5"/>
                </a:cubicBezTo>
                <a:lnTo>
                  <a:pt x="3" y="60"/>
                </a:lnTo>
                <a:cubicBezTo>
                  <a:pt x="3" y="62"/>
                  <a:pt x="5" y="64"/>
                  <a:pt x="7" y="65"/>
                </a:cubicBezTo>
                <a:cubicBezTo>
                  <a:pt x="3" y="64"/>
                  <a:pt x="0" y="61"/>
                  <a:pt x="0" y="57"/>
                </a:cubicBezTo>
                <a:lnTo>
                  <a:pt x="0" y="8"/>
                </a:lnTo>
                <a:cubicBezTo>
                  <a:pt x="0" y="4"/>
                  <a:pt x="3" y="0"/>
                  <a:pt x="8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51" name=""/>
          <p:cNvSpPr/>
          <p:nvPr/>
        </p:nvSpPr>
        <p:spPr>
          <a:xfrm rot="0" flipH="0" flipV="0">
            <a:off x="6486525" y="5667375"/>
            <a:ext cx="209550" cy="209550"/>
          </a:xfrm>
          <a:prstGeom prst="roundRect">
            <a:avLst>
              <a:gd name="adj" fmla="val 50000"/>
            </a:avLst>
          </a:prstGeom>
          <a:solidFill>
            <a:srgbClr val="35C8F0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52" name="" descr="{&quot;isTemplate&quot;:true,&quot;type&quot;:&quot;text&quot;}"/>
          <p:cNvSpPr txBox="1"/>
          <p:nvPr/>
        </p:nvSpPr>
        <p:spPr>
          <a:xfrm rot="0" flipH="0" flipV="0">
            <a:off x="6562725" y="5705475"/>
            <a:ext cx="666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825" b="1">
                <a:solidFill>
                  <a:srgbClr val="0E93C4"/>
                </a:solidFill>
                <a:latin typeface="Arial"/>
                <a:ea typeface="Arial"/>
              </a:rPr>
              <a:t>7</a:t>
            </a:r>
            <a:endParaRPr/>
          </a:p>
        </p:txBody>
      </p:sp>
      <p:sp>
        <p:nvSpPr>
          <p:cNvPr id="653" name="" descr="{&quot;isTemplate&quot;:true,&quot;type&quot;:&quot;text&quot;}"/>
          <p:cNvSpPr txBox="1"/>
          <p:nvPr/>
        </p:nvSpPr>
        <p:spPr>
          <a:xfrm rot="0" flipH="0" flipV="0">
            <a:off x="6791325" y="5600700"/>
            <a:ext cx="284797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服务质量</a:t>
            </a:r>
            <a:endParaRPr/>
          </a:p>
        </p:txBody>
      </p:sp>
      <p:sp>
        <p:nvSpPr>
          <p:cNvPr id="654" name="" descr="{&quot;isTemplate&quot;:true,&quot;type&quot;:&quot;text&quot;}"/>
          <p:cNvSpPr txBox="1"/>
          <p:nvPr/>
        </p:nvSpPr>
        <p:spPr>
          <a:xfrm rot="0" flipH="0" flipV="0">
            <a:off x="6791325" y="5791200"/>
            <a:ext cx="2847975" cy="1524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响应速度</a:t>
            </a:r>
            <a:r>
              <a:rPr lang="en-US" sz="750">
                <a:solidFill>
                  <a:srgbClr val="7A8AAA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50">
                <a:solidFill>
                  <a:srgbClr val="7A8AAA"/>
                </a:solidFill>
                <a:latin typeface="Microsoft YaHei"/>
                <a:ea typeface="Microsoft YaHei"/>
              </a:rPr>
              <a:t>履约完成率</a:t>
            </a:r>
            <a:endParaRPr/>
          </a:p>
        </p:txBody>
      </p:sp>
      <p:sp>
        <p:nvSpPr>
          <p:cNvPr id="655" name=""/>
          <p:cNvSpPr/>
          <p:nvPr/>
        </p:nvSpPr>
        <p:spPr>
          <a:xfrm rot="0" flipH="0" flipV="0">
            <a:off x="9886950" y="1028700"/>
            <a:ext cx="1771650" cy="3200400"/>
          </a:xfrm>
          <a:prstGeom prst="roundRect">
            <a:avLst>
              <a:gd name="adj" fmla="val 5376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656" name=""/>
          <p:cNvSpPr/>
          <p:nvPr/>
        </p:nvSpPr>
        <p:spPr>
          <a:xfrm rot="0" flipH="0" flipV="0">
            <a:off x="9972675" y="1104900"/>
            <a:ext cx="1600200" cy="3048000"/>
          </a:xfrm>
          <a:prstGeom prst="rect">
            <a:avLst/>
          </a:prstGeom>
          <a:ln w="38100">
            <a:solidFill>
              <a:srgbClr val="0B2A6B"/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57" name=""/>
          <p:cNvPicPr>
            <a:picLocks noChangeAspect="1"/>
          </p:cNvPicPr>
          <p:nvPr/>
        </p:nvPicPr>
        <p:blipFill>
          <a:blip r:embed="rId3"/>
          <a:srcRect l="0" t="5994" r="0" b="5994"/>
          <a:stretch>
            <a:fillRect/>
          </a:stretch>
        </p:blipFill>
        <p:spPr>
          <a:xfrm rot="0" flipH="0" flipV="0">
            <a:off x="9972675" y="1104900"/>
            <a:ext cx="1600200" cy="3048000"/>
          </a:xfrm>
          <a:prstGeom prst="roundRect">
            <a:avLst>
              <a:gd name="adj" fmla="val 4762"/>
            </a:avLst>
          </a:prstGeom>
          <a:ln/>
        </p:spPr>
      </p:pic>
      <p:sp>
        <p:nvSpPr>
          <p:cNvPr id="658" name=""/>
          <p:cNvSpPr/>
          <p:nvPr/>
        </p:nvSpPr>
        <p:spPr>
          <a:xfrm rot="0" flipH="0" flipV="0">
            <a:off x="9886950" y="4324350"/>
            <a:ext cx="1771650" cy="1752600"/>
          </a:xfrm>
          <a:prstGeom prst="roundRect">
            <a:avLst>
              <a:gd name="adj" fmla="val 5435"/>
            </a:avLst>
          </a:prstGeom>
          <a:gradFill>
            <a:gsLst>
              <a:gs pos="0">
                <a:srgbClr val="0B2A6B"/>
              </a:gs>
              <a:gs pos="100000">
                <a:srgbClr val="1B5FD9"/>
              </a:gs>
            </a:gsLst>
            <a:lin ang="30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659" name="" descr="{&quot;isTemplate&quot;:true,&quot;type&quot;:&quot;text&quot;}"/>
          <p:cNvSpPr txBox="1"/>
          <p:nvPr/>
        </p:nvSpPr>
        <p:spPr>
          <a:xfrm rot="0" flipH="0" flipV="0">
            <a:off x="10020300" y="4457700"/>
            <a:ext cx="1504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35C8F0"/>
                </a:solidFill>
                <a:latin typeface="Microsoft YaHei"/>
                <a:ea typeface="Microsoft YaHei"/>
              </a:rPr>
              <a:t>店长在手机上就能做完</a:t>
            </a:r>
            <a:endParaRPr/>
          </a:p>
        </p:txBody>
      </p:sp>
      <p:sp>
        <p:nvSpPr>
          <p:cNvPr id="660" name="" descr="{&quot;isTemplate&quot;:true,&quot;type&quot;:&quot;text&quot;}"/>
          <p:cNvSpPr txBox="1"/>
          <p:nvPr/>
        </p:nvSpPr>
        <p:spPr>
          <a:xfrm rot="0" flipH="0" flipV="0">
            <a:off x="10020300" y="4667250"/>
            <a:ext cx="1504950" cy="800100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5000"/>
              </a:lnSpc>
            </a:pPr>
            <a:r>
              <a:rPr lang="en-US" sz="788">
                <a:solidFill>
                  <a:srgbClr val="C8D9F5"/>
                </a:solidFill>
                <a:latin typeface="Microsoft YaHei"/>
                <a:ea typeface="Microsoft YaHei"/>
              </a:rPr>
              <a:t xml:space="preserve">414px </a:t>
            </a:r>
            <a:r>
              <a:rPr lang="zh-CN" sz="788">
                <a:solidFill>
                  <a:srgbClr val="C8D9F5"/>
                </a:solidFill>
                <a:latin typeface="Microsoft YaHei"/>
                <a:ea typeface="Microsoft YaHei"/>
              </a:rPr>
              <a:t>视口适配，支持相机拍照、相册选图、剪贴板粘贴，底部常驻操作条，不用回办公室开电脑。</a:t>
            </a:r>
            <a:endParaRPr/>
          </a:p>
        </p:txBody>
      </p:sp>
      <p:sp>
        <p:nvSpPr>
          <p:cNvPr id="661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662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07 / 15</a:t>
            </a:r>
            <a:endParaRPr/>
          </a:p>
        </p:txBody>
      </p:sp>
    </p:spTree>
  </p:cSld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665" name=""/>
          <p:cNvSpPr/>
          <p:nvPr/>
        </p:nvSpPr>
        <p:spPr>
          <a:xfrm rot="0" flipH="0" flipV="0">
            <a:off x="7048500" y="-1143000"/>
            <a:ext cx="5905500" cy="5905500"/>
          </a:xfrm>
          <a:custGeom>
            <a:pathLst>
              <a:path w="620" h="620">
                <a:moveTo>
                  <a:pt x="540" y="620"/>
                </a:moveTo>
                <a:lnTo>
                  <a:pt x="0" y="620"/>
                </a:lnTo>
                <a:lnTo>
                  <a:pt x="0" y="120"/>
                </a:lnTo>
                <a:lnTo>
                  <a:pt x="540" y="120"/>
                </a:lnTo>
                <a:close/>
              </a:path>
            </a:pathLst>
          </a:custGeom>
          <a:gradFill>
            <a:gsLst>
              <a:gs pos="0">
                <a:srgbClr val="35C8F0">
                  <a:alpha val="20000"/>
                </a:srgbClr>
              </a:gs>
              <a:gs pos="68000">
                <a:srgbClr val="35C8F0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  <p:txBody>
          <a:bodyPr/>
          <a:p>
            <a:pPr/>
            <a:endParaRPr/>
          </a:p>
        </p:txBody>
      </p:sp>
      <p:sp>
        <p:nvSpPr>
          <p:cNvPr id="666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67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1719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AI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内容生产：从</a:t>
            </a:r>
            <a:r>
              <a:rPr lang="en-US" sz="2250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2 </a:t>
            </a:r>
            <a:r>
              <a:rPr lang="zh-CN" sz="2250" b="1">
                <a:solidFill>
                  <a:srgbClr val="FFFFFF"/>
                </a:solidFill>
                <a:latin typeface="Microsoft YaHei"/>
                <a:ea typeface="Microsoft YaHei"/>
              </a:rPr>
              <a:t>小时到分钟级</a:t>
            </a:r>
            <a:endParaRPr/>
          </a:p>
        </p:txBody>
      </p:sp>
      <p:sp>
        <p:nvSpPr>
          <p:cNvPr id="668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17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文案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套图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主图诊断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文案优化</a:t>
            </a:r>
            <a:r>
              <a:rPr lang="en-US" sz="938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8FC4F8"/>
                </a:solidFill>
                <a:latin typeface="Microsoft YaHei"/>
                <a:ea typeface="Microsoft YaHei"/>
              </a:rPr>
              <a:t>话术建议，五件套全在同一个工作台</a:t>
            </a:r>
            <a:endParaRPr/>
          </a:p>
        </p:txBody>
      </p:sp>
      <p:pic>
        <p:nvPicPr>
          <p:cNvPr id="669" name=""/>
          <p:cNvPicPr>
            <a:picLocks noChangeAspect="1"/>
          </p:cNvPicPr>
          <p:nvPr/>
        </p:nvPicPr>
        <p:blipFill>
          <a:blip r:embed="rId1">
            <a:alphaModFix amt="38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670" name=""/>
          <p:cNvSpPr/>
          <p:nvPr/>
        </p:nvSpPr>
        <p:spPr>
          <a:xfrm rot="0" flipH="0" flipV="0">
            <a:off x="533400" y="990600"/>
            <a:ext cx="6000750" cy="2457450"/>
          </a:xfrm>
          <a:prstGeom prst="roundRect">
            <a:avLst>
              <a:gd name="adj" fmla="val 3488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71" name=""/>
          <p:cNvPicPr>
            <a:picLocks noChangeAspect="1"/>
          </p:cNvPicPr>
          <p:nvPr/>
        </p:nvPicPr>
        <p:blipFill>
          <a:blip r:embed="rId2"/>
          <a:srcRect l="0" t="18155" r="0" b="18155"/>
          <a:stretch>
            <a:fillRect/>
          </a:stretch>
        </p:blipFill>
        <p:spPr>
          <a:xfrm rot="0" flipH="0" flipV="0">
            <a:off x="590550" y="1047750"/>
            <a:ext cx="5886450" cy="2343150"/>
          </a:xfrm>
          <a:prstGeom prst="roundRect">
            <a:avLst>
              <a:gd name="adj" fmla="val 2033"/>
            </a:avLst>
          </a:prstGeom>
          <a:ln/>
        </p:spPr>
      </p:pic>
      <p:sp>
        <p:nvSpPr>
          <p:cNvPr id="672" name=""/>
          <p:cNvSpPr/>
          <p:nvPr/>
        </p:nvSpPr>
        <p:spPr>
          <a:xfrm rot="0" flipH="0" flipV="0">
            <a:off x="533400" y="3533775"/>
            <a:ext cx="2962275" cy="2266950"/>
          </a:xfrm>
          <a:prstGeom prst="roundRect">
            <a:avLst>
              <a:gd name="adj" fmla="val 37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73" name=""/>
          <p:cNvPicPr>
            <a:picLocks noChangeAspect="1"/>
          </p:cNvPicPr>
          <p:nvPr/>
        </p:nvPicPr>
        <p:blipFill>
          <a:blip r:embed="rId3"/>
          <a:srcRect l="8655" t="0" r="8655" b="0"/>
          <a:stretch>
            <a:fillRect/>
          </a:stretch>
        </p:blipFill>
        <p:spPr>
          <a:xfrm rot="0" flipH="0" flipV="0">
            <a:off x="590550" y="3590925"/>
            <a:ext cx="2847975" cy="2152650"/>
          </a:xfrm>
          <a:prstGeom prst="roundRect">
            <a:avLst>
              <a:gd name="adj" fmla="val 2212"/>
            </a:avLst>
          </a:prstGeom>
          <a:ln/>
        </p:spPr>
      </p:pic>
      <p:sp>
        <p:nvSpPr>
          <p:cNvPr id="674" name=""/>
          <p:cNvSpPr/>
          <p:nvPr/>
        </p:nvSpPr>
        <p:spPr>
          <a:xfrm rot="0" flipH="0" flipV="0">
            <a:off x="3581400" y="3533775"/>
            <a:ext cx="2952750" cy="2266950"/>
          </a:xfrm>
          <a:prstGeom prst="roundRect">
            <a:avLst>
              <a:gd name="adj" fmla="val 378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35C8F0">
                <a:alpha val="28000"/>
              </a:srgbClr>
            </a:solidFill>
            <a:prstDash val="solid"/>
          </a:ln>
        </p:spPr>
        <p:txBody>
          <a:bodyPr/>
          <a:p>
            <a:pPr/>
            <a:endParaRPr/>
          </a:p>
        </p:txBody>
      </p:sp>
      <p:pic>
        <p:nvPicPr>
          <p:cNvPr id="675" name=""/>
          <p:cNvPicPr>
            <a:picLocks noChangeAspect="1"/>
          </p:cNvPicPr>
          <p:nvPr/>
        </p:nvPicPr>
        <p:blipFill>
          <a:blip r:embed="rId4"/>
          <a:srcRect l="8794" t="0" r="8794" b="0"/>
          <a:stretch>
            <a:fillRect/>
          </a:stretch>
        </p:blipFill>
        <p:spPr>
          <a:xfrm rot="0" flipH="0" flipV="0">
            <a:off x="3638550" y="3590925"/>
            <a:ext cx="2838450" cy="2152650"/>
          </a:xfrm>
          <a:prstGeom prst="roundRect">
            <a:avLst>
              <a:gd name="adj" fmla="val 2212"/>
            </a:avLst>
          </a:prstGeom>
          <a:ln/>
        </p:spPr>
      </p:pic>
      <p:sp>
        <p:nvSpPr>
          <p:cNvPr id="676" name=""/>
          <p:cNvSpPr/>
          <p:nvPr/>
        </p:nvSpPr>
        <p:spPr>
          <a:xfrm rot="0" flipH="0" flipV="0">
            <a:off x="6715125" y="990600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77" name=""/>
          <p:cNvSpPr/>
          <p:nvPr/>
        </p:nvSpPr>
        <p:spPr>
          <a:xfrm rot="0" flipH="0" flipV="0">
            <a:off x="6715125" y="990600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78" name="" descr="{&quot;isTemplate&quot;:true,&quot;type&quot;:&quot;text&quot;}"/>
          <p:cNvSpPr txBox="1"/>
          <p:nvPr/>
        </p:nvSpPr>
        <p:spPr>
          <a:xfrm rot="0" flipH="0" flipV="0">
            <a:off x="6848475" y="119062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679" name=""/>
          <p:cNvSpPr/>
          <p:nvPr/>
        </p:nvSpPr>
        <p:spPr>
          <a:xfrm rot="0" flipH="0" flipV="0">
            <a:off x="7496175" y="121920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80" name="" descr="{&quot;isTemplate&quot;:true,&quot;type&quot;:&quot;text&quot;}"/>
          <p:cNvSpPr txBox="1"/>
          <p:nvPr/>
        </p:nvSpPr>
        <p:spPr>
          <a:xfrm rot="0" flipH="0" flipV="0">
            <a:off x="7543800" y="122872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35C8F0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681" name="" descr="{&quot;isTemplate&quot;:true,&quot;type&quot;:&quot;text&quot;}"/>
          <p:cNvSpPr txBox="1"/>
          <p:nvPr/>
        </p:nvSpPr>
        <p:spPr>
          <a:xfrm rot="0" flipH="0" flipV="0">
            <a:off x="6848475" y="139065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按项目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人群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/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语气出多版本文案，直接可用</a:t>
            </a:r>
            <a:endParaRPr/>
          </a:p>
        </p:txBody>
      </p:sp>
      <p:sp>
        <p:nvSpPr>
          <p:cNvPr id="682" name=""/>
          <p:cNvSpPr/>
          <p:nvPr/>
        </p:nvSpPr>
        <p:spPr>
          <a:xfrm rot="0" flipH="0" flipV="0">
            <a:off x="6715125" y="1857375"/>
            <a:ext cx="4972050" cy="77152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83" name=""/>
          <p:cNvSpPr/>
          <p:nvPr/>
        </p:nvSpPr>
        <p:spPr>
          <a:xfrm rot="0" flipH="0" flipV="0">
            <a:off x="6715125" y="1857375"/>
            <a:ext cx="4972050" cy="771525"/>
          </a:xfrm>
          <a:custGeom>
            <a:pathLst>
              <a:path w="522" h="81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5"/>
                </a:lnTo>
                <a:cubicBezTo>
                  <a:pt x="3" y="78"/>
                  <a:pt x="5" y="80"/>
                  <a:pt x="8" y="81"/>
                </a:cubicBezTo>
                <a:cubicBezTo>
                  <a:pt x="3" y="80"/>
                  <a:pt x="0" y="76"/>
                  <a:pt x="0" y="72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684" name="" descr="{&quot;isTemplate&quot;:true,&quot;type&quot;:&quot;text&quot;}"/>
          <p:cNvSpPr txBox="1"/>
          <p:nvPr/>
        </p:nvSpPr>
        <p:spPr>
          <a:xfrm rot="0" flipH="0" flipV="0">
            <a:off x="6848475" y="20478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685" name=""/>
          <p:cNvSpPr/>
          <p:nvPr/>
        </p:nvSpPr>
        <p:spPr>
          <a:xfrm rot="0" flipH="0" flipV="0">
            <a:off x="7496175" y="207645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86" name="" descr="{&quot;isTemplate&quot;:true,&quot;type&quot;:&quot;text&quot;}"/>
          <p:cNvSpPr txBox="1"/>
          <p:nvPr/>
        </p:nvSpPr>
        <p:spPr>
          <a:xfrm rot="0" flipH="0" flipV="0">
            <a:off x="7543800" y="208597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35C8F0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687" name="" descr="{&quot;isTemplate&quot;:true,&quot;type&quot;:&quot;text&quot;}"/>
          <p:cNvSpPr txBox="1"/>
          <p:nvPr/>
        </p:nvSpPr>
        <p:spPr>
          <a:xfrm rot="0" flipH="0" flipV="0">
            <a:off x="6848475" y="224790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批量出图，统一集团品牌视觉与尺寸规范</a:t>
            </a:r>
            <a:endParaRPr/>
          </a:p>
        </p:txBody>
      </p:sp>
      <p:sp>
        <p:nvSpPr>
          <p:cNvPr id="688" name=""/>
          <p:cNvSpPr/>
          <p:nvPr/>
        </p:nvSpPr>
        <p:spPr>
          <a:xfrm rot="0" flipH="0" flipV="0">
            <a:off x="6715125" y="2714625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89" name=""/>
          <p:cNvSpPr/>
          <p:nvPr/>
        </p:nvSpPr>
        <p:spPr>
          <a:xfrm rot="0" flipH="0" flipV="0">
            <a:off x="6715125" y="2714625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ADE8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90" name="" descr="{&quot;isTemplate&quot;:true,&quot;type&quot;:&quot;text&quot;}"/>
          <p:cNvSpPr txBox="1"/>
          <p:nvPr/>
        </p:nvSpPr>
        <p:spPr>
          <a:xfrm rot="0" flipH="0" flipV="0">
            <a:off x="6848475" y="291465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691" name=""/>
          <p:cNvSpPr/>
          <p:nvPr/>
        </p:nvSpPr>
        <p:spPr>
          <a:xfrm rot="0" flipH="0" flipV="0">
            <a:off x="7496175" y="2943225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2" name="" descr="{&quot;isTemplate&quot;:true,&quot;type&quot;:&quot;text&quot;}"/>
          <p:cNvSpPr txBox="1"/>
          <p:nvPr/>
        </p:nvSpPr>
        <p:spPr>
          <a:xfrm rot="0" flipH="0" flipV="0">
            <a:off x="7543800" y="2952750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ADE8FF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693" name="" descr="{&quot;isTemplate&quot;:true,&quot;type&quot;:&quot;text&quot;}"/>
          <p:cNvSpPr txBox="1"/>
          <p:nvPr/>
        </p:nvSpPr>
        <p:spPr>
          <a:xfrm rot="0" flipH="0" flipV="0">
            <a:off x="6848475" y="3114675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构图、卖点、合规三维打分，指出具体改哪一处</a:t>
            </a:r>
            <a:endParaRPr/>
          </a:p>
        </p:txBody>
      </p:sp>
      <p:sp>
        <p:nvSpPr>
          <p:cNvPr id="694" name=""/>
          <p:cNvSpPr/>
          <p:nvPr/>
        </p:nvSpPr>
        <p:spPr>
          <a:xfrm rot="0" flipH="0" flipV="0">
            <a:off x="6715125" y="3581400"/>
            <a:ext cx="4972050" cy="771525"/>
          </a:xfrm>
          <a:prstGeom prst="roundRect">
            <a:avLst>
              <a:gd name="adj" fmla="val 11111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5" name=""/>
          <p:cNvSpPr/>
          <p:nvPr/>
        </p:nvSpPr>
        <p:spPr>
          <a:xfrm rot="0" flipH="0" flipV="0">
            <a:off x="6715125" y="3581400"/>
            <a:ext cx="4972050" cy="771525"/>
          </a:xfrm>
          <a:custGeom>
            <a:pathLst>
              <a:path w="522" h="81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5"/>
                </a:lnTo>
                <a:cubicBezTo>
                  <a:pt x="3" y="78"/>
                  <a:pt x="5" y="80"/>
                  <a:pt x="8" y="81"/>
                </a:cubicBezTo>
                <a:cubicBezTo>
                  <a:pt x="3" y="80"/>
                  <a:pt x="0" y="76"/>
                  <a:pt x="0" y="72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ADE8FF"/>
          </a:solidFill>
          <a:ln/>
        </p:spPr>
        <p:txBody>
          <a:bodyPr/>
          <a:p>
            <a:pPr/>
            <a:endParaRPr/>
          </a:p>
        </p:txBody>
      </p:sp>
      <p:sp>
        <p:nvSpPr>
          <p:cNvPr id="696" name="" descr="{&quot;isTemplate&quot;:true,&quot;type&quot;:&quot;text&quot;}"/>
          <p:cNvSpPr txBox="1"/>
          <p:nvPr/>
        </p:nvSpPr>
        <p:spPr>
          <a:xfrm rot="0" flipH="0" flipV="0">
            <a:off x="6848475" y="3771900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697" name=""/>
          <p:cNvSpPr/>
          <p:nvPr/>
        </p:nvSpPr>
        <p:spPr>
          <a:xfrm rot="0" flipH="0" flipV="0">
            <a:off x="7496175" y="3800475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98" name="" descr="{&quot;isTemplate&quot;:true,&quot;type&quot;:&quot;text&quot;}"/>
          <p:cNvSpPr txBox="1"/>
          <p:nvPr/>
        </p:nvSpPr>
        <p:spPr>
          <a:xfrm rot="0" flipH="0" flipV="0">
            <a:off x="7543800" y="3810000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ADE8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699" name="" descr="{&quot;isTemplate&quot;:true,&quot;type&quot;:&quot;text&quot;}"/>
          <p:cNvSpPr txBox="1"/>
          <p:nvPr/>
        </p:nvSpPr>
        <p:spPr>
          <a:xfrm rot="0" flipH="0" flipV="0">
            <a:off x="6848475" y="3971925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原有文案润色</a:t>
            </a:r>
            <a:r>
              <a:rPr lang="en-US" sz="825">
                <a:solidFill>
                  <a:srgbClr val="AFC8E8"/>
                </a:solidFill>
                <a:latin typeface="Microsoft YaHei"/>
                <a:ea typeface="Microsoft YaHei"/>
              </a:rPr>
              <a:t xml:space="preserve"> + </a:t>
            </a: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违禁词与医疗广告合规检查</a:t>
            </a:r>
            <a:endParaRPr/>
          </a:p>
        </p:txBody>
      </p:sp>
      <p:sp>
        <p:nvSpPr>
          <p:cNvPr id="700" name=""/>
          <p:cNvSpPr/>
          <p:nvPr/>
        </p:nvSpPr>
        <p:spPr>
          <a:xfrm rot="0" flipH="0" flipV="0">
            <a:off x="6715125" y="4438650"/>
            <a:ext cx="4972050" cy="781050"/>
          </a:xfrm>
          <a:prstGeom prst="roundRect">
            <a:avLst>
              <a:gd name="adj" fmla="val 10976"/>
            </a:avLst>
          </a:prstGeom>
          <a:solidFill>
            <a:srgbClr val="FFFFFF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1" name=""/>
          <p:cNvSpPr/>
          <p:nvPr/>
        </p:nvSpPr>
        <p:spPr>
          <a:xfrm rot="0" flipH="0" flipV="0">
            <a:off x="6715125" y="4438650"/>
            <a:ext cx="4972050" cy="781050"/>
          </a:xfrm>
          <a:custGeom>
            <a:pathLst>
              <a:path w="522" h="82">
                <a:moveTo>
                  <a:pt x="8" y="0"/>
                </a:moveTo>
                <a:cubicBezTo>
                  <a:pt x="5" y="0"/>
                  <a:pt x="3" y="3"/>
                  <a:pt x="3" y="6"/>
                </a:cubicBezTo>
                <a:lnTo>
                  <a:pt x="3" y="76"/>
                </a:lnTo>
                <a:cubicBezTo>
                  <a:pt x="3" y="79"/>
                  <a:pt x="5" y="81"/>
                  <a:pt x="8" y="82"/>
                </a:cubicBezTo>
                <a:cubicBezTo>
                  <a:pt x="3" y="81"/>
                  <a:pt x="0" y="77"/>
                  <a:pt x="0" y="73"/>
                </a:cubicBezTo>
                <a:lnTo>
                  <a:pt x="0" y="9"/>
                </a:lnTo>
                <a:cubicBezTo>
                  <a:pt x="0" y="4"/>
                  <a:pt x="4" y="0"/>
                  <a:pt x="9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02" name="" descr="{&quot;isTemplate&quot;:true,&quot;type&quot;:&quot;text&quot;}"/>
          <p:cNvSpPr txBox="1"/>
          <p:nvPr/>
        </p:nvSpPr>
        <p:spPr>
          <a:xfrm rot="0" flipH="0" flipV="0">
            <a:off x="6848475" y="4638675"/>
            <a:ext cx="571500" cy="1714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125" b="1">
                <a:solidFill>
                  <a:srgbClr val="FFFFFF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703" name=""/>
          <p:cNvSpPr/>
          <p:nvPr/>
        </p:nvSpPr>
        <p:spPr>
          <a:xfrm rot="0" flipH="0" flipV="0">
            <a:off x="7496175" y="4667250"/>
            <a:ext cx="409575" cy="123825"/>
          </a:xfrm>
          <a:prstGeom prst="roundRect">
            <a:avLst>
              <a:gd name="adj" fmla="val 23077"/>
            </a:avLst>
          </a:prstGeom>
          <a:solidFill>
            <a:srgbClr val="FFFFFF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04" name="" descr="{&quot;isTemplate&quot;:true,&quot;type&quot;:&quot;text&quot;}"/>
          <p:cNvSpPr txBox="1"/>
          <p:nvPr/>
        </p:nvSpPr>
        <p:spPr>
          <a:xfrm rot="0" flipH="0" flipV="0">
            <a:off x="7543800" y="4676775"/>
            <a:ext cx="314325" cy="1047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675" b="1">
                <a:solidFill>
                  <a:srgbClr val="FF8A3D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705" name="" descr="{&quot;isTemplate&quot;:true,&quot;type&quot;:&quot;text&quot;}"/>
          <p:cNvSpPr txBox="1"/>
          <p:nvPr/>
        </p:nvSpPr>
        <p:spPr>
          <a:xfrm rot="0" flipH="0" flipV="0">
            <a:off x="6848475" y="4838700"/>
            <a:ext cx="4676775" cy="1905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25">
                <a:solidFill>
                  <a:srgbClr val="AFC8E8"/>
                </a:solidFill>
                <a:latin typeface="Microsoft YaHei"/>
                <a:ea typeface="Microsoft YaHei"/>
              </a:rPr>
              <a:t>咨询、到店、术后随访分场景转化话术</a:t>
            </a:r>
            <a:endParaRPr/>
          </a:p>
        </p:txBody>
      </p:sp>
      <p:sp>
        <p:nvSpPr>
          <p:cNvPr id="706" name=""/>
          <p:cNvSpPr/>
          <p:nvPr/>
        </p:nvSpPr>
        <p:spPr>
          <a:xfrm rot="0" flipH="0" flipV="0">
            <a:off x="6686550" y="5305425"/>
            <a:ext cx="4972050" cy="752475"/>
          </a:xfrm>
          <a:prstGeom prst="roundRect">
            <a:avLst>
              <a:gd name="adj" fmla="val 11392"/>
            </a:avLst>
          </a:prstGeom>
          <a:gradFill>
            <a:gsLst>
              <a:gs pos="0">
                <a:srgbClr val="35C8F0">
                  <a:alpha val="24000"/>
                </a:srgbClr>
              </a:gs>
              <a:gs pos="100000">
                <a:srgbClr val="35C8F0">
                  <a:alpha val="8000"/>
                </a:srgbClr>
              </a:gs>
            </a:gsLst>
            <a:lin ang="18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07" name="" descr="{&quot;isTemplate&quot;:true,&quot;type&quot;:&quot;text&quot;}"/>
          <p:cNvSpPr txBox="1"/>
          <p:nvPr/>
        </p:nvSpPr>
        <p:spPr>
          <a:xfrm rot="0" flipH="0" flipV="0">
            <a:off x="6867525" y="5429250"/>
            <a:ext cx="180975" cy="3905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2550" b="1">
                <a:solidFill>
                  <a:srgbClr val="35C8F0"/>
                </a:solidFill>
                <a:latin typeface="Arial"/>
                <a:ea typeface="Arial"/>
              </a:rPr>
              <a:t>5</a:t>
            </a:r>
            <a:endParaRPr/>
          </a:p>
        </p:txBody>
      </p:sp>
      <p:sp>
        <p:nvSpPr>
          <p:cNvPr id="708" name="" descr="{&quot;isTemplate&quot;:true,&quot;type&quot;:&quot;text&quot;}"/>
          <p:cNvSpPr txBox="1"/>
          <p:nvPr/>
        </p:nvSpPr>
        <p:spPr>
          <a:xfrm rot="0" flipH="0" flipV="0">
            <a:off x="6810375" y="581977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>
                <a:solidFill>
                  <a:srgbClr val="8FC4F8"/>
                </a:solidFill>
                <a:latin typeface="Microsoft YaHei"/>
                <a:ea typeface="Microsoft YaHei"/>
              </a:rPr>
              <a:t>类能力</a:t>
            </a:r>
            <a:endParaRPr/>
          </a:p>
        </p:txBody>
      </p:sp>
      <p:sp>
        <p:nvSpPr>
          <p:cNvPr id="709" name=""/>
          <p:cNvSpPr/>
          <p:nvPr/>
        </p:nvSpPr>
        <p:spPr>
          <a:xfrm rot="0" flipH="0" flipV="0">
            <a:off x="7229475" y="5505450"/>
            <a:ext cx="9525" cy="361950"/>
          </a:xfrm>
          <a:prstGeom prst="rect">
            <a:avLst/>
          </a:prstGeom>
          <a:solidFill>
            <a:srgbClr val="FFFFFF">
              <a:alpha val="1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10" name="" descr="{&quot;isTemplate&quot;:true,&quot;type&quot;:&quot;text&quot;}"/>
          <p:cNvSpPr txBox="1"/>
          <p:nvPr/>
        </p:nvSpPr>
        <p:spPr>
          <a:xfrm rot="0" flipH="0" flipV="0">
            <a:off x="7372350" y="5581650"/>
            <a:ext cx="4162425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C8D9F5"/>
                </a:solidFill>
                <a:latin typeface="Microsoft YaHei"/>
                <a:ea typeface="Microsoft YaHei"/>
              </a:rPr>
              <a:t>一次生成后可原地改写、换语气、再出图，不用在多个工具间来回搬运</a:t>
            </a:r>
            <a:endParaRPr/>
          </a:p>
        </p:txBody>
      </p:sp>
      <p:sp>
        <p:nvSpPr>
          <p:cNvPr id="711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712" name="" descr="{&quot;isTemplate&quot;:true,&quot;type&quot;:&quot;text&quot;}"/>
          <p:cNvSpPr txBox="1"/>
          <p:nvPr/>
        </p:nvSpPr>
        <p:spPr>
          <a:xfrm rot="0" flipH="0" flipV="0">
            <a:off x="11210925" y="65817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6E93C8"/>
                </a:solidFill>
                <a:latin typeface="Arial"/>
                <a:ea typeface="Arial"/>
              </a:rPr>
              <a:t>08 / 15</a:t>
            </a:r>
            <a:endParaRPr/>
          </a:p>
        </p:txBody>
      </p:sp>
    </p:spTree>
  </p:cSld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7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715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16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428625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评价与诊断：把差评当成经营线索</a:t>
            </a:r>
            <a:endParaRPr/>
          </a:p>
        </p:txBody>
      </p:sp>
      <p:sp>
        <p:nvSpPr>
          <p:cNvPr id="717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42862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差评分类归因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分层回复建议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五维体检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P0/P1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行动项</a:t>
            </a:r>
            <a:endParaRPr/>
          </a:p>
        </p:txBody>
      </p:sp>
      <p:pic>
        <p:nvPicPr>
          <p:cNvPr id="718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110" r="0" b="110"/>
          <a:stretch>
            <a:fillRect/>
          </a:stretch>
        </p:blipFill>
        <p:spPr>
          <a:xfrm rot="0" flipH="0" flipV="0">
            <a:off x="10515600" y="266700"/>
            <a:ext cx="1066800" cy="457200"/>
          </a:xfrm>
          <a:prstGeom prst="rect">
            <a:avLst/>
          </a:prstGeom>
          <a:ln/>
        </p:spPr>
      </p:pic>
      <p:sp>
        <p:nvSpPr>
          <p:cNvPr id="719" name=""/>
          <p:cNvSpPr/>
          <p:nvPr/>
        </p:nvSpPr>
        <p:spPr>
          <a:xfrm rot="0" flipH="0" flipV="0">
            <a:off x="533400" y="971550"/>
            <a:ext cx="4762500" cy="2295525"/>
          </a:xfrm>
          <a:prstGeom prst="roundRect">
            <a:avLst>
              <a:gd name="adj" fmla="val 4149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20" name=""/>
          <p:cNvPicPr>
            <a:picLocks noChangeAspect="1"/>
          </p:cNvPicPr>
          <p:nvPr/>
        </p:nvPicPr>
        <p:blipFill>
          <a:blip r:embed="rId2"/>
          <a:srcRect l="0" t="12809" r="0" b="12809"/>
          <a:stretch>
            <a:fillRect/>
          </a:stretch>
        </p:blipFill>
        <p:spPr>
          <a:xfrm rot="0" flipH="0" flipV="0">
            <a:off x="609600" y="1047750"/>
            <a:ext cx="4610100" cy="2143125"/>
          </a:xfrm>
          <a:prstGeom prst="roundRect">
            <a:avLst>
              <a:gd name="adj" fmla="val 2667"/>
            </a:avLst>
          </a:prstGeom>
          <a:ln/>
        </p:spPr>
      </p:pic>
      <p:sp>
        <p:nvSpPr>
          <p:cNvPr id="721" name=""/>
          <p:cNvSpPr/>
          <p:nvPr/>
        </p:nvSpPr>
        <p:spPr>
          <a:xfrm rot="0" flipH="0" flipV="0">
            <a:off x="5429250" y="1666875"/>
            <a:ext cx="514350" cy="180975"/>
          </a:xfrm>
          <a:prstGeom prst="roundRect">
            <a:avLst>
              <a:gd name="adj" fmla="val 21053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22" name="" descr="{&quot;isTemplate&quot;:true,&quot;type&quot;:&quot;text&quot;}"/>
          <p:cNvSpPr txBox="1"/>
          <p:nvPr/>
        </p:nvSpPr>
        <p:spPr>
          <a:xfrm rot="0" flipH="0" flipV="0">
            <a:off x="5505450" y="1695450"/>
            <a:ext cx="361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723" name="" descr="{&quot;isTemplate&quot;:true,&quot;type&quot;:&quot;text&quot;}"/>
          <p:cNvSpPr txBox="1"/>
          <p:nvPr/>
        </p:nvSpPr>
        <p:spPr>
          <a:xfrm rot="0" flipH="0" flipV="0">
            <a:off x="6038850" y="1657350"/>
            <a:ext cx="1371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差评智能分析与回复</a:t>
            </a:r>
            <a:endParaRPr/>
          </a:p>
        </p:txBody>
      </p:sp>
      <p:sp>
        <p:nvSpPr>
          <p:cNvPr id="724" name="" descr="{&quot;isTemplate&quot;:true,&quot;type&quot;:&quot;text&quot;}"/>
          <p:cNvSpPr txBox="1"/>
          <p:nvPr/>
        </p:nvSpPr>
        <p:spPr>
          <a:xfrm rot="0" flipH="0" flipV="0">
            <a:off x="5429250" y="1933575"/>
            <a:ext cx="6229350" cy="238125"/>
          </a:xfrm>
          <a:prstGeom prst="rect"/>
        </p:spPr>
        <p:txBody>
          <a:bodyPr wrap="none" lIns="0" tIns="0" rIns="0" bIns="0"/>
          <a:p>
            <a:pPr>
              <a:lnSpc>
                <a:spcPct val="170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贴一条差评、或者直接上传截图，系统自动判断它属于哪类问题、该用什么口径回，给出可直接使用的回复稿。</a:t>
            </a:r>
            <a:endParaRPr/>
          </a:p>
        </p:txBody>
      </p:sp>
      <p:sp>
        <p:nvSpPr>
          <p:cNvPr id="725" name=""/>
          <p:cNvSpPr/>
          <p:nvPr/>
        </p:nvSpPr>
        <p:spPr>
          <a:xfrm rot="0" flipH="0" flipV="0">
            <a:off x="5429250" y="2276475"/>
            <a:ext cx="1504950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6" name=""/>
          <p:cNvSpPr/>
          <p:nvPr/>
        </p:nvSpPr>
        <p:spPr>
          <a:xfrm rot="0" flipH="0" flipV="0">
            <a:off x="5429250" y="2276475"/>
            <a:ext cx="1504950" cy="323850"/>
          </a:xfrm>
          <a:custGeom>
            <a:pathLst>
              <a:path w="158" h="34">
                <a:moveTo>
                  <a:pt x="152" y="0"/>
                </a:moveTo>
                <a:cubicBezTo>
                  <a:pt x="155" y="0"/>
                  <a:pt x="157" y="2"/>
                  <a:pt x="158" y="5"/>
                </a:cubicBezTo>
                <a:cubicBezTo>
                  <a:pt x="157" y="3"/>
                  <a:pt x="156" y="2"/>
                  <a:pt x="154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27" name="" descr="{&quot;isTemplate&quot;:true,&quot;type&quot;:&quot;text&quot;}"/>
          <p:cNvSpPr txBox="1"/>
          <p:nvPr/>
        </p:nvSpPr>
        <p:spPr>
          <a:xfrm rot="0" flipH="0" flipV="0">
            <a:off x="5924550" y="2362200"/>
            <a:ext cx="5238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等待时间长</a:t>
            </a:r>
            <a:endParaRPr/>
          </a:p>
        </p:txBody>
      </p:sp>
      <p:sp>
        <p:nvSpPr>
          <p:cNvPr id="728" name=""/>
          <p:cNvSpPr/>
          <p:nvPr/>
        </p:nvSpPr>
        <p:spPr>
          <a:xfrm rot="0" flipH="0" flipV="0">
            <a:off x="7010400" y="2276475"/>
            <a:ext cx="1495425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29" name=""/>
          <p:cNvSpPr/>
          <p:nvPr/>
        </p:nvSpPr>
        <p:spPr>
          <a:xfrm rot="0" flipH="0" flipV="0">
            <a:off x="7010400" y="2276475"/>
            <a:ext cx="1495425" cy="323850"/>
          </a:xfrm>
          <a:custGeom>
            <a:pathLst>
              <a:path w="157" h="34">
                <a:moveTo>
                  <a:pt x="151" y="0"/>
                </a:moveTo>
                <a:cubicBezTo>
                  <a:pt x="154" y="0"/>
                  <a:pt x="156" y="2"/>
                  <a:pt x="157" y="5"/>
                </a:cubicBezTo>
                <a:cubicBezTo>
                  <a:pt x="156" y="3"/>
                  <a:pt x="155" y="2"/>
                  <a:pt x="153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1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30" name="" descr="{&quot;isTemplate&quot;:true,&quot;type&quot;:&quot;text&quot;}"/>
          <p:cNvSpPr txBox="1"/>
          <p:nvPr/>
        </p:nvSpPr>
        <p:spPr>
          <a:xfrm rot="0" flipH="0" flipV="0">
            <a:off x="7553325" y="2362200"/>
            <a:ext cx="4191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服务态度</a:t>
            </a:r>
            <a:endParaRPr/>
          </a:p>
        </p:txBody>
      </p:sp>
      <p:sp>
        <p:nvSpPr>
          <p:cNvPr id="731" name=""/>
          <p:cNvSpPr/>
          <p:nvPr/>
        </p:nvSpPr>
        <p:spPr>
          <a:xfrm rot="0" flipH="0" flipV="0">
            <a:off x="8582025" y="2276475"/>
            <a:ext cx="1504950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2" name=""/>
          <p:cNvSpPr/>
          <p:nvPr/>
        </p:nvSpPr>
        <p:spPr>
          <a:xfrm rot="0" flipH="0" flipV="0">
            <a:off x="8582025" y="2276475"/>
            <a:ext cx="1504950" cy="323850"/>
          </a:xfrm>
          <a:custGeom>
            <a:pathLst>
              <a:path w="158" h="34">
                <a:moveTo>
                  <a:pt x="152" y="0"/>
                </a:moveTo>
                <a:cubicBezTo>
                  <a:pt x="155" y="0"/>
                  <a:pt x="157" y="2"/>
                  <a:pt x="158" y="5"/>
                </a:cubicBezTo>
                <a:cubicBezTo>
                  <a:pt x="157" y="3"/>
                  <a:pt x="156" y="2"/>
                  <a:pt x="154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2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33" name="" descr="{&quot;isTemplate&quot;:true,&quot;type&quot;:&quot;text&quot;}"/>
          <p:cNvSpPr txBox="1"/>
          <p:nvPr/>
        </p:nvSpPr>
        <p:spPr>
          <a:xfrm rot="0" flipH="0" flipV="0">
            <a:off x="9077325" y="2362200"/>
            <a:ext cx="523875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效果不满意</a:t>
            </a:r>
            <a:endParaRPr/>
          </a:p>
        </p:txBody>
      </p:sp>
      <p:sp>
        <p:nvSpPr>
          <p:cNvPr id="734" name=""/>
          <p:cNvSpPr/>
          <p:nvPr/>
        </p:nvSpPr>
        <p:spPr>
          <a:xfrm rot="0" flipH="0" flipV="0">
            <a:off x="10163175" y="2276475"/>
            <a:ext cx="1495425" cy="323850"/>
          </a:xfrm>
          <a:prstGeom prst="roundRect">
            <a:avLst>
              <a:gd name="adj" fmla="val 17647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35" name=""/>
          <p:cNvSpPr/>
          <p:nvPr/>
        </p:nvSpPr>
        <p:spPr>
          <a:xfrm rot="0" flipH="0" flipV="0">
            <a:off x="10163175" y="2276475"/>
            <a:ext cx="1495425" cy="323850"/>
          </a:xfrm>
          <a:custGeom>
            <a:pathLst>
              <a:path w="157" h="34">
                <a:moveTo>
                  <a:pt x="151" y="0"/>
                </a:moveTo>
                <a:cubicBezTo>
                  <a:pt x="154" y="0"/>
                  <a:pt x="156" y="2"/>
                  <a:pt x="157" y="5"/>
                </a:cubicBezTo>
                <a:cubicBezTo>
                  <a:pt x="156" y="3"/>
                  <a:pt x="155" y="2"/>
                  <a:pt x="153" y="2"/>
                </a:cubicBezTo>
                <a:lnTo>
                  <a:pt x="4" y="2"/>
                </a:lnTo>
                <a:cubicBezTo>
                  <a:pt x="2" y="2"/>
                  <a:pt x="1" y="3"/>
                  <a:pt x="0" y="5"/>
                </a:cubicBezTo>
                <a:cubicBezTo>
                  <a:pt x="1" y="2"/>
                  <a:pt x="3" y="0"/>
                  <a:pt x="6" y="0"/>
                </a:cubicBezTo>
                <a:lnTo>
                  <a:pt x="151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36" name="" descr="{&quot;isTemplate&quot;:true,&quot;type&quot;:&quot;text&quot;}"/>
          <p:cNvSpPr txBox="1"/>
          <p:nvPr/>
        </p:nvSpPr>
        <p:spPr>
          <a:xfrm rot="0" flipH="0" flipV="0">
            <a:off x="10706100" y="2362200"/>
            <a:ext cx="419100" cy="133350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825" b="1">
                <a:solidFill>
                  <a:srgbClr val="0B2A6B"/>
                </a:solidFill>
                <a:latin typeface="Microsoft YaHei"/>
                <a:ea typeface="Microsoft YaHei"/>
              </a:rPr>
              <a:t>价格问题</a:t>
            </a:r>
            <a:endParaRPr/>
          </a:p>
        </p:txBody>
      </p:sp>
      <p:sp>
        <p:nvSpPr>
          <p:cNvPr id="737" name=""/>
          <p:cNvSpPr/>
          <p:nvPr/>
        </p:nvSpPr>
        <p:spPr>
          <a:xfrm rot="0" flipH="0" flipV="0">
            <a:off x="533400" y="4076700"/>
            <a:ext cx="514350" cy="180975"/>
          </a:xfrm>
          <a:prstGeom prst="roundRect">
            <a:avLst>
              <a:gd name="adj" fmla="val 21053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38" name="" descr="{&quot;isTemplate&quot;:true,&quot;type&quot;:&quot;text&quot;}"/>
          <p:cNvSpPr txBox="1"/>
          <p:nvPr/>
        </p:nvSpPr>
        <p:spPr>
          <a:xfrm rot="0" flipH="0" flipV="0">
            <a:off x="609600" y="4105275"/>
            <a:ext cx="3619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FFFFFF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739" name="" descr="{&quot;isTemplate&quot;:true,&quot;type&quot;:&quot;text&quot;}"/>
          <p:cNvSpPr txBox="1"/>
          <p:nvPr/>
        </p:nvSpPr>
        <p:spPr>
          <a:xfrm rot="0" flipH="0" flipV="0">
            <a:off x="1143000" y="4067175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五维运营诊断</a:t>
            </a:r>
            <a:endParaRPr/>
          </a:p>
        </p:txBody>
      </p:sp>
      <p:sp>
        <p:nvSpPr>
          <p:cNvPr id="740" name="" descr="{&quot;isTemplate&quot;:true,&quot;type&quot;:&quot;text&quot;}"/>
          <p:cNvSpPr txBox="1"/>
          <p:nvPr/>
        </p:nvSpPr>
        <p:spPr>
          <a:xfrm rot="0" flipH="0" flipV="0">
            <a:off x="533400" y="4343400"/>
            <a:ext cx="4762500" cy="4667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0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店铺装修、团购项目、评价管理、推广投放、活动策划五个维度逐项打分，直接给出带优先级的行动清单，而不是笼统的「建议优化」。</a:t>
            </a:r>
            <a:endParaRPr/>
          </a:p>
        </p:txBody>
      </p:sp>
      <p:sp>
        <p:nvSpPr>
          <p:cNvPr id="741" name=""/>
          <p:cNvSpPr/>
          <p:nvPr/>
        </p:nvSpPr>
        <p:spPr>
          <a:xfrm rot="0" flipH="0" flipV="0">
            <a:off x="552450" y="4895850"/>
            <a:ext cx="2343150" cy="495300"/>
          </a:xfrm>
          <a:prstGeom prst="roundRect">
            <a:avLst>
              <a:gd name="adj" fmla="val 11538"/>
            </a:avLst>
          </a:prstGeom>
          <a:solidFill>
            <a:srgbClr val="FF8A3D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2" name=""/>
          <p:cNvSpPr/>
          <p:nvPr/>
        </p:nvSpPr>
        <p:spPr>
          <a:xfrm rot="0" flipH="0" flipV="0">
            <a:off x="552450" y="4895850"/>
            <a:ext cx="2343150" cy="495300"/>
          </a:xfrm>
          <a:custGeom>
            <a:pathLst>
              <a:path w="246" h="52">
                <a:moveTo>
                  <a:pt x="6" y="0"/>
                </a:moveTo>
                <a:cubicBezTo>
                  <a:pt x="4" y="0"/>
                  <a:pt x="2" y="2"/>
                  <a:pt x="2" y="4"/>
                </a:cubicBezTo>
                <a:lnTo>
                  <a:pt x="2" y="48"/>
                </a:lnTo>
                <a:cubicBezTo>
                  <a:pt x="2" y="50"/>
                  <a:pt x="3" y="51"/>
                  <a:pt x="5" y="52"/>
                </a:cubicBezTo>
                <a:cubicBezTo>
                  <a:pt x="2" y="51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743" name="" descr="{&quot;isTemplate&quot;:true,&quot;type&quot;:&quot;text&quot;}"/>
          <p:cNvSpPr txBox="1"/>
          <p:nvPr/>
        </p:nvSpPr>
        <p:spPr>
          <a:xfrm rot="0" flipH="0" flipV="0">
            <a:off x="666750" y="4981575"/>
            <a:ext cx="2095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D96B15"/>
                </a:solidFill>
                <a:latin typeface="Microsoft YaHei"/>
                <a:ea typeface="Microsoft YaHei"/>
              </a:rPr>
              <a:t xml:space="preserve">P0 </a:t>
            </a:r>
            <a:r>
              <a:rPr lang="zh-CN" sz="788" b="1">
                <a:solidFill>
                  <a:srgbClr val="D96B15"/>
                </a:solidFill>
                <a:latin typeface="Microsoft YaHei"/>
                <a:ea typeface="Microsoft YaHei"/>
              </a:rPr>
              <a:t>立刻做</a:t>
            </a:r>
            <a:endParaRPr/>
          </a:p>
        </p:txBody>
      </p:sp>
      <p:sp>
        <p:nvSpPr>
          <p:cNvPr id="744" name="" descr="{&quot;isTemplate&quot;:true,&quot;type&quot;:&quot;text&quot;}"/>
          <p:cNvSpPr txBox="1"/>
          <p:nvPr/>
        </p:nvSpPr>
        <p:spPr>
          <a:xfrm rot="0" flipH="0" flipV="0">
            <a:off x="666750" y="513397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7A5A3A"/>
                </a:solidFill>
                <a:latin typeface="Microsoft YaHei"/>
                <a:ea typeface="Microsoft YaHei"/>
              </a:rPr>
              <a:t>差评回复、引流款定价</a:t>
            </a:r>
            <a:endParaRPr/>
          </a:p>
        </p:txBody>
      </p:sp>
      <p:sp>
        <p:nvSpPr>
          <p:cNvPr id="745" name=""/>
          <p:cNvSpPr/>
          <p:nvPr/>
        </p:nvSpPr>
        <p:spPr>
          <a:xfrm rot="0" flipH="0" flipV="0">
            <a:off x="2971800" y="4895850"/>
            <a:ext cx="2343150" cy="495300"/>
          </a:xfrm>
          <a:prstGeom prst="roundRect">
            <a:avLst>
              <a:gd name="adj" fmla="val 11538"/>
            </a:avLst>
          </a:prstGeom>
          <a:solidFill>
            <a:srgbClr val="1B5FD9">
              <a:alpha val="7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746" name=""/>
          <p:cNvSpPr/>
          <p:nvPr/>
        </p:nvSpPr>
        <p:spPr>
          <a:xfrm rot="0" flipH="0" flipV="0">
            <a:off x="2971800" y="4895850"/>
            <a:ext cx="2343150" cy="495300"/>
          </a:xfrm>
          <a:custGeom>
            <a:pathLst>
              <a:path w="246" h="52">
                <a:moveTo>
                  <a:pt x="6" y="0"/>
                </a:moveTo>
                <a:cubicBezTo>
                  <a:pt x="4" y="0"/>
                  <a:pt x="2" y="2"/>
                  <a:pt x="2" y="4"/>
                </a:cubicBezTo>
                <a:lnTo>
                  <a:pt x="2" y="48"/>
                </a:lnTo>
                <a:cubicBezTo>
                  <a:pt x="2" y="50"/>
                  <a:pt x="3" y="51"/>
                  <a:pt x="5" y="52"/>
                </a:cubicBezTo>
                <a:cubicBezTo>
                  <a:pt x="2" y="51"/>
                  <a:pt x="0" y="49"/>
                  <a:pt x="0" y="46"/>
                </a:cubicBezTo>
                <a:lnTo>
                  <a:pt x="0" y="6"/>
                </a:lnTo>
                <a:cubicBezTo>
                  <a:pt x="0" y="3"/>
                  <a:pt x="3" y="0"/>
                  <a:pt x="6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47" name="" descr="{&quot;isTemplate&quot;:true,&quot;type&quot;:&quot;text&quot;}"/>
          <p:cNvSpPr txBox="1"/>
          <p:nvPr/>
        </p:nvSpPr>
        <p:spPr>
          <a:xfrm rot="0" flipH="0" flipV="0">
            <a:off x="3086100" y="4981575"/>
            <a:ext cx="20955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P1 </a:t>
            </a: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本周做</a:t>
            </a:r>
            <a:endParaRPr/>
          </a:p>
        </p:txBody>
      </p:sp>
      <p:sp>
        <p:nvSpPr>
          <p:cNvPr id="748" name="" descr="{&quot;isTemplate&quot;:true,&quot;type&quot;:&quot;text&quot;}"/>
          <p:cNvSpPr txBox="1"/>
          <p:nvPr/>
        </p:nvSpPr>
        <p:spPr>
          <a:xfrm rot="0" flipH="0" flipV="0">
            <a:off x="3086100" y="5133975"/>
            <a:ext cx="2095500" cy="1714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750">
                <a:solidFill>
                  <a:srgbClr val="4A5A7A"/>
                </a:solidFill>
                <a:latin typeface="Microsoft YaHei"/>
                <a:ea typeface="Microsoft YaHei"/>
              </a:rPr>
              <a:t>品类补充、关键词扩量</a:t>
            </a:r>
            <a:endParaRPr/>
          </a:p>
        </p:txBody>
      </p:sp>
      <p:sp>
        <p:nvSpPr>
          <p:cNvPr id="749" name=""/>
          <p:cNvSpPr/>
          <p:nvPr/>
        </p:nvSpPr>
        <p:spPr>
          <a:xfrm rot="0" flipH="0" flipV="0">
            <a:off x="5429250" y="3381375"/>
            <a:ext cx="6229350" cy="2695575"/>
          </a:xfrm>
          <a:prstGeom prst="roundRect">
            <a:avLst>
              <a:gd name="adj" fmla="val 3534"/>
            </a:avLst>
          </a:prstGeom>
          <a:solidFill>
            <a:srgbClr val="FFFFFF"/>
          </a:solidFill>
          <a:ln w="12700">
            <a:solidFill>
              <a:srgbClr val="FF8A3D">
                <a:alpha val="18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750" name=""/>
          <p:cNvPicPr>
            <a:picLocks noChangeAspect="1"/>
          </p:cNvPicPr>
          <p:nvPr/>
        </p:nvPicPr>
        <p:blipFill>
          <a:blip r:embed="rId3"/>
          <a:srcRect l="0" t="16520" r="0" b="16520"/>
          <a:stretch>
            <a:fillRect/>
          </a:stretch>
        </p:blipFill>
        <p:spPr>
          <a:xfrm rot="0" flipH="0" flipV="0">
            <a:off x="5505450" y="3457575"/>
            <a:ext cx="6076950" cy="2543175"/>
          </a:xfrm>
          <a:prstGeom prst="roundRect">
            <a:avLst>
              <a:gd name="adj" fmla="val 2247"/>
            </a:avLst>
          </a:prstGeom>
          <a:ln/>
        </p:spPr>
      </p:pic>
      <p:sp>
        <p:nvSpPr>
          <p:cNvPr id="751" name="" descr="{&quot;isTemplate&quot;:true,&quot;type&quot;:&quot;text&quot;}"/>
          <p:cNvSpPr txBox="1"/>
          <p:nvPr/>
        </p:nvSpPr>
        <p:spPr>
          <a:xfrm rot="0" flipH="0" flipV="0">
            <a:off x="609600" y="65817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752" name="" descr="{&quot;isTemplate&quot;:true,&quot;type&quot;:&quot;text&quot;}"/>
          <p:cNvSpPr txBox="1"/>
          <p:nvPr/>
        </p:nvSpPr>
        <p:spPr>
          <a:xfrm rot="0" flipH="0" flipV="0">
            <a:off x="11210925" y="65817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09 / 15</a:t>
            </a:r>
            <a:endParaRPr/>
          </a:p>
        </p:txBody>
      </p:sp>
    </p:spTree>
  </p:cSld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2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2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1B5FD9">
                  <a:alpha val="55000"/>
                </a:srgbClr>
              </a:gs>
              <a:gs pos="55000">
                <a:srgbClr val="0B2A6B">
                  <a:alpha val="0"/>
                </a:srgbClr>
              </a:gs>
            </a:gsLst>
            <a:lin ang="27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25" name=""/>
          <p:cNvSpPr/>
          <p:nvPr/>
        </p:nvSpPr>
        <p:spPr>
          <a:xfrm rot="0" flipH="0" flipV="0">
            <a:off x="609600" y="428625"/>
            <a:ext cx="57150" cy="36195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6" name="" descr="{&quot;isTemplate&quot;:true,&quot;type&quot;:&quot;text&quot;}"/>
          <p:cNvSpPr txBox="1"/>
          <p:nvPr/>
        </p:nvSpPr>
        <p:spPr>
          <a:xfrm rot="0" flipH="0" flipV="0">
            <a:off x="819150" y="285750"/>
            <a:ext cx="4267200" cy="44767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400" b="1">
                <a:solidFill>
                  <a:srgbClr val="FFFFFF"/>
                </a:solidFill>
                <a:latin typeface="Microsoft YaHei"/>
                <a:ea typeface="Microsoft YaHei"/>
              </a:rPr>
              <a:t>三个技术判断，决定了它能落地</a:t>
            </a:r>
            <a:endParaRPr/>
          </a:p>
        </p:txBody>
      </p:sp>
      <p:sp>
        <p:nvSpPr>
          <p:cNvPr id="27" name="" descr="{&quot;isTemplate&quot;:true,&quot;type&quot;:&quot;text&quot;}"/>
          <p:cNvSpPr txBox="1"/>
          <p:nvPr/>
        </p:nvSpPr>
        <p:spPr>
          <a:xfrm rot="0" flipH="0" flipV="0">
            <a:off x="819150" y="771525"/>
            <a:ext cx="426720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不是把大模型接进来就叫</a:t>
            </a:r>
            <a:r>
              <a:rPr lang="en-US" sz="975" spc="75">
                <a:solidFill>
                  <a:srgbClr val="8FC4F8"/>
                </a:solidFill>
                <a:latin typeface="Microsoft YaHei"/>
                <a:ea typeface="Microsoft YaHei"/>
              </a:rPr>
              <a:t xml:space="preserve"> AI</a:t>
            </a:r>
            <a:r>
              <a:rPr lang="zh-CN" sz="975" spc="75">
                <a:solidFill>
                  <a:srgbClr val="8FC4F8"/>
                </a:solidFill>
                <a:latin typeface="Microsoft YaHei"/>
                <a:ea typeface="Microsoft YaHei"/>
              </a:rPr>
              <a:t>，关键是让它扛得住门诊的真实场景</a:t>
            </a:r>
            <a:endParaRPr/>
          </a:p>
        </p:txBody>
      </p:sp>
      <p:pic>
        <p:nvPicPr>
          <p:cNvPr id="28" name=""/>
          <p:cNvPicPr>
            <a:picLocks noChangeAspect="1"/>
          </p:cNvPicPr>
          <p:nvPr/>
        </p:nvPicPr>
        <p:blipFill>
          <a:blip r:embed="rId1">
            <a:alphaModFix amt="35000"/>
          </a:blip>
          <a:srcRect l="0" t="673" r="0" b="673"/>
          <a:stretch>
            <a:fillRect/>
          </a:stretch>
        </p:blipFill>
        <p:spPr>
          <a:xfrm rot="0" flipH="0" flipV="0">
            <a:off x="10458450" y="304800"/>
            <a:ext cx="1123950" cy="476250"/>
          </a:xfrm>
          <a:prstGeom prst="rect">
            <a:avLst/>
          </a:prstGeom>
          <a:ln/>
        </p:spPr>
      </p:pic>
      <p:sp>
        <p:nvSpPr>
          <p:cNvPr id="29" name=""/>
          <p:cNvSpPr/>
          <p:nvPr/>
        </p:nvSpPr>
        <p:spPr>
          <a:xfrm rot="0" flipH="0" flipV="0">
            <a:off x="60960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" name=""/>
          <p:cNvSpPr/>
          <p:nvPr/>
        </p:nvSpPr>
        <p:spPr>
          <a:xfrm rot="0" flipH="0" flipV="0">
            <a:off x="609600" y="1295400"/>
            <a:ext cx="3543300" cy="3810000"/>
          </a:xfrm>
          <a:custGeom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31" name="" descr="{&quot;isTemplate&quot;:true,&quot;type&quot;:&quot;text&quot;}"/>
          <p:cNvSpPr txBox="1"/>
          <p:nvPr/>
        </p:nvSpPr>
        <p:spPr>
          <a:xfrm rot="0" flipH="0" flipV="0">
            <a:off x="838200" y="1524000"/>
            <a:ext cx="30861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35C8F0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32" name="" descr="{&quot;isTemplate&quot;:true,&quot;type&quot;:&quot;text&quot;}"/>
          <p:cNvSpPr txBox="1"/>
          <p:nvPr/>
        </p:nvSpPr>
        <p:spPr>
          <a:xfrm rot="0" flipH="0" flipV="0">
            <a:off x="838200" y="2314575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截图优先，不依赖</a:t>
            </a:r>
            <a:r>
              <a:rPr lang="en-US" sz="15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对接</a:t>
            </a:r>
            <a:endParaRPr/>
          </a:p>
        </p:txBody>
      </p:sp>
      <p:sp>
        <p:nvSpPr>
          <p:cNvPr id="33" name="" descr="{&quot;isTemplate&quot;:true,&quot;type&quot;:&quot;text&quot;}"/>
          <p:cNvSpPr txBox="1"/>
          <p:nvPr/>
        </p:nvSpPr>
        <p:spPr>
          <a:xfrm rot="0" flipH="0" flipV="0">
            <a:off x="838200" y="2743200"/>
            <a:ext cx="30861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美团经营参谋的数据不对外开放接口，硬等</a:t>
            </a:r>
            <a:r>
              <a:rPr lang="en-US" sz="938">
                <a:solidFill>
                  <a:srgbClr val="AFC8E8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就是无限期拖延。我们反过来做：门店按</a:t>
            </a:r>
            <a:r>
              <a:rPr lang="en-US" sz="938">
                <a:solidFill>
                  <a:srgbClr val="AFC8E8"/>
                </a:solidFill>
                <a:latin typeface="Microsoft YaHei"/>
                <a:ea typeface="Microsoft YaHei"/>
              </a:rPr>
              <a:t xml:space="preserve"> 7 </a:t>
            </a: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个界面分别上传截图，视觉模型直接读数。门店不用学新系统，集团当天就能拿到数据。</a:t>
            </a:r>
            <a:endParaRPr/>
          </a:p>
        </p:txBody>
      </p:sp>
      <p:sp>
        <p:nvSpPr>
          <p:cNvPr id="34" name=""/>
          <p:cNvSpPr/>
          <p:nvPr/>
        </p:nvSpPr>
        <p:spPr>
          <a:xfrm rot="0" flipH="0" flipV="0">
            <a:off x="83820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35C8F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5" name="" descr="{&quot;isTemplate&quot;:true,&quot;type&quot;:&quot;text&quot;}"/>
          <p:cNvSpPr txBox="1"/>
          <p:nvPr/>
        </p:nvSpPr>
        <p:spPr>
          <a:xfrm rot="0" flipH="0" flipV="0">
            <a:off x="962025" y="4533900"/>
            <a:ext cx="283845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8FE3F8"/>
                </a:solidFill>
                <a:latin typeface="Microsoft YaHei"/>
                <a:ea typeface="Microsoft YaHei"/>
              </a:rPr>
              <a:t>代价是识别准确率，所以配了手动录入作为保底通道</a:t>
            </a:r>
            <a:endParaRPr/>
          </a:p>
        </p:txBody>
      </p:sp>
      <p:sp>
        <p:nvSpPr>
          <p:cNvPr id="36" name=""/>
          <p:cNvSpPr/>
          <p:nvPr/>
        </p:nvSpPr>
        <p:spPr>
          <a:xfrm rot="0" flipH="0" flipV="0">
            <a:off x="432435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FFFFFF">
              <a:alpha val="8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7" name=""/>
          <p:cNvSpPr/>
          <p:nvPr/>
        </p:nvSpPr>
        <p:spPr>
          <a:xfrm rot="0" flipH="0" flipV="0">
            <a:off x="4324350" y="1295400"/>
            <a:ext cx="3543300" cy="3810000"/>
          </a:xfrm>
          <a:custGeom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ADE8FF"/>
          </a:solidFill>
          <a:ln/>
        </p:spPr>
        <p:txBody>
          <a:bodyPr/>
          <a:p>
            <a:pPr/>
            <a:endParaRPr/>
          </a:p>
        </p:txBody>
      </p:sp>
      <p:sp>
        <p:nvSpPr>
          <p:cNvPr id="38" name="" descr="{&quot;isTemplate&quot;:true,&quot;type&quot;:&quot;text&quot;}"/>
          <p:cNvSpPr txBox="1"/>
          <p:nvPr/>
        </p:nvSpPr>
        <p:spPr>
          <a:xfrm rot="0" flipH="0" flipV="0">
            <a:off x="4552950" y="1524000"/>
            <a:ext cx="30861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ADE8FF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39" name="" descr="{&quot;isTemplate&quot;:true,&quot;type&quot;:&quot;text&quot;}"/>
          <p:cNvSpPr txBox="1"/>
          <p:nvPr/>
        </p:nvSpPr>
        <p:spPr>
          <a:xfrm rot="0" flipH="0" flipV="0">
            <a:off x="4552950" y="2314575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双通道兜底，业务永不中断</a:t>
            </a:r>
            <a:endParaRPr/>
          </a:p>
        </p:txBody>
      </p:sp>
      <p:sp>
        <p:nvSpPr>
          <p:cNvPr id="40" name="" descr="{&quot;isTemplate&quot;:true,&quot;type&quot;:&quot;text&quot;}"/>
          <p:cNvSpPr txBox="1"/>
          <p:nvPr/>
        </p:nvSpPr>
        <p:spPr>
          <a:xfrm rot="0" flipH="0" flipV="0">
            <a:off x="4552950" y="2743200"/>
            <a:ext cx="30861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五个视觉模型端点按顺序自动探测，哪个能用走哪个；全部不可用就降级为手动录入，已上传的截图不会白传。模型层抽出来做成可替换的，换模型不动业务代码。</a:t>
            </a:r>
            <a:endParaRPr/>
          </a:p>
        </p:txBody>
      </p:sp>
      <p:sp>
        <p:nvSpPr>
          <p:cNvPr id="41" name=""/>
          <p:cNvSpPr/>
          <p:nvPr/>
        </p:nvSpPr>
        <p:spPr>
          <a:xfrm rot="0" flipH="0" flipV="0">
            <a:off x="455295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35C8F0">
              <a:alpha val="1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2" name="" descr="{&quot;isTemplate&quot;:true,&quot;type&quot;:&quot;text&quot;}"/>
          <p:cNvSpPr txBox="1"/>
          <p:nvPr/>
        </p:nvSpPr>
        <p:spPr>
          <a:xfrm rot="0" flipH="0" flipV="0">
            <a:off x="4676775" y="4533900"/>
            <a:ext cx="283845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8FE3F8"/>
                </a:solidFill>
                <a:latin typeface="Microsoft YaHei"/>
                <a:ea typeface="Microsoft YaHei"/>
              </a:rPr>
              <a:t>今天视觉模型权限尚未开通，系统仍可完整跑通</a:t>
            </a:r>
            <a:endParaRPr/>
          </a:p>
        </p:txBody>
      </p:sp>
      <p:sp>
        <p:nvSpPr>
          <p:cNvPr id="43" name=""/>
          <p:cNvSpPr/>
          <p:nvPr/>
        </p:nvSpPr>
        <p:spPr>
          <a:xfrm rot="0" flipH="0" flipV="0">
            <a:off x="8039100" y="1295400"/>
            <a:ext cx="3543300" cy="3810000"/>
          </a:xfrm>
          <a:prstGeom prst="roundRect">
            <a:avLst>
              <a:gd name="adj" fmla="val 3763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4" name=""/>
          <p:cNvSpPr/>
          <p:nvPr/>
        </p:nvSpPr>
        <p:spPr>
          <a:xfrm rot="0" flipH="0" flipV="0">
            <a:off x="8039100" y="1295400"/>
            <a:ext cx="3543300" cy="3810000"/>
          </a:xfrm>
          <a:custGeom>
            <a:pathLst>
              <a:path w="372" h="400">
                <a:moveTo>
                  <a:pt x="359" y="0"/>
                </a:moveTo>
                <a:cubicBezTo>
                  <a:pt x="365" y="0"/>
                  <a:pt x="370" y="5"/>
                  <a:pt x="372" y="11"/>
                </a:cubicBezTo>
                <a:cubicBezTo>
                  <a:pt x="370" y="7"/>
                  <a:pt x="366" y="4"/>
                  <a:pt x="362" y="4"/>
                </a:cubicBezTo>
                <a:lnTo>
                  <a:pt x="10" y="4"/>
                </a:lnTo>
                <a:cubicBezTo>
                  <a:pt x="6" y="4"/>
                  <a:pt x="2" y="7"/>
                  <a:pt x="0" y="11"/>
                </a:cubicBezTo>
                <a:cubicBezTo>
                  <a:pt x="2" y="5"/>
                  <a:pt x="7" y="0"/>
                  <a:pt x="14" y="0"/>
                </a:cubicBezTo>
                <a:lnTo>
                  <a:pt x="358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45" name="" descr="{&quot;isTemplate&quot;:true,&quot;type&quot;:&quot;text&quot;}"/>
          <p:cNvSpPr txBox="1"/>
          <p:nvPr/>
        </p:nvSpPr>
        <p:spPr>
          <a:xfrm rot="0" flipH="0" flipV="0">
            <a:off x="8267700" y="1524000"/>
            <a:ext cx="3086100" cy="7334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4800" b="1">
                <a:solidFill>
                  <a:srgbClr val="FF8A3D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46" name="" descr="{&quot;isTemplate&quot;:true,&quot;type&quot;:&quot;text&quot;}"/>
          <p:cNvSpPr txBox="1"/>
          <p:nvPr/>
        </p:nvSpPr>
        <p:spPr>
          <a:xfrm rot="0" flipH="0" flipV="0">
            <a:off x="8267700" y="2314575"/>
            <a:ext cx="3086100" cy="314325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拒绝随机数，结论必须可回溯</a:t>
            </a:r>
            <a:endParaRPr/>
          </a:p>
        </p:txBody>
      </p:sp>
      <p:sp>
        <p:nvSpPr>
          <p:cNvPr id="47" name="" descr="{&quot;isTemplate&quot;:true,&quot;type&quot;:&quot;text&quot;}"/>
          <p:cNvSpPr txBox="1"/>
          <p:nvPr/>
        </p:nvSpPr>
        <p:spPr>
          <a:xfrm rot="0" flipH="0" flipV="0">
            <a:off x="8267700" y="2743200"/>
            <a:ext cx="3086100" cy="15716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75000"/>
              </a:lnSpc>
            </a:pPr>
            <a:r>
              <a:rPr lang="zh-CN" sz="938">
                <a:solidFill>
                  <a:srgbClr val="AFC8E8"/>
                </a:solidFill>
                <a:latin typeface="Microsoft YaHei"/>
                <a:ea typeface="Microsoft YaHei"/>
              </a:rPr>
              <a:t>早期版本的分析结论是随机生成的，用户一输入就发现对不上。现在所有指标都由真实输入算出：评分、转化率、价格带、差评数逐项推导，每条建议都能指回具体数字。</a:t>
            </a:r>
            <a:endParaRPr/>
          </a:p>
        </p:txBody>
      </p:sp>
      <p:sp>
        <p:nvSpPr>
          <p:cNvPr id="48" name=""/>
          <p:cNvSpPr/>
          <p:nvPr/>
        </p:nvSpPr>
        <p:spPr>
          <a:xfrm rot="0" flipH="0" flipV="0">
            <a:off x="8267700" y="4429125"/>
            <a:ext cx="3086100" cy="409575"/>
          </a:xfrm>
          <a:prstGeom prst="roundRect">
            <a:avLst>
              <a:gd name="adj" fmla="val 18605"/>
            </a:avLst>
          </a:prstGeom>
          <a:solidFill>
            <a:srgbClr val="FF8A3D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49" name="" descr="{&quot;isTemplate&quot;:true,&quot;type&quot;:&quot;text&quot;}"/>
          <p:cNvSpPr txBox="1"/>
          <p:nvPr/>
        </p:nvSpPr>
        <p:spPr>
          <a:xfrm rot="0" flipH="0" flipV="0">
            <a:off x="8391525" y="4533900"/>
            <a:ext cx="2838450" cy="200025"/>
          </a:xfrm>
          <a:prstGeom prst="rect"/>
        </p:spPr>
        <p:txBody>
          <a:bodyPr wrap="none" lIns="0" tIns="0" rIns="0" bIns="0"/>
          <a:p>
            <a:pPr>
              <a:lnSpc>
                <a:spcPct val="155000"/>
              </a:lnSpc>
            </a:pP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输入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118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条评价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/ 18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条差评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输出「跟进</a:t>
            </a:r>
            <a:r>
              <a:rPr lang="en-US" sz="825">
                <a:solidFill>
                  <a:srgbClr val="FFC9A0"/>
                </a:solidFill>
                <a:latin typeface="Microsoft YaHei"/>
                <a:ea typeface="Microsoft YaHei"/>
              </a:rPr>
              <a:t xml:space="preserve"> 18 </a:t>
            </a:r>
            <a:r>
              <a:rPr lang="zh-CN" sz="825">
                <a:solidFill>
                  <a:srgbClr val="FFC9A0"/>
                </a:solidFill>
                <a:latin typeface="Microsoft YaHei"/>
                <a:ea typeface="Microsoft YaHei"/>
              </a:rPr>
              <a:t>条差评」</a:t>
            </a:r>
            <a:endParaRPr/>
          </a:p>
        </p:txBody>
      </p:sp>
      <p:sp>
        <p:nvSpPr>
          <p:cNvPr id="50" name="" descr="{&quot;isTemplate&quot;:true,&quot;type&quot;:&quot;text&quot;}"/>
          <p:cNvSpPr txBox="1"/>
          <p:nvPr/>
        </p:nvSpPr>
        <p:spPr>
          <a:xfrm rot="0" flipH="0" flipV="0">
            <a:off x="609600" y="5724525"/>
            <a:ext cx="914400" cy="40005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863">
                <a:solidFill>
                  <a:srgbClr val="6E93C8"/>
                </a:solidFill>
                <a:latin typeface="Microsoft YaHei"/>
                <a:ea typeface="Microsoft YaHei"/>
              </a:rPr>
              <a:t>实测响应</a:t>
            </a:r>
            <a:endParaRPr/>
          </a:p>
          <a:p>
            <a:pPr>
              <a:lnSpc>
                <a:spcPct val="150000"/>
              </a:lnSpc>
            </a:pPr>
            <a:r>
              <a:rPr lang="zh-CN" sz="863">
                <a:solidFill>
                  <a:srgbClr val="6E93C8"/>
                </a:solidFill>
                <a:latin typeface="Microsoft YaHei"/>
                <a:ea typeface="Microsoft YaHei"/>
              </a:rPr>
              <a:t>耗时</a:t>
            </a:r>
            <a:endParaRPr/>
          </a:p>
        </p:txBody>
      </p:sp>
      <p:sp>
        <p:nvSpPr>
          <p:cNvPr id="51" name=""/>
          <p:cNvSpPr/>
          <p:nvPr/>
        </p:nvSpPr>
        <p:spPr>
          <a:xfrm rot="0" flipH="0" flipV="0">
            <a:off x="1638300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2" name="" descr="{&quot;isTemplate&quot;:true,&quot;type&quot;:&quot;text&quot;}"/>
          <p:cNvSpPr txBox="1"/>
          <p:nvPr/>
        </p:nvSpPr>
        <p:spPr>
          <a:xfrm rot="0" flipH="0" flipV="0">
            <a:off x="2343150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1.45s</a:t>
            </a:r>
            <a:endParaRPr/>
          </a:p>
        </p:txBody>
      </p:sp>
      <p:sp>
        <p:nvSpPr>
          <p:cNvPr id="53" name="" descr="{&quot;isTemplate&quot;:true,&quot;type&quot;:&quot;text&quot;}"/>
          <p:cNvSpPr txBox="1"/>
          <p:nvPr/>
        </p:nvSpPr>
        <p:spPr>
          <a:xfrm rot="0" flipH="0" flipV="0">
            <a:off x="2390775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54" name=""/>
          <p:cNvSpPr/>
          <p:nvPr/>
        </p:nvSpPr>
        <p:spPr>
          <a:xfrm rot="0" flipH="0" flipV="0">
            <a:off x="3648075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5" name="" descr="{&quot;isTemplate&quot;:true,&quot;type&quot;:&quot;text&quot;}"/>
          <p:cNvSpPr txBox="1"/>
          <p:nvPr/>
        </p:nvSpPr>
        <p:spPr>
          <a:xfrm rot="0" flipH="0" flipV="0">
            <a:off x="4352925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1.36s</a:t>
            </a:r>
            <a:endParaRPr/>
          </a:p>
        </p:txBody>
      </p:sp>
      <p:sp>
        <p:nvSpPr>
          <p:cNvPr id="56" name="" descr="{&quot;isTemplate&quot;:true,&quot;type&quot;:&quot;text&quot;}"/>
          <p:cNvSpPr txBox="1"/>
          <p:nvPr/>
        </p:nvSpPr>
        <p:spPr>
          <a:xfrm rot="0" flipH="0" flipV="0">
            <a:off x="4400550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运营诊断</a:t>
            </a:r>
            <a:endParaRPr/>
          </a:p>
        </p:txBody>
      </p:sp>
      <p:sp>
        <p:nvSpPr>
          <p:cNvPr id="57" name=""/>
          <p:cNvSpPr/>
          <p:nvPr/>
        </p:nvSpPr>
        <p:spPr>
          <a:xfrm rot="0" flipH="0" flipV="0">
            <a:off x="5657850" y="5619750"/>
            <a:ext cx="1905000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58" name="" descr="{&quot;isTemplate&quot;:true,&quot;type&quot;:&quot;text&quot;}"/>
          <p:cNvSpPr txBox="1"/>
          <p:nvPr/>
        </p:nvSpPr>
        <p:spPr>
          <a:xfrm rot="0" flipH="0" flipV="0">
            <a:off x="6372225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1.29s</a:t>
            </a:r>
            <a:endParaRPr/>
          </a:p>
        </p:txBody>
      </p:sp>
      <p:sp>
        <p:nvSpPr>
          <p:cNvPr id="59" name="" descr="{&quot;isTemplate&quot;:true,&quot;type&quot;:&quot;text&quot;}"/>
          <p:cNvSpPr txBox="1"/>
          <p:nvPr/>
        </p:nvSpPr>
        <p:spPr>
          <a:xfrm rot="0" flipH="0" flipV="0">
            <a:off x="6410325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60" name=""/>
          <p:cNvSpPr/>
          <p:nvPr/>
        </p:nvSpPr>
        <p:spPr>
          <a:xfrm rot="0" flipH="0" flipV="0">
            <a:off x="7677150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1" name="" descr="{&quot;isTemplate&quot;:true,&quot;type&quot;:&quot;text&quot;}"/>
          <p:cNvSpPr txBox="1"/>
          <p:nvPr/>
        </p:nvSpPr>
        <p:spPr>
          <a:xfrm rot="0" flipH="0" flipV="0">
            <a:off x="8382000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1.09s</a:t>
            </a:r>
            <a:endParaRPr/>
          </a:p>
        </p:txBody>
      </p:sp>
      <p:sp>
        <p:nvSpPr>
          <p:cNvPr id="62" name="" descr="{&quot;isTemplate&quot;:true,&quot;type&quot;:&quot;text&quot;}"/>
          <p:cNvSpPr txBox="1"/>
          <p:nvPr/>
        </p:nvSpPr>
        <p:spPr>
          <a:xfrm rot="0" flipH="0" flipV="0">
            <a:off x="8429625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差评回复</a:t>
            </a:r>
            <a:endParaRPr/>
          </a:p>
        </p:txBody>
      </p:sp>
      <p:sp>
        <p:nvSpPr>
          <p:cNvPr id="63" name=""/>
          <p:cNvSpPr/>
          <p:nvPr/>
        </p:nvSpPr>
        <p:spPr>
          <a:xfrm rot="0" flipH="0" flipV="0">
            <a:off x="9686925" y="5619750"/>
            <a:ext cx="1895475" cy="609600"/>
          </a:xfrm>
          <a:prstGeom prst="roundRect">
            <a:avLst>
              <a:gd name="adj" fmla="val 12500"/>
            </a:avLst>
          </a:prstGeom>
          <a:solidFill>
            <a:srgbClr val="FFFFFF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64" name="" descr="{&quot;isTemplate&quot;:true,&quot;type&quot;:&quot;text&quot;}"/>
          <p:cNvSpPr txBox="1"/>
          <p:nvPr/>
        </p:nvSpPr>
        <p:spPr>
          <a:xfrm rot="0" flipH="0" flipV="0">
            <a:off x="10391775" y="5734050"/>
            <a:ext cx="485775" cy="2286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500" b="1">
                <a:solidFill>
                  <a:srgbClr val="35C8F0"/>
                </a:solidFill>
                <a:latin typeface="Arial"/>
                <a:ea typeface="Arial"/>
              </a:rPr>
              <a:t>1.92s</a:t>
            </a:r>
            <a:endParaRPr/>
          </a:p>
        </p:txBody>
      </p:sp>
      <p:sp>
        <p:nvSpPr>
          <p:cNvPr id="65" name="" descr="{&quot;isTemplate&quot;:true,&quot;type&quot;:&quot;text&quot;}"/>
          <p:cNvSpPr txBox="1"/>
          <p:nvPr/>
        </p:nvSpPr>
        <p:spPr>
          <a:xfrm rot="0" flipH="0" flipV="0">
            <a:off x="10439400" y="5991225"/>
            <a:ext cx="4000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>
                <a:solidFill>
                  <a:srgbClr val="AFC8E8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66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6E93C8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6E93C8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67" name="" descr="{&quot;isTemplate&quot;:true,&quot;type&quot;:&quot;text&quot;}"/>
          <p:cNvSpPr txBox="1"/>
          <p:nvPr/>
        </p:nvSpPr>
        <p:spPr>
          <a:xfrm rot="0" flipH="0" flipV="0">
            <a:off x="11210925" y="654367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6E93C8"/>
                </a:solidFill>
                <a:latin typeface="Arial"/>
                <a:ea typeface="Arial"/>
              </a:rPr>
              <a:t>10 / 15</a:t>
            </a:r>
            <a:endParaRPr/>
          </a:p>
        </p:txBody>
      </p:sp>
    </p:spTree>
  </p:cSld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6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70" name=""/>
          <p:cNvSpPr/>
          <p:nvPr/>
        </p:nvSpPr>
        <p:spPr>
          <a:xfrm rot="0" flipH="0" flipV="0">
            <a:off x="0" y="0"/>
            <a:ext cx="12192000" cy="876300"/>
          </a:xfrm>
          <a:prstGeom prst="rect">
            <a:avLst/>
          </a:prstGeom>
          <a:gradFill>
            <a:gsLst>
              <a:gs pos="0">
                <a:srgbClr val="0B2A6B"/>
              </a:gs>
              <a:gs pos="65000">
                <a:srgbClr val="1B5FD9"/>
              </a:gs>
              <a:gs pos="100000">
                <a:srgbClr val="2E86E8"/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71" name=""/>
          <p:cNvSpPr/>
          <p:nvPr/>
        </p:nvSpPr>
        <p:spPr>
          <a:xfrm rot="0" flipH="0" flipV="0">
            <a:off x="609600" y="342900"/>
            <a:ext cx="57150" cy="3429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72" name="" descr="{&quot;isTemplate&quot;:true,&quot;type&quot;:&quot;text&quot;}"/>
          <p:cNvSpPr txBox="1"/>
          <p:nvPr/>
        </p:nvSpPr>
        <p:spPr>
          <a:xfrm rot="0" flipH="0" flipV="0">
            <a:off x="819150" y="209550"/>
            <a:ext cx="2657475" cy="428625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325" b="1">
                <a:solidFill>
                  <a:srgbClr val="FFFFFF"/>
                </a:solidFill>
                <a:latin typeface="Microsoft YaHei"/>
                <a:ea typeface="Microsoft YaHei"/>
              </a:rPr>
              <a:t>把两小时压成两分钟</a:t>
            </a:r>
            <a:endParaRPr/>
          </a:p>
        </p:txBody>
      </p:sp>
      <p:sp>
        <p:nvSpPr>
          <p:cNvPr id="73" name="" descr="{&quot;isTemplate&quot;:true,&quot;type&quot;:&quot;text&quot;}"/>
          <p:cNvSpPr txBox="1"/>
          <p:nvPr/>
        </p:nvSpPr>
        <p:spPr>
          <a:xfrm rot="0" flipH="0" flipV="0">
            <a:off x="819150" y="666750"/>
            <a:ext cx="2657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ADE8FF"/>
                </a:solidFill>
                <a:latin typeface="Microsoft YaHei"/>
                <a:ea typeface="Microsoft YaHei"/>
              </a:rPr>
              <a:t>同样的活，做法的区别在哪</a:t>
            </a:r>
            <a:endParaRPr/>
          </a:p>
        </p:txBody>
      </p:sp>
      <p:pic>
        <p:nvPicPr>
          <p:cNvPr id="74" name=""/>
          <p:cNvPicPr>
            <a:picLocks noChangeAspect="1"/>
          </p:cNvPicPr>
          <p:nvPr/>
        </p:nvPicPr>
        <p:blipFill>
          <a:blip r:embed="rId1">
            <a:alphaModFix amt="40000"/>
          </a:blip>
          <a:srcRect l="0" t="1319" r="0" b="1319"/>
          <a:stretch>
            <a:fillRect/>
          </a:stretch>
        </p:blipFill>
        <p:spPr>
          <a:xfrm rot="0" flipH="0" flipV="0">
            <a:off x="10534650" y="228600"/>
            <a:ext cx="1047750" cy="438150"/>
          </a:xfrm>
          <a:prstGeom prst="rect">
            <a:avLst/>
          </a:prstGeom>
          <a:ln/>
        </p:spPr>
      </p:pic>
      <p:sp>
        <p:nvSpPr>
          <p:cNvPr id="75" name=""/>
          <p:cNvSpPr/>
          <p:nvPr/>
        </p:nvSpPr>
        <p:spPr>
          <a:xfrm rot="0" flipH="0" flipV="0">
            <a:off x="647700" y="1104900"/>
            <a:ext cx="10972800" cy="134302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76" name=""/>
          <p:cNvSpPr/>
          <p:nvPr/>
        </p:nvSpPr>
        <p:spPr>
          <a:xfrm rot="0" flipH="0" flipV="0">
            <a:off x="647700" y="1104900"/>
            <a:ext cx="10972800" cy="1343025"/>
          </a:xfrm>
          <a:custGeom>
            <a:pathLst>
              <a:path w="1152" h="14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3"/>
                </a:lnTo>
                <a:cubicBezTo>
                  <a:pt x="4" y="137"/>
                  <a:pt x="7" y="140"/>
                  <a:pt x="10" y="141"/>
                </a:cubicBezTo>
                <a:cubicBezTo>
                  <a:pt x="4" y="140"/>
                  <a:pt x="0" y="135"/>
                  <a:pt x="0" y="12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77" name="" descr="{&quot;isTemplate&quot;:true,&quot;type&quot;:&quot;text&quot;}"/>
          <p:cNvSpPr txBox="1"/>
          <p:nvPr/>
        </p:nvSpPr>
        <p:spPr>
          <a:xfrm rot="0" flipH="0" flipV="0">
            <a:off x="857250" y="1657350"/>
            <a:ext cx="14859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一条美团文案</a:t>
            </a:r>
            <a:endParaRPr/>
          </a:p>
        </p:txBody>
      </p:sp>
      <p:sp>
        <p:nvSpPr>
          <p:cNvPr id="78" name="" descr="{&quot;isTemplate&quot;:true,&quot;type&quot;:&quot;text&quot;}"/>
          <p:cNvSpPr txBox="1"/>
          <p:nvPr/>
        </p:nvSpPr>
        <p:spPr>
          <a:xfrm rot="0" flipH="0" flipV="0">
            <a:off x="2552700" y="1552575"/>
            <a:ext cx="219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/>
                <a:ea typeface="Arial"/>
              </a:rPr>
              <a:t>2</a:t>
            </a:r>
            <a:endParaRPr/>
          </a:p>
        </p:txBody>
      </p:sp>
      <p:sp>
        <p:nvSpPr>
          <p:cNvPr id="79" name="" descr="{&quot;isTemplate&quot;:true,&quot;type&quot;:&quot;text&quot;}"/>
          <p:cNvSpPr txBox="1"/>
          <p:nvPr/>
        </p:nvSpPr>
        <p:spPr>
          <a:xfrm rot="0" flipH="0" flipV="0">
            <a:off x="2838450" y="1685925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Microsoft YaHei"/>
                <a:ea typeface="Microsoft YaHei"/>
              </a:rPr>
              <a:t>小时</a:t>
            </a:r>
            <a:endParaRPr/>
          </a:p>
        </p:txBody>
      </p:sp>
      <p:sp>
        <p:nvSpPr>
          <p:cNvPr id="80" name=""/>
          <p:cNvSpPr/>
          <p:nvPr/>
        </p:nvSpPr>
        <p:spPr>
          <a:xfrm rot="0" flipH="0" flipV="0">
            <a:off x="3295650" y="1619250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81" name="" descr="{&quot;isTemplate&quot;:true,&quot;type&quot;:&quot;text&quot;}"/>
          <p:cNvSpPr txBox="1"/>
          <p:nvPr/>
        </p:nvSpPr>
        <p:spPr>
          <a:xfrm rot="0" flipH="0" flipV="0">
            <a:off x="3381375" y="1685925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82" name="" descr="{&quot;isTemplate&quot;:true,&quot;type&quot;:&quot;text&quot;}"/>
          <p:cNvSpPr txBox="1"/>
          <p:nvPr/>
        </p:nvSpPr>
        <p:spPr>
          <a:xfrm rot="0" flipH="0" flipV="0">
            <a:off x="3829050" y="1476375"/>
            <a:ext cx="6953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/>
                <a:ea typeface="Arial"/>
              </a:rPr>
              <a:t>1.9</a:t>
            </a:r>
            <a:endParaRPr/>
          </a:p>
        </p:txBody>
      </p:sp>
      <p:sp>
        <p:nvSpPr>
          <p:cNvPr id="83" name="" descr="{&quot;isTemplate&quot;:true,&quot;type&quot;:&quot;text&quot;}"/>
          <p:cNvSpPr txBox="1"/>
          <p:nvPr/>
        </p:nvSpPr>
        <p:spPr>
          <a:xfrm rot="0" flipH="0" flipV="0">
            <a:off x="4572000" y="18573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84" name="" descr="{&quot;isTemplate&quot;:true,&quot;type&quot;:&quot;text&quot;}"/>
          <p:cNvSpPr txBox="1"/>
          <p:nvPr/>
        </p:nvSpPr>
        <p:spPr>
          <a:xfrm rot="0" flipH="0" flipV="0">
            <a:off x="4991100" y="1581150"/>
            <a:ext cx="6419850" cy="2286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从查门店信息、想卖点、写正文、配图到改违禁词，压缩到一次生成加一轮修改</a:t>
            </a:r>
            <a:endParaRPr/>
          </a:p>
        </p:txBody>
      </p:sp>
      <p:sp>
        <p:nvSpPr>
          <p:cNvPr id="85" name="" descr="{&quot;isTemplate&quot;:true,&quot;type&quot;:&quot;text&quot;}"/>
          <p:cNvSpPr txBox="1"/>
          <p:nvPr/>
        </p:nvSpPr>
        <p:spPr>
          <a:xfrm rot="0" flipH="0" flipV="0">
            <a:off x="4991100" y="1857375"/>
            <a:ext cx="641985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接口实测</a:t>
            </a:r>
            <a:r>
              <a:rPr lang="en-US" sz="788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1.92 </a:t>
            </a: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秒返回</a:t>
            </a:r>
            <a:endParaRPr/>
          </a:p>
        </p:txBody>
      </p:sp>
      <p:sp>
        <p:nvSpPr>
          <p:cNvPr id="86" name=""/>
          <p:cNvSpPr/>
          <p:nvPr/>
        </p:nvSpPr>
        <p:spPr>
          <a:xfrm rot="0" flipH="0" flipV="0">
            <a:off x="647700" y="2581275"/>
            <a:ext cx="10972800" cy="1352550"/>
          </a:xfrm>
          <a:prstGeom prst="roundRect">
            <a:avLst>
              <a:gd name="adj" fmla="val 8451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87" name=""/>
          <p:cNvSpPr/>
          <p:nvPr/>
        </p:nvSpPr>
        <p:spPr>
          <a:xfrm rot="0" flipH="0" flipV="0">
            <a:off x="647700" y="2581275"/>
            <a:ext cx="10972800" cy="1352550"/>
          </a:xfrm>
          <a:custGeom>
            <a:pathLst>
              <a:path w="1152" h="142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4"/>
                </a:lnTo>
                <a:cubicBezTo>
                  <a:pt x="4" y="138"/>
                  <a:pt x="7" y="141"/>
                  <a:pt x="10" y="142"/>
                </a:cubicBezTo>
                <a:cubicBezTo>
                  <a:pt x="4" y="141"/>
                  <a:pt x="0" y="136"/>
                  <a:pt x="0" y="130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88" name="" descr="{&quot;isTemplate&quot;:true,&quot;type&quot;:&quot;text&quot;}"/>
          <p:cNvSpPr txBox="1"/>
          <p:nvPr/>
        </p:nvSpPr>
        <p:spPr>
          <a:xfrm rot="0" flipH="0" flipV="0">
            <a:off x="857250" y="3133725"/>
            <a:ext cx="14859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一次经营诊断</a:t>
            </a:r>
            <a:endParaRPr/>
          </a:p>
        </p:txBody>
      </p:sp>
      <p:sp>
        <p:nvSpPr>
          <p:cNvPr id="89" name="" descr="{&quot;isTemplate&quot;:true,&quot;type&quot;:&quot;text&quot;}"/>
          <p:cNvSpPr txBox="1"/>
          <p:nvPr/>
        </p:nvSpPr>
        <p:spPr>
          <a:xfrm rot="0" flipH="0" flipV="0">
            <a:off x="2552700" y="3028950"/>
            <a:ext cx="219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/>
                <a:ea typeface="Arial"/>
              </a:rPr>
              <a:t>3</a:t>
            </a:r>
            <a:endParaRPr/>
          </a:p>
        </p:txBody>
      </p:sp>
      <p:sp>
        <p:nvSpPr>
          <p:cNvPr id="90" name="" descr="{&quot;isTemplate&quot;:true,&quot;type&quot;:&quot;text&quot;}"/>
          <p:cNvSpPr txBox="1"/>
          <p:nvPr/>
        </p:nvSpPr>
        <p:spPr>
          <a:xfrm rot="0" flipH="0" flipV="0">
            <a:off x="2838450" y="3162300"/>
            <a:ext cx="123825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Microsoft YaHei"/>
                <a:ea typeface="Microsoft YaHei"/>
              </a:rPr>
              <a:t>天</a:t>
            </a:r>
            <a:endParaRPr/>
          </a:p>
        </p:txBody>
      </p:sp>
      <p:sp>
        <p:nvSpPr>
          <p:cNvPr id="91" name=""/>
          <p:cNvSpPr/>
          <p:nvPr/>
        </p:nvSpPr>
        <p:spPr>
          <a:xfrm rot="0" flipH="0" flipV="0">
            <a:off x="3171825" y="30956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92" name="" descr="{&quot;isTemplate&quot;:true,&quot;type&quot;:&quot;text&quot;}"/>
          <p:cNvSpPr txBox="1"/>
          <p:nvPr/>
        </p:nvSpPr>
        <p:spPr>
          <a:xfrm rot="0" flipH="0" flipV="0">
            <a:off x="3257550" y="31623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93" name="" descr="{&quot;isTemplate&quot;:true,&quot;type&quot;:&quot;text&quot;}"/>
          <p:cNvSpPr txBox="1"/>
          <p:nvPr/>
        </p:nvSpPr>
        <p:spPr>
          <a:xfrm rot="0" flipH="0" flipV="0">
            <a:off x="3705225" y="2962275"/>
            <a:ext cx="6953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/>
                <a:ea typeface="Arial"/>
              </a:rPr>
              <a:t>1.4</a:t>
            </a:r>
            <a:endParaRPr/>
          </a:p>
        </p:txBody>
      </p:sp>
      <p:sp>
        <p:nvSpPr>
          <p:cNvPr id="94" name="" descr="{&quot;isTemplate&quot;:true,&quot;type&quot;:&quot;text&quot;}"/>
          <p:cNvSpPr txBox="1"/>
          <p:nvPr/>
        </p:nvSpPr>
        <p:spPr>
          <a:xfrm rot="0" flipH="0" flipV="0">
            <a:off x="4448175" y="3343275"/>
            <a:ext cx="1333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Microsoft YaHei"/>
                <a:ea typeface="Microsoft YaHei"/>
              </a:rPr>
              <a:t>秒</a:t>
            </a:r>
            <a:endParaRPr/>
          </a:p>
        </p:txBody>
      </p:sp>
      <p:sp>
        <p:nvSpPr>
          <p:cNvPr id="95" name="" descr="{&quot;isTemplate&quot;:true,&quot;type&quot;:&quot;text&quot;}"/>
          <p:cNvSpPr txBox="1"/>
          <p:nvPr/>
        </p:nvSpPr>
        <p:spPr>
          <a:xfrm rot="0" flipH="0" flipV="0">
            <a:off x="4867275" y="3057525"/>
            <a:ext cx="6543675" cy="2286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从挨家登录经营参谋截图、</a:t>
            </a:r>
            <a:r>
              <a:rPr lang="en-US" sz="900">
                <a:solidFill>
                  <a:srgbClr val="5A6B8C"/>
                </a:solidFill>
                <a:latin typeface="Microsoft YaHei"/>
                <a:ea typeface="Microsoft YaHei"/>
              </a:rPr>
              <a:t xml:space="preserve">Excel </a:t>
            </a: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手工拼表，变成五个维度同时打分并给出行动项</a:t>
            </a:r>
            <a:endParaRPr/>
          </a:p>
        </p:txBody>
      </p:sp>
      <p:sp>
        <p:nvSpPr>
          <p:cNvPr id="96" name="" descr="{&quot;isTemplate&quot;:true,&quot;type&quot;:&quot;text&quot;}"/>
          <p:cNvSpPr txBox="1"/>
          <p:nvPr/>
        </p:nvSpPr>
        <p:spPr>
          <a:xfrm rot="0" flipH="0" flipV="0">
            <a:off x="4867275" y="3333750"/>
            <a:ext cx="654367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接口实测</a:t>
            </a:r>
            <a:r>
              <a:rPr lang="en-US" sz="788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1.36 </a:t>
            </a: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秒返回</a:t>
            </a:r>
            <a:endParaRPr/>
          </a:p>
        </p:txBody>
      </p:sp>
      <p:sp>
        <p:nvSpPr>
          <p:cNvPr id="97" name=""/>
          <p:cNvSpPr/>
          <p:nvPr/>
        </p:nvSpPr>
        <p:spPr>
          <a:xfrm rot="0" flipH="0" flipV="0">
            <a:off x="647700" y="4067175"/>
            <a:ext cx="10972800" cy="1343025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98" name=""/>
          <p:cNvSpPr/>
          <p:nvPr/>
        </p:nvSpPr>
        <p:spPr>
          <a:xfrm rot="0" flipH="0" flipV="0">
            <a:off x="647700" y="4067175"/>
            <a:ext cx="10972800" cy="1343025"/>
          </a:xfrm>
          <a:custGeom>
            <a:pathLst>
              <a:path w="1152" h="141">
                <a:moveTo>
                  <a:pt x="11" y="0"/>
                </a:moveTo>
                <a:cubicBezTo>
                  <a:pt x="7" y="0"/>
                  <a:pt x="4" y="4"/>
                  <a:pt x="4" y="8"/>
                </a:cubicBezTo>
                <a:lnTo>
                  <a:pt x="4" y="133"/>
                </a:lnTo>
                <a:cubicBezTo>
                  <a:pt x="4" y="137"/>
                  <a:pt x="7" y="140"/>
                  <a:pt x="10" y="141"/>
                </a:cubicBezTo>
                <a:cubicBezTo>
                  <a:pt x="4" y="140"/>
                  <a:pt x="0" y="135"/>
                  <a:pt x="0" y="129"/>
                </a:cubicBezTo>
                <a:lnTo>
                  <a:pt x="0" y="12"/>
                </a:lnTo>
                <a:cubicBezTo>
                  <a:pt x="0" y="6"/>
                  <a:pt x="5" y="0"/>
                  <a:pt x="12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99" name="" descr="{&quot;isTemplate&quot;:true,&quot;type&quot;:&quot;text&quot;}"/>
          <p:cNvSpPr txBox="1"/>
          <p:nvPr/>
        </p:nvSpPr>
        <p:spPr>
          <a:xfrm rot="0" flipH="0" flipV="0">
            <a:off x="857250" y="4619625"/>
            <a:ext cx="1485900" cy="247650"/>
          </a:xfrm>
          <a:prstGeom prst="rect"/>
        </p:spPr>
        <p:txBody>
          <a:bodyPr wrap="none" lIns="0" tIns="0" rIns="0" bIns="0"/>
          <a:p>
            <a:pPr>
              <a:lnSpc>
                <a:spcPct val="135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一家门店的数据采集</a:t>
            </a:r>
            <a:endParaRPr/>
          </a:p>
        </p:txBody>
      </p:sp>
      <p:sp>
        <p:nvSpPr>
          <p:cNvPr id="100" name="" descr="{&quot;isTemplate&quot;:true,&quot;type&quot;:&quot;text&quot;}"/>
          <p:cNvSpPr txBox="1"/>
          <p:nvPr/>
        </p:nvSpPr>
        <p:spPr>
          <a:xfrm rot="0" flipH="0" flipV="0">
            <a:off x="2552700" y="4514850"/>
            <a:ext cx="219075" cy="4572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000" b="1">
                <a:solidFill>
                  <a:srgbClr val="B9C6DC"/>
                </a:solidFill>
                <a:latin typeface="Arial"/>
                <a:ea typeface="Arial"/>
              </a:rPr>
              <a:t>7</a:t>
            </a:r>
            <a:endParaRPr/>
          </a:p>
        </p:txBody>
      </p:sp>
      <p:sp>
        <p:nvSpPr>
          <p:cNvPr id="101" name="" descr="{&quot;isTemplate&quot;:true,&quot;type&quot;:&quot;text&quot;}"/>
          <p:cNvSpPr txBox="1"/>
          <p:nvPr/>
        </p:nvSpPr>
        <p:spPr>
          <a:xfrm rot="0" flipH="0" flipV="0">
            <a:off x="2838450" y="4648200"/>
            <a:ext cx="247650" cy="1524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75">
                <a:solidFill>
                  <a:srgbClr val="B9C6DC"/>
                </a:solidFill>
                <a:latin typeface="Microsoft YaHei"/>
                <a:ea typeface="Microsoft YaHei"/>
              </a:rPr>
              <a:t>张表</a:t>
            </a:r>
            <a:endParaRPr/>
          </a:p>
        </p:txBody>
      </p:sp>
      <p:sp>
        <p:nvSpPr>
          <p:cNvPr id="102" name=""/>
          <p:cNvSpPr/>
          <p:nvPr/>
        </p:nvSpPr>
        <p:spPr>
          <a:xfrm rot="0" flipH="0" flipV="0">
            <a:off x="3295650" y="4581525"/>
            <a:ext cx="323850" cy="323850"/>
          </a:xfrm>
          <a:prstGeom prst="roundRect">
            <a:avLst>
              <a:gd name="adj" fmla="val 50000"/>
            </a:avLst>
          </a:prstGeom>
          <a:solidFill>
            <a:srgbClr val="1B5FD9">
              <a:alpha val="9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03" name="" descr="{&quot;isTemplate&quot;:true,&quot;type&quot;:&quot;text&quot;}"/>
          <p:cNvSpPr txBox="1"/>
          <p:nvPr/>
        </p:nvSpPr>
        <p:spPr>
          <a:xfrm rot="0" flipH="0" flipV="0">
            <a:off x="3381375" y="4648200"/>
            <a:ext cx="152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sz="1200" b="1">
                <a:solidFill>
                  <a:srgbClr val="1B5FD9"/>
                </a:solidFill>
                <a:latin typeface="Microsoft YaHei"/>
                <a:ea typeface="Microsoft YaHei"/>
              </a:rPr>
              <a:t>→</a:t>
            </a:r>
            <a:endParaRPr/>
          </a:p>
        </p:txBody>
      </p:sp>
      <p:sp>
        <p:nvSpPr>
          <p:cNvPr id="104" name="" descr="{&quot;isTemplate&quot;:true,&quot;type&quot;:&quot;text&quot;}"/>
          <p:cNvSpPr txBox="1"/>
          <p:nvPr/>
        </p:nvSpPr>
        <p:spPr>
          <a:xfrm rot="0" flipH="0" flipV="0">
            <a:off x="3829050" y="4438650"/>
            <a:ext cx="276225" cy="6000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3900" b="1">
                <a:solidFill>
                  <a:srgbClr val="1B5FD9"/>
                </a:solidFill>
                <a:latin typeface="Arial"/>
                <a:ea typeface="Arial"/>
              </a:rPr>
              <a:t>7</a:t>
            </a:r>
            <a:endParaRPr/>
          </a:p>
        </p:txBody>
      </p:sp>
      <p:sp>
        <p:nvSpPr>
          <p:cNvPr id="105" name="" descr="{&quot;isTemplate&quot;:true,&quot;type&quot;:&quot;text&quot;}"/>
          <p:cNvSpPr txBox="1"/>
          <p:nvPr/>
        </p:nvSpPr>
        <p:spPr>
          <a:xfrm rot="0" flipH="0" flipV="0">
            <a:off x="4152900" y="4819650"/>
            <a:ext cx="26670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 b="1">
                <a:solidFill>
                  <a:srgbClr val="1B5FD9"/>
                </a:solidFill>
                <a:latin typeface="Microsoft YaHei"/>
                <a:ea typeface="Microsoft YaHei"/>
              </a:rPr>
              <a:t>张图</a:t>
            </a:r>
            <a:endParaRPr/>
          </a:p>
        </p:txBody>
      </p:sp>
      <p:sp>
        <p:nvSpPr>
          <p:cNvPr id="106" name="" descr="{&quot;isTemplate&quot;:true,&quot;type&quot;:&quot;text&quot;}"/>
          <p:cNvSpPr txBox="1"/>
          <p:nvPr/>
        </p:nvSpPr>
        <p:spPr>
          <a:xfrm rot="0" flipH="0" flipV="0">
            <a:off x="4705350" y="4543425"/>
            <a:ext cx="6705600" cy="228600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900">
                <a:solidFill>
                  <a:srgbClr val="5A6B8C"/>
                </a:solidFill>
                <a:latin typeface="Microsoft YaHei"/>
                <a:ea typeface="Microsoft YaHei"/>
              </a:rPr>
              <a:t>同样七个界面，但不用再逐项抄字段：上传截图即可，识别结果可直接校对修改</a:t>
            </a:r>
            <a:endParaRPr/>
          </a:p>
        </p:txBody>
      </p:sp>
      <p:sp>
        <p:nvSpPr>
          <p:cNvPr id="107" name="" descr="{&quot;isTemplate&quot;:true,&quot;type&quot;:&quot;text&quot;}"/>
          <p:cNvSpPr txBox="1"/>
          <p:nvPr/>
        </p:nvSpPr>
        <p:spPr>
          <a:xfrm rot="0" flipH="0" flipV="0">
            <a:off x="4705350" y="4819650"/>
            <a:ext cx="67056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>
                <a:solidFill>
                  <a:srgbClr val="1B5FD9"/>
                </a:solidFill>
                <a:latin typeface="Microsoft YaHei"/>
                <a:ea typeface="Microsoft YaHei"/>
              </a:rPr>
              <a:t>含移动端拍照上传</a:t>
            </a:r>
            <a:endParaRPr/>
          </a:p>
        </p:txBody>
      </p:sp>
      <p:sp>
        <p:nvSpPr>
          <p:cNvPr id="108" name=""/>
          <p:cNvSpPr/>
          <p:nvPr/>
        </p:nvSpPr>
        <p:spPr>
          <a:xfrm rot="0" flipH="0" flipV="0">
            <a:off x="609600" y="5829300"/>
            <a:ext cx="10972800" cy="533400"/>
          </a:xfrm>
          <a:prstGeom prst="roundRect">
            <a:avLst>
              <a:gd name="adj" fmla="val 16071"/>
            </a:avLst>
          </a:prstGeom>
          <a:gradFill>
            <a:gsLst>
              <a:gs pos="0">
                <a:srgbClr val="1B5FD9">
                  <a:alpha val="10000"/>
                </a:srgbClr>
              </a:gs>
              <a:gs pos="100000">
                <a:srgbClr val="35C8F0">
                  <a:alpha val="10000"/>
                </a:srgbClr>
              </a:gs>
            </a:gsLst>
            <a:lin ang="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09" name=""/>
          <p:cNvSpPr/>
          <p:nvPr/>
        </p:nvSpPr>
        <p:spPr>
          <a:xfrm rot="0" flipH="0" flipV="0">
            <a:off x="800100" y="6067425"/>
            <a:ext cx="66675" cy="66675"/>
          </a:xfrm>
          <a:prstGeom prst="roundRect">
            <a:avLst>
              <a:gd name="adj" fmla="val 57143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10" name="" descr="{&quot;isTemplate&quot;:true,&quot;type&quot;:&quot;text&quot;}"/>
          <p:cNvSpPr txBox="1"/>
          <p:nvPr/>
        </p:nvSpPr>
        <p:spPr>
          <a:xfrm rot="0" flipH="0" flipV="0">
            <a:off x="1000125" y="5981700"/>
            <a:ext cx="10391775" cy="228600"/>
          </a:xfrm>
          <a:prstGeom prst="rect"/>
        </p:spPr>
        <p:txBody>
          <a:bodyPr wrap="none" lIns="0" tIns="0" rIns="0" bIns="0"/>
          <a:p>
            <a:pPr>
              <a:lnSpc>
                <a:spcPct val="150000"/>
              </a:lnSpc>
            </a:pPr>
            <a:r>
              <a:rPr lang="zh-CN" sz="975">
                <a:solidFill>
                  <a:srgbClr val="0B2A6B"/>
                </a:solidFill>
                <a:latin typeface="Microsoft YaHei"/>
                <a:ea typeface="Microsoft YaHei"/>
              </a:rPr>
              <a:t>省下来的不是时间本身，是门店愿意持续做这件事的可能性——运营动作频次上去了，数据才有得看。</a:t>
            </a:r>
            <a:endParaRPr/>
          </a:p>
        </p:txBody>
      </p:sp>
      <p:sp>
        <p:nvSpPr>
          <p:cNvPr id="111" name="" descr="{&quot;isTemplate&quot;:true,&quot;type&quot;:&quot;text&quot;}"/>
          <p:cNvSpPr txBox="1"/>
          <p:nvPr/>
        </p:nvSpPr>
        <p:spPr>
          <a:xfrm rot="0" flipH="0" flipV="0">
            <a:off x="609600" y="654367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112" name="" descr="{&quot;isTemplate&quot;:true,&quot;type&quot;:&quot;text&quot;}"/>
          <p:cNvSpPr txBox="1"/>
          <p:nvPr/>
        </p:nvSpPr>
        <p:spPr>
          <a:xfrm rot="0" flipH="0" flipV="0">
            <a:off x="11220450" y="6543675"/>
            <a:ext cx="3619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11 / 15</a:t>
            </a:r>
            <a:endParaRPr/>
          </a:p>
        </p:txBody>
      </p:sp>
    </p:spTree>
  </p:cSld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1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115" name=""/>
          <p:cNvSpPr/>
          <p:nvPr/>
        </p:nvSpPr>
        <p:spPr>
          <a:xfrm rot="0" flipH="0" flipV="0">
            <a:off x="609600" y="39052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16" name="" descr="{&quot;isTemplate&quot;:true,&quot;type&quot;:&quot;text&quot;}"/>
          <p:cNvSpPr txBox="1"/>
          <p:nvPr/>
        </p:nvSpPr>
        <p:spPr>
          <a:xfrm rot="0" flipH="0" flipV="0">
            <a:off x="819150" y="266700"/>
            <a:ext cx="3095625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先跑通</a:t>
            </a: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家，再谈铺开</a:t>
            </a:r>
            <a:endParaRPr/>
          </a:p>
        </p:txBody>
      </p:sp>
      <p:sp>
        <p:nvSpPr>
          <p:cNvPr id="117" name="" descr="{&quot;isTemplate&quot;:true,&quot;type&quot;:&quot;text&quot;}"/>
          <p:cNvSpPr txBox="1"/>
          <p:nvPr/>
        </p:nvSpPr>
        <p:spPr>
          <a:xfrm rot="0" flipH="0" flipV="0">
            <a:off x="819150" y="714375"/>
            <a:ext cx="30956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辽宁打样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区域复制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→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集团打通，三级推进</a:t>
            </a:r>
            <a:endParaRPr/>
          </a:p>
        </p:txBody>
      </p:sp>
      <p:pic>
        <p:nvPicPr>
          <p:cNvPr id="118" name=""/>
          <p:cNvPicPr>
            <a:picLocks noChangeAspect="1"/>
          </p:cNvPicPr>
          <p:nvPr/>
        </p:nvPicPr>
        <p:blipFill>
          <a:blip r:embed="rId1">
            <a:alphaModFix amt="55000"/>
          </a:blip>
          <a:srcRect l="0" t="110" r="0" b="110"/>
          <a:stretch>
            <a:fillRect/>
          </a:stretch>
        </p:blipFill>
        <p:spPr>
          <a:xfrm rot="0" flipH="0" flipV="0">
            <a:off x="10515600" y="285750"/>
            <a:ext cx="1066800" cy="457200"/>
          </a:xfrm>
          <a:prstGeom prst="rect">
            <a:avLst/>
          </a:prstGeom>
          <a:ln/>
        </p:spPr>
      </p:pic>
      <p:sp>
        <p:nvSpPr>
          <p:cNvPr id="119" name=""/>
          <p:cNvSpPr/>
          <p:nvPr/>
        </p:nvSpPr>
        <p:spPr>
          <a:xfrm rot="0" flipH="0" flipV="0">
            <a:off x="657225" y="1009650"/>
            <a:ext cx="6172200" cy="1409700"/>
          </a:xfrm>
          <a:prstGeom prst="roundRect">
            <a:avLst>
              <a:gd name="adj" fmla="val 7432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20" name=""/>
          <p:cNvSpPr/>
          <p:nvPr/>
        </p:nvSpPr>
        <p:spPr>
          <a:xfrm rot="0" flipH="0" flipV="0">
            <a:off x="657225" y="1009650"/>
            <a:ext cx="6172200" cy="1409700"/>
          </a:xfrm>
          <a:custGeom>
            <a:pathLst>
              <a:path w="648" h="148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142"/>
                </a:lnTo>
                <a:cubicBezTo>
                  <a:pt x="5" y="145"/>
                  <a:pt x="7" y="147"/>
                  <a:pt x="10" y="148"/>
                </a:cubicBezTo>
                <a:cubicBezTo>
                  <a:pt x="4" y="147"/>
                  <a:pt x="0" y="143"/>
                  <a:pt x="0" y="137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1" name=""/>
          <p:cNvSpPr/>
          <p:nvPr/>
        </p:nvSpPr>
        <p:spPr>
          <a:xfrm rot="0" flipH="0" flipV="0">
            <a:off x="847725" y="1409700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2" name="" descr="{&quot;isTemplate&quot;:true,&quot;type&quot;:&quot;text&quot;}"/>
          <p:cNvSpPr txBox="1"/>
          <p:nvPr/>
        </p:nvSpPr>
        <p:spPr>
          <a:xfrm rot="0" flipH="0" flipV="0">
            <a:off x="923925" y="14287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第一阶段</a:t>
            </a:r>
            <a:endParaRPr/>
          </a:p>
        </p:txBody>
      </p:sp>
      <p:sp>
        <p:nvSpPr>
          <p:cNvPr id="123" name="" descr="{&quot;isTemplate&quot;:true,&quot;type&quot;:&quot;text&quot;}"/>
          <p:cNvSpPr txBox="1"/>
          <p:nvPr/>
        </p:nvSpPr>
        <p:spPr>
          <a:xfrm rot="0" flipH="0" flipV="0">
            <a:off x="1476375" y="1390650"/>
            <a:ext cx="10477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辽宁</a:t>
            </a:r>
            <a:r>
              <a:rPr lang="en-US" sz="120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28 </a:t>
            </a: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家打样</a:t>
            </a:r>
            <a:endParaRPr/>
          </a:p>
        </p:txBody>
      </p:sp>
      <p:sp>
        <p:nvSpPr>
          <p:cNvPr id="124" name="" descr="{&quot;isTemplate&quot;:true,&quot;type&quot;:&quot;text&quot;}"/>
          <p:cNvSpPr txBox="1"/>
          <p:nvPr/>
        </p:nvSpPr>
        <p:spPr>
          <a:xfrm rot="0" flipH="0" flipV="0">
            <a:off x="847725" y="1638300"/>
            <a:ext cx="5743575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先让沈阳、盘锦直营门诊跑满一个完整月度周期，把截图采集流程和诊断口径固定下来</a:t>
            </a:r>
            <a:endParaRPr/>
          </a:p>
        </p:txBody>
      </p:sp>
      <p:sp>
        <p:nvSpPr>
          <p:cNvPr id="125" name=""/>
          <p:cNvSpPr/>
          <p:nvPr/>
        </p:nvSpPr>
        <p:spPr>
          <a:xfrm rot="0" flipH="0" flipV="0">
            <a:off x="847725" y="19621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26" name="" descr="{&quot;isTemplate&quot;:true,&quot;type&quot;:&quot;text&quot;}"/>
          <p:cNvSpPr txBox="1"/>
          <p:nvPr/>
        </p:nvSpPr>
        <p:spPr>
          <a:xfrm rot="0" flipH="0" flipV="0">
            <a:off x="952500" y="1924050"/>
            <a:ext cx="962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38">
                <a:solidFill>
                  <a:srgbClr val="1B5FD9"/>
                </a:solidFill>
                <a:latin typeface="Microsoft YaHei"/>
                <a:ea typeface="Microsoft YaHei"/>
              </a:rPr>
              <a:t>口径定型</a:t>
            </a:r>
            <a:r>
              <a:rPr lang="en-US" sz="788" b="1" spc="38">
                <a:solidFill>
                  <a:srgbClr val="1B5F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 b="1" spc="38">
                <a:solidFill>
                  <a:srgbClr val="1B5FD9"/>
                </a:solidFill>
                <a:latin typeface="Microsoft YaHei"/>
                <a:ea typeface="Microsoft YaHei"/>
              </a:rPr>
              <a:t>流程跑顺</a:t>
            </a:r>
            <a:endParaRPr/>
          </a:p>
        </p:txBody>
      </p:sp>
      <p:sp>
        <p:nvSpPr>
          <p:cNvPr id="127" name=""/>
          <p:cNvSpPr/>
          <p:nvPr/>
        </p:nvSpPr>
        <p:spPr>
          <a:xfrm rot="0" flipH="0" flipV="0">
            <a:off x="657225" y="2514600"/>
            <a:ext cx="6172200" cy="1771650"/>
          </a:xfrm>
          <a:prstGeom prst="roundRect">
            <a:avLst>
              <a:gd name="adj" fmla="val 5914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28" name=""/>
          <p:cNvSpPr/>
          <p:nvPr/>
        </p:nvSpPr>
        <p:spPr>
          <a:xfrm rot="0" flipH="0" flipV="0">
            <a:off x="657225" y="2514600"/>
            <a:ext cx="6172200" cy="1771650"/>
          </a:xfrm>
          <a:custGeom>
            <a:pathLst>
              <a:path w="648" h="186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180"/>
                </a:lnTo>
                <a:cubicBezTo>
                  <a:pt x="5" y="183"/>
                  <a:pt x="7" y="185"/>
                  <a:pt x="10" y="186"/>
                </a:cubicBezTo>
                <a:cubicBezTo>
                  <a:pt x="4" y="185"/>
                  <a:pt x="0" y="181"/>
                  <a:pt x="0" y="175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2E86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29" name=""/>
          <p:cNvSpPr/>
          <p:nvPr/>
        </p:nvSpPr>
        <p:spPr>
          <a:xfrm rot="0" flipH="0" flipV="0">
            <a:off x="847725" y="3095625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2E86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0" name="" descr="{&quot;isTemplate&quot;:true,&quot;type&quot;:&quot;text&quot;}"/>
          <p:cNvSpPr txBox="1"/>
          <p:nvPr/>
        </p:nvSpPr>
        <p:spPr>
          <a:xfrm rot="0" flipH="0" flipV="0">
            <a:off x="923925" y="3114675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第二阶段</a:t>
            </a:r>
            <a:endParaRPr/>
          </a:p>
        </p:txBody>
      </p:sp>
      <p:sp>
        <p:nvSpPr>
          <p:cNvPr id="131" name="" descr="{&quot;isTemplate&quot;:true,&quot;type&quot;:&quot;text&quot;}"/>
          <p:cNvSpPr txBox="1"/>
          <p:nvPr/>
        </p:nvSpPr>
        <p:spPr>
          <a:xfrm rot="0" flipH="0" flipV="0">
            <a:off x="1476375" y="3076575"/>
            <a:ext cx="6096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大区复制</a:t>
            </a:r>
            <a:endParaRPr/>
          </a:p>
        </p:txBody>
      </p:sp>
      <p:sp>
        <p:nvSpPr>
          <p:cNvPr id="132" name="" descr="{&quot;isTemplate&quot;:true,&quot;type&quot;:&quot;text&quot;}"/>
          <p:cNvSpPr txBox="1"/>
          <p:nvPr/>
        </p:nvSpPr>
        <p:spPr>
          <a:xfrm rot="0" flipH="0" flipV="0">
            <a:off x="847725" y="3324225"/>
            <a:ext cx="5743575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把模板、话术库、评分口径做成可下发的配置，其他省区不再重头搭一遍</a:t>
            </a:r>
            <a:endParaRPr/>
          </a:p>
        </p:txBody>
      </p:sp>
      <p:sp>
        <p:nvSpPr>
          <p:cNvPr id="133" name=""/>
          <p:cNvSpPr/>
          <p:nvPr/>
        </p:nvSpPr>
        <p:spPr>
          <a:xfrm rot="0" flipH="0" flipV="0">
            <a:off x="847725" y="3648075"/>
            <a:ext cx="47625" cy="47625"/>
          </a:xfrm>
          <a:prstGeom prst="roundRect">
            <a:avLst>
              <a:gd name="adj" fmla="val 60000"/>
            </a:avLst>
          </a:prstGeom>
          <a:solidFill>
            <a:srgbClr val="2E86E8"/>
          </a:solidFill>
          <a:ln/>
        </p:spPr>
        <p:txBody>
          <a:bodyPr/>
          <a:p>
            <a:pPr/>
            <a:endParaRPr/>
          </a:p>
        </p:txBody>
      </p:sp>
      <p:sp>
        <p:nvSpPr>
          <p:cNvPr id="134" name="" descr="{&quot;isTemplate&quot;:true,&quot;type&quot;:&quot;text&quot;}"/>
          <p:cNvSpPr txBox="1"/>
          <p:nvPr/>
        </p:nvSpPr>
        <p:spPr>
          <a:xfrm rot="0" flipH="0" flipV="0">
            <a:off x="952500" y="3609975"/>
            <a:ext cx="1066800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38">
                <a:solidFill>
                  <a:srgbClr val="2E86E8"/>
                </a:solidFill>
                <a:latin typeface="Microsoft YaHei"/>
                <a:ea typeface="Microsoft YaHei"/>
              </a:rPr>
              <a:t>配置下发</a:t>
            </a:r>
            <a:r>
              <a:rPr lang="en-US" sz="788" b="1" spc="38">
                <a:solidFill>
                  <a:srgbClr val="2E86E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 b="1" spc="38">
                <a:solidFill>
                  <a:srgbClr val="2E86E8"/>
                </a:solidFill>
                <a:latin typeface="Microsoft YaHei"/>
                <a:ea typeface="Microsoft YaHei"/>
              </a:rPr>
              <a:t>无需重开发</a:t>
            </a:r>
            <a:endParaRPr/>
          </a:p>
        </p:txBody>
      </p:sp>
      <p:sp>
        <p:nvSpPr>
          <p:cNvPr id="135" name=""/>
          <p:cNvSpPr/>
          <p:nvPr/>
        </p:nvSpPr>
        <p:spPr>
          <a:xfrm rot="0" flipH="0" flipV="0">
            <a:off x="657225" y="4381500"/>
            <a:ext cx="6172200" cy="2133600"/>
          </a:xfrm>
          <a:prstGeom prst="roundRect">
            <a:avLst>
              <a:gd name="adj" fmla="val 491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36" name=""/>
          <p:cNvSpPr/>
          <p:nvPr/>
        </p:nvSpPr>
        <p:spPr>
          <a:xfrm rot="0" flipH="0" flipV="0">
            <a:off x="657225" y="4381500"/>
            <a:ext cx="6172200" cy="2133600"/>
          </a:xfrm>
          <a:custGeom>
            <a:pathLst>
              <a:path w="648" h="224">
                <a:moveTo>
                  <a:pt x="10" y="0"/>
                </a:moveTo>
                <a:cubicBezTo>
                  <a:pt x="7" y="0"/>
                  <a:pt x="5" y="3"/>
                  <a:pt x="5" y="6"/>
                </a:cubicBezTo>
                <a:lnTo>
                  <a:pt x="5" y="218"/>
                </a:lnTo>
                <a:cubicBezTo>
                  <a:pt x="5" y="221"/>
                  <a:pt x="7" y="223"/>
                  <a:pt x="10" y="224"/>
                </a:cubicBezTo>
                <a:cubicBezTo>
                  <a:pt x="4" y="223"/>
                  <a:pt x="0" y="219"/>
                  <a:pt x="0" y="213"/>
                </a:cubicBezTo>
                <a:lnTo>
                  <a:pt x="0" y="11"/>
                </a:lnTo>
                <a:cubicBezTo>
                  <a:pt x="0" y="5"/>
                  <a:pt x="5" y="0"/>
                  <a:pt x="11" y="0"/>
                </a:cubicBez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37" name=""/>
          <p:cNvSpPr/>
          <p:nvPr/>
        </p:nvSpPr>
        <p:spPr>
          <a:xfrm rot="0" flipH="0" flipV="0">
            <a:off x="847725" y="5143500"/>
            <a:ext cx="533400" cy="152400"/>
          </a:xfrm>
          <a:prstGeom prst="roundRect">
            <a:avLst>
              <a:gd name="adj" fmla="val 25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38" name="" descr="{&quot;isTemplate&quot;:true,&quot;type&quot;:&quot;text&quot;}"/>
          <p:cNvSpPr txBox="1"/>
          <p:nvPr/>
        </p:nvSpPr>
        <p:spPr>
          <a:xfrm rot="0" flipH="0" flipV="0">
            <a:off x="923925" y="5162550"/>
            <a:ext cx="38100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FFFFFF"/>
                </a:solidFill>
                <a:latin typeface="Microsoft YaHei"/>
                <a:ea typeface="Microsoft YaHei"/>
              </a:rPr>
              <a:t>第三阶段</a:t>
            </a:r>
            <a:endParaRPr/>
          </a:p>
        </p:txBody>
      </p:sp>
      <p:sp>
        <p:nvSpPr>
          <p:cNvPr id="139" name="" descr="{&quot;isTemplate&quot;:true,&quot;type&quot;:&quot;text&quot;}"/>
          <p:cNvSpPr txBox="1"/>
          <p:nvPr/>
        </p:nvSpPr>
        <p:spPr>
          <a:xfrm rot="0" flipH="0" flipV="0">
            <a:off x="1476375" y="5124450"/>
            <a:ext cx="91440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集团数据打通</a:t>
            </a:r>
            <a:endParaRPr/>
          </a:p>
        </p:txBody>
      </p:sp>
      <p:sp>
        <p:nvSpPr>
          <p:cNvPr id="140" name="" descr="{&quot;isTemplate&quot;:true,&quot;type&quot;:&quot;text&quot;}"/>
          <p:cNvSpPr txBox="1"/>
          <p:nvPr/>
        </p:nvSpPr>
        <p:spPr>
          <a:xfrm rot="0" flipH="0" flipV="0">
            <a:off x="847725" y="5372100"/>
            <a:ext cx="5743575" cy="219075"/>
          </a:xfrm>
          <a:prstGeom prst="rect"/>
        </p:spPr>
        <p:txBody>
          <a:bodyPr wrap="none" lIns="0" tIns="0" rIns="0" bIns="0"/>
          <a:p>
            <a:pPr>
              <a:lnSpc>
                <a:spcPct val="165000"/>
              </a:lnSpc>
            </a:pP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接入集团经营看板，与</a:t>
            </a:r>
            <a:r>
              <a:rPr lang="en-US" sz="863">
                <a:solidFill>
                  <a:srgbClr val="5A6B8C"/>
                </a:solidFill>
                <a:latin typeface="Microsoft YaHei"/>
                <a:ea typeface="Microsoft YaHei"/>
              </a:rPr>
              <a:t xml:space="preserve"> Ahis </a:t>
            </a:r>
            <a:r>
              <a:rPr lang="zh-CN" sz="863">
                <a:solidFill>
                  <a:srgbClr val="5A6B8C"/>
                </a:solidFill>
                <a:latin typeface="Microsoft YaHei"/>
                <a:ea typeface="Microsoft YaHei"/>
              </a:rPr>
              <a:t>周报、月会口径对齐，让美团数据进到经营会议题里</a:t>
            </a:r>
            <a:endParaRPr/>
          </a:p>
        </p:txBody>
      </p:sp>
      <p:sp>
        <p:nvSpPr>
          <p:cNvPr id="141" name=""/>
          <p:cNvSpPr/>
          <p:nvPr/>
        </p:nvSpPr>
        <p:spPr>
          <a:xfrm rot="0" flipH="0" flipV="0">
            <a:off x="847725" y="5695950"/>
            <a:ext cx="47625" cy="47625"/>
          </a:xfrm>
          <a:prstGeom prst="roundRect">
            <a:avLst>
              <a:gd name="adj" fmla="val 6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42" name="" descr="{&quot;isTemplate&quot;:true,&quot;type&quot;:&quot;text&quot;}"/>
          <p:cNvSpPr txBox="1"/>
          <p:nvPr/>
        </p:nvSpPr>
        <p:spPr>
          <a:xfrm rot="0" flipH="0" flipV="0">
            <a:off x="952500" y="5657850"/>
            <a:ext cx="962025" cy="1238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88" b="1" spc="38">
                <a:solidFill>
                  <a:srgbClr val="35C8F0"/>
                </a:solidFill>
                <a:latin typeface="Microsoft YaHei"/>
                <a:ea typeface="Microsoft YaHei"/>
              </a:rPr>
              <a:t>口径对齐</a:t>
            </a:r>
            <a:r>
              <a:rPr lang="en-US" sz="788" b="1" spc="38">
                <a:solidFill>
                  <a:srgbClr val="35C8F0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788" b="1" spc="38">
                <a:solidFill>
                  <a:srgbClr val="35C8F0"/>
                </a:solidFill>
                <a:latin typeface="Microsoft YaHei"/>
                <a:ea typeface="Microsoft YaHei"/>
              </a:rPr>
              <a:t>进经营会</a:t>
            </a:r>
            <a:endParaRPr/>
          </a:p>
        </p:txBody>
      </p:sp>
      <p:sp>
        <p:nvSpPr>
          <p:cNvPr id="143" name=""/>
          <p:cNvSpPr/>
          <p:nvPr/>
        </p:nvSpPr>
        <p:spPr>
          <a:xfrm rot="0" flipH="0" flipV="0">
            <a:off x="6953250" y="1009650"/>
            <a:ext cx="4629150" cy="2514600"/>
          </a:xfrm>
          <a:prstGeom prst="roundRect">
            <a:avLst>
              <a:gd name="adj" fmla="val 3788"/>
            </a:avLst>
          </a:prstGeom>
          <a:solidFill>
            <a:srgbClr val="FFFFFF"/>
          </a:solidFill>
          <a:ln w="12700">
            <a:solidFill>
              <a:srgbClr val="1B5FD9">
                <a:alpha val="12000"/>
              </a:srgbClr>
            </a:solidFill>
            <a:prstDash val="solid"/>
          </a:ln>
          <a:effectLst>
            <a:outerShdw blurRad="171450" dist="38100" dir="5400000">
              <a:srgbClr val="0B2A6B">
                <a:alpha val="10000"/>
              </a:srgbClr>
            </a:outerShdw>
          </a:effectLst>
        </p:spPr>
        <p:txBody>
          <a:bodyPr/>
          <a:p>
            <a:pPr/>
            <a:endParaRPr/>
          </a:p>
        </p:txBody>
      </p:sp>
      <p:pic>
        <p:nvPicPr>
          <p:cNvPr id="144" name=""/>
          <p:cNvPicPr>
            <a:picLocks noChangeAspect="1"/>
          </p:cNvPicPr>
          <p:nvPr/>
        </p:nvPicPr>
        <p:blipFill>
          <a:blip r:embed="rId2"/>
          <a:srcRect l="0" t="7627" r="0" b="7627"/>
          <a:stretch>
            <a:fillRect/>
          </a:stretch>
        </p:blipFill>
        <p:spPr>
          <a:xfrm rot="0" flipH="0" flipV="0">
            <a:off x="7019925" y="1076325"/>
            <a:ext cx="4495800" cy="2381250"/>
          </a:xfrm>
          <a:prstGeom prst="roundRect">
            <a:avLst>
              <a:gd name="adj" fmla="val 2400"/>
            </a:avLst>
          </a:prstGeom>
          <a:ln/>
        </p:spPr>
      </p:pic>
      <p:sp>
        <p:nvSpPr>
          <p:cNvPr id="145" name="" descr="{&quot;isTemplate&quot;:true,&quot;type&quot;:&quot;text&quot;}"/>
          <p:cNvSpPr txBox="1"/>
          <p:nvPr/>
        </p:nvSpPr>
        <p:spPr>
          <a:xfrm rot="0" flipH="0" flipV="0">
            <a:off x="6953250" y="3619500"/>
            <a:ext cx="46291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复制时真正要带走的三样东西</a:t>
            </a:r>
            <a:endParaRPr/>
          </a:p>
        </p:txBody>
      </p:sp>
      <p:sp>
        <p:nvSpPr>
          <p:cNvPr id="146" name=""/>
          <p:cNvSpPr/>
          <p:nvPr/>
        </p:nvSpPr>
        <p:spPr>
          <a:xfrm rot="0" flipH="0" flipV="0">
            <a:off x="6953250" y="3848100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47" name="" descr="{&quot;isTemplate&quot;:true,&quot;type&quot;:&quot;text&quot;}"/>
          <p:cNvSpPr txBox="1"/>
          <p:nvPr/>
        </p:nvSpPr>
        <p:spPr>
          <a:xfrm rot="0" flipH="0" flipV="0">
            <a:off x="7086600" y="406717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/>
                <a:ea typeface="Arial"/>
              </a:rPr>
              <a:t>01</a:t>
            </a:r>
            <a:endParaRPr/>
          </a:p>
        </p:txBody>
      </p:sp>
      <p:sp>
        <p:nvSpPr>
          <p:cNvPr id="148" name="" descr="{&quot;isTemplate&quot;:true,&quot;type&quot;:&quot;text&quot;}"/>
          <p:cNvSpPr txBox="1"/>
          <p:nvPr/>
        </p:nvSpPr>
        <p:spPr>
          <a:xfrm rot="0" flipH="0" flipV="0">
            <a:off x="7439025" y="4010025"/>
            <a:ext cx="401002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模板</a:t>
            </a:r>
            <a:endParaRPr/>
          </a:p>
        </p:txBody>
      </p:sp>
      <p:sp>
        <p:nvSpPr>
          <p:cNvPr id="149" name="" descr="{&quot;isTemplate&quot;:true,&quot;type&quot;:&quot;text&quot;}"/>
          <p:cNvSpPr txBox="1"/>
          <p:nvPr/>
        </p:nvSpPr>
        <p:spPr>
          <a:xfrm rot="0" flipH="0" flipV="0">
            <a:off x="7439025" y="4200525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7A8AAA"/>
                </a:solidFill>
                <a:latin typeface="Microsoft YaHei"/>
                <a:ea typeface="Microsoft YaHei"/>
              </a:rPr>
              <a:t>总部分月下发的品牌视觉与文案结构</a:t>
            </a:r>
            <a:endParaRPr/>
          </a:p>
        </p:txBody>
      </p:sp>
      <p:sp>
        <p:nvSpPr>
          <p:cNvPr id="150" name=""/>
          <p:cNvSpPr/>
          <p:nvPr/>
        </p:nvSpPr>
        <p:spPr>
          <a:xfrm rot="0" flipH="0" flipV="0">
            <a:off x="6953250" y="4619625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1" name="" descr="{&quot;isTemplate&quot;:true,&quot;type&quot;:&quot;text&quot;}"/>
          <p:cNvSpPr txBox="1"/>
          <p:nvPr/>
        </p:nvSpPr>
        <p:spPr>
          <a:xfrm rot="0" flipH="0" flipV="0">
            <a:off x="7086600" y="4838700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/>
                <a:ea typeface="Arial"/>
              </a:rPr>
              <a:t>02</a:t>
            </a:r>
            <a:endParaRPr/>
          </a:p>
        </p:txBody>
      </p:sp>
      <p:sp>
        <p:nvSpPr>
          <p:cNvPr id="152" name="" descr="{&quot;isTemplate&quot;:true,&quot;type&quot;:&quot;text&quot;}"/>
          <p:cNvSpPr txBox="1"/>
          <p:nvPr/>
        </p:nvSpPr>
        <p:spPr>
          <a:xfrm rot="0" flipH="0" flipV="0">
            <a:off x="7439025" y="4781550"/>
            <a:ext cx="401002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口径</a:t>
            </a:r>
            <a:endParaRPr/>
          </a:p>
        </p:txBody>
      </p:sp>
      <p:sp>
        <p:nvSpPr>
          <p:cNvPr id="153" name="" descr="{&quot;isTemplate&quot;:true,&quot;type&quot;:&quot;text&quot;}"/>
          <p:cNvSpPr txBox="1"/>
          <p:nvPr/>
        </p:nvSpPr>
        <p:spPr>
          <a:xfrm rot="0" flipH="0" flipV="0">
            <a:off x="7439025" y="4972050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7A8AAA"/>
                </a:solidFill>
                <a:latin typeface="Microsoft YaHei"/>
                <a:ea typeface="Microsoft YaHei"/>
              </a:rPr>
              <a:t>评分、转化、价格带的统一算法</a:t>
            </a:r>
            <a:endParaRPr/>
          </a:p>
        </p:txBody>
      </p:sp>
      <p:sp>
        <p:nvSpPr>
          <p:cNvPr id="154" name=""/>
          <p:cNvSpPr/>
          <p:nvPr/>
        </p:nvSpPr>
        <p:spPr>
          <a:xfrm rot="0" flipH="0" flipV="0">
            <a:off x="6953250" y="5391150"/>
            <a:ext cx="4629150" cy="685800"/>
          </a:xfrm>
          <a:prstGeom prst="roundRect">
            <a:avLst>
              <a:gd name="adj" fmla="val 11111"/>
            </a:avLst>
          </a:prstGeom>
          <a:solidFill>
            <a:srgbClr val="1B5FD9">
              <a:alpha val="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55" name="" descr="{&quot;isTemplate&quot;:true,&quot;type&quot;:&quot;text&quot;}"/>
          <p:cNvSpPr txBox="1"/>
          <p:nvPr/>
        </p:nvSpPr>
        <p:spPr>
          <a:xfrm rot="0" flipH="0" flipV="0">
            <a:off x="7086600" y="5610225"/>
            <a:ext cx="247650" cy="2571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1650" b="1">
                <a:solidFill>
                  <a:srgbClr val="1B5FD9"/>
                </a:solidFill>
                <a:latin typeface="Arial"/>
                <a:ea typeface="Arial"/>
              </a:rPr>
              <a:t>03</a:t>
            </a:r>
            <a:endParaRPr/>
          </a:p>
        </p:txBody>
      </p:sp>
      <p:sp>
        <p:nvSpPr>
          <p:cNvPr id="156" name="" descr="{&quot;isTemplate&quot;:true,&quot;type&quot;:&quot;text&quot;}"/>
          <p:cNvSpPr txBox="1"/>
          <p:nvPr/>
        </p:nvSpPr>
        <p:spPr>
          <a:xfrm rot="0" flipH="0" flipV="0">
            <a:off x="7439025" y="5553075"/>
            <a:ext cx="4010025" cy="190500"/>
          </a:xfrm>
          <a:prstGeom prst="rect"/>
        </p:spPr>
        <p:txBody>
          <a:bodyPr wrap="none" lIns="0" tIns="0" rIns="0" bIns="0"/>
          <a:p>
            <a:pPr>
              <a:lnSpc>
                <a:spcPct val="130000"/>
              </a:lnSpc>
            </a:pPr>
            <a:r>
              <a:rPr lang="zh-CN" sz="938" b="1">
                <a:solidFill>
                  <a:srgbClr val="0B2A6B"/>
                </a:solidFill>
                <a:latin typeface="Microsoft YaHei"/>
                <a:ea typeface="Microsoft YaHei"/>
              </a:rPr>
              <a:t>话术库</a:t>
            </a:r>
            <a:endParaRPr/>
          </a:p>
        </p:txBody>
      </p:sp>
      <p:sp>
        <p:nvSpPr>
          <p:cNvPr id="157" name="" descr="{&quot;isTemplate&quot;:true,&quot;type&quot;:&quot;text&quot;}"/>
          <p:cNvSpPr txBox="1"/>
          <p:nvPr/>
        </p:nvSpPr>
        <p:spPr>
          <a:xfrm rot="0" flipH="0" flipV="0">
            <a:off x="7439025" y="5743575"/>
            <a:ext cx="4010025" cy="171450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788">
                <a:solidFill>
                  <a:srgbClr val="7A8AAA"/>
                </a:solidFill>
                <a:latin typeface="Microsoft YaHei"/>
                <a:ea typeface="Microsoft YaHei"/>
              </a:rPr>
              <a:t>差评回复与咨询转化的分场景沉淀</a:t>
            </a:r>
            <a:endParaRPr/>
          </a:p>
        </p:txBody>
      </p:sp>
      <p:sp>
        <p:nvSpPr>
          <p:cNvPr id="158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159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12 / 15</a:t>
            </a:r>
            <a:endParaRPr/>
          </a:p>
        </p:txBody>
      </p:sp>
    </p:spTree>
  </p:cSld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6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pic>
        <p:nvPicPr>
          <p:cNvPr id="162" name=""/>
          <p:cNvPicPr>
            <a:picLocks noChangeAspect="1"/>
          </p:cNvPicPr>
          <p:nvPr/>
        </p:nvPicPr>
        <p:blipFill>
          <a:blip r:embed="rId1"/>
          <a:srcRect l="0" t="2" r="0" b="2"/>
          <a:stretch>
            <a:fillRect/>
          </a:stretch>
        </p:blipFill>
        <p:spPr>
          <a:xfrm rot="0" flipH="0" flipV="0">
            <a:off x="0" y="0"/>
            <a:ext cx="12192000" cy="6858000"/>
          </a:xfrm>
          <a:prstGeom prst="rect">
            <a:avLst/>
          </a:prstGeom>
          <a:ln/>
        </p:spPr>
      </p:pic>
      <p:sp>
        <p:nvSpPr>
          <p:cNvPr id="163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0B2A6B">
                  <a:alpha val="90000"/>
                </a:srgbClr>
              </a:gs>
              <a:gs pos="50000">
                <a:srgbClr val="0B2A6B">
                  <a:alpha val="72000"/>
                </a:srgbClr>
              </a:gs>
              <a:gs pos="100000">
                <a:srgbClr val="1B5FD9">
                  <a:alpha val="5800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sp>
        <p:nvSpPr>
          <p:cNvPr id="164" name=""/>
          <p:cNvSpPr/>
          <p:nvPr/>
        </p:nvSpPr>
        <p:spPr>
          <a:xfrm rot="0" flipH="0" flipV="0">
            <a:off x="0" y="4857750"/>
            <a:ext cx="12192000" cy="2000250"/>
          </a:xfrm>
          <a:prstGeom prst="rect">
            <a:avLst/>
          </a:prstGeom>
          <a:gradFill>
            <a:gsLst>
              <a:gs pos="0">
                <a:srgbClr val="0B2A6B">
                  <a:alpha val="0"/>
                </a:srgbClr>
              </a:gs>
              <a:gs pos="100000">
                <a:srgbClr val="0B2A6B">
                  <a:alpha val="92000"/>
                </a:srgbClr>
              </a:gs>
            </a:gsLst>
            <a:lin ang="5400000" scaled="1"/>
          </a:gradFill>
          <a:ln/>
        </p:spPr>
        <p:txBody>
          <a:bodyPr/>
          <a:p>
            <a:pPr/>
            <a:endParaRPr/>
          </a:p>
        </p:txBody>
      </p:sp>
      <p:pic>
        <p:nvPicPr>
          <p:cNvPr id="165" name=""/>
          <p:cNvPicPr>
            <a:picLocks noChangeAspect="1"/>
          </p:cNvPicPr>
          <p:nvPr/>
        </p:nvPicPr>
        <p:blipFill>
          <a:blip r:embed="rId2"/>
          <a:srcRect l="0" t="749" r="0" b="749"/>
          <a:stretch>
            <a:fillRect/>
          </a:stretch>
        </p:blipFill>
        <p:spPr>
          <a:xfrm rot="0" flipH="0" flipV="0">
            <a:off x="609600" y="400050"/>
            <a:ext cx="1485900" cy="628650"/>
          </a:xfrm>
          <a:prstGeom prst="rect">
            <a:avLst/>
          </a:prstGeom>
          <a:ln/>
        </p:spPr>
      </p:pic>
      <p:sp>
        <p:nvSpPr>
          <p:cNvPr id="166" name=""/>
          <p:cNvSpPr/>
          <p:nvPr/>
        </p:nvSpPr>
        <p:spPr>
          <a:xfrm rot="0" flipH="0" flipV="0">
            <a:off x="2305050" y="542925"/>
            <a:ext cx="9525" cy="342900"/>
          </a:xfrm>
          <a:prstGeom prst="rect">
            <a:avLst/>
          </a:prstGeom>
          <a:solidFill>
            <a:srgbClr val="FFFFFF">
              <a:alpha val="26000"/>
            </a:srgbClr>
          </a:solidFill>
          <a:ln/>
        </p:spPr>
        <p:txBody>
          <a:bodyPr/>
          <a:p>
            <a:pPr/>
            <a:endParaRPr/>
          </a:p>
        </p:txBody>
      </p:sp>
      <p:pic>
        <p:nvPicPr>
          <p:cNvPr id="167" name=""/>
          <p:cNvPicPr>
            <a:picLocks noChangeAspect="1"/>
          </p:cNvPicPr>
          <p:nvPr/>
        </p:nvPicPr>
        <p:blipFill>
          <a:blip r:embed="rId3"/>
          <a:srcRect l="700" t="0" r="700" b="0"/>
          <a:stretch>
            <a:fillRect/>
          </a:stretch>
        </p:blipFill>
        <p:spPr>
          <a:xfrm rot="0" flipH="0" flipV="0">
            <a:off x="2524125" y="466725"/>
            <a:ext cx="1771650" cy="495300"/>
          </a:xfrm>
          <a:prstGeom prst="rect">
            <a:avLst/>
          </a:prstGeom>
          <a:ln/>
        </p:spPr>
      </p:pic>
      <p:sp>
        <p:nvSpPr>
          <p:cNvPr id="168" name=""/>
          <p:cNvSpPr/>
          <p:nvPr/>
        </p:nvSpPr>
        <p:spPr>
          <a:xfrm rot="0" flipH="0" flipV="0">
            <a:off x="609600" y="2152650"/>
            <a:ext cx="57150" cy="304800"/>
          </a:xfrm>
          <a:prstGeom prst="roundRect">
            <a:avLst>
              <a:gd name="adj" fmla="val 50000"/>
            </a:avLst>
          </a:pr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69" name="" descr="{&quot;isTemplate&quot;:true,&quot;type&quot;:&quot;text&quot;}"/>
          <p:cNvSpPr txBox="1"/>
          <p:nvPr/>
        </p:nvSpPr>
        <p:spPr>
          <a:xfrm rot="0" flipH="0" flipV="0">
            <a:off x="800100" y="2209800"/>
            <a:ext cx="178117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 spc="225">
                <a:solidFill>
                  <a:srgbClr val="8FE3F8"/>
                </a:solidFill>
                <a:latin typeface="Microsoft YaHei"/>
                <a:ea typeface="Microsoft YaHei"/>
              </a:rPr>
              <a:t>谢谢聆听</a:t>
            </a:r>
            <a:r>
              <a:rPr lang="en-US" sz="1275" b="1" spc="225">
                <a:solidFill>
                  <a:srgbClr val="8FE3F8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 spc="225">
                <a:solidFill>
                  <a:srgbClr val="8FE3F8"/>
                </a:solidFill>
                <a:latin typeface="Microsoft YaHei"/>
                <a:ea typeface="Microsoft YaHei"/>
              </a:rPr>
              <a:t>敬请指正</a:t>
            </a:r>
            <a:endParaRPr/>
          </a:p>
        </p:txBody>
      </p:sp>
      <p:sp>
        <p:nvSpPr>
          <p:cNvPr id="170" name="" descr="{&quot;isTemplate&quot;:true,&quot;type&quot;:&quot;text&quot;}"/>
          <p:cNvSpPr txBox="1"/>
          <p:nvPr/>
        </p:nvSpPr>
        <p:spPr>
          <a:xfrm rot="0" flipH="0" flipV="0">
            <a:off x="609600" y="2686050"/>
            <a:ext cx="8572500" cy="1562100"/>
          </a:xfrm>
          <a:prstGeom prst="rect"/>
        </p:spPr>
        <p:txBody>
          <a:bodyPr wrap="none" lIns="0" tIns="0" rIns="0" bIns="0"/>
          <a:p>
            <a:pPr>
              <a:lnSpc>
                <a:spcPct val="122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让每家门诊都能自己做</a:t>
            </a:r>
            <a:endParaRPr/>
          </a:p>
          <a:p>
            <a:pPr>
              <a:lnSpc>
                <a:spcPct val="122000"/>
              </a:lnSpc>
            </a:pPr>
            <a:r>
              <a:rPr lang="zh-CN" sz="4200" b="1">
                <a:solidFill>
                  <a:srgbClr val="FFFFFF"/>
                </a:solidFill>
                <a:latin typeface="Microsoft YaHei"/>
                <a:ea typeface="Microsoft YaHei"/>
              </a:rPr>
              <a:t>美团运营的「专业判断」</a:t>
            </a:r>
            <a:endParaRPr/>
          </a:p>
        </p:txBody>
      </p:sp>
      <p:sp>
        <p:nvSpPr>
          <p:cNvPr id="171" name="" descr="{&quot;isTemplate&quot;:true,&quot;type&quot;:&quot;text&quot;}"/>
          <p:cNvSpPr txBox="1"/>
          <p:nvPr/>
        </p:nvSpPr>
        <p:spPr>
          <a:xfrm rot="0" flipH="0" flipV="0">
            <a:off x="609600" y="4495800"/>
            <a:ext cx="8572500" cy="323850"/>
          </a:xfrm>
          <a:prstGeom prst="rect"/>
        </p:spPr>
        <p:txBody>
          <a:bodyPr wrap="none" lIns="0" tIns="0" rIns="0" bIns="0"/>
          <a:p>
            <a:pPr>
              <a:lnSpc>
                <a:spcPct val="175000"/>
              </a:lnSpc>
            </a:pPr>
            <a:r>
              <a:rPr lang="zh-CN" sz="1200">
                <a:solidFill>
                  <a:srgbClr val="C8D9F5"/>
                </a:solidFill>
                <a:latin typeface="Microsoft YaHei"/>
                <a:ea typeface="Microsoft YaHei"/>
              </a:rPr>
              <a:t>工具只是开始，真正要沉淀的是把好店长的经验变成集团的标准动作。</a:t>
            </a:r>
            <a:endParaRPr/>
          </a:p>
        </p:txBody>
      </p:sp>
      <p:sp>
        <p:nvSpPr>
          <p:cNvPr id="172" name="" descr="{&quot;isTemplate&quot;:true,&quot;type&quot;:&quot;text&quot;}"/>
          <p:cNvSpPr txBox="1"/>
          <p:nvPr/>
        </p:nvSpPr>
        <p:spPr>
          <a:xfrm rot="0" flipH="0" flipV="0">
            <a:off x="609600" y="5953125"/>
            <a:ext cx="180022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A8CDF5"/>
                </a:solidFill>
                <a:latin typeface="Microsoft YaHei"/>
                <a:ea typeface="Microsoft YaHei"/>
              </a:rPr>
              <a:t>参赛作品</a:t>
            </a:r>
            <a:endParaRPr/>
          </a:p>
        </p:txBody>
      </p:sp>
      <p:sp>
        <p:nvSpPr>
          <p:cNvPr id="173" name="" descr="{&quot;isTemplate&quot;:true,&quot;type&quot;:&quot;text&quot;}"/>
          <p:cNvSpPr txBox="1"/>
          <p:nvPr/>
        </p:nvSpPr>
        <p:spPr>
          <a:xfrm rot="0" flipH="0" flipV="0">
            <a:off x="609600" y="6143625"/>
            <a:ext cx="1800225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>AI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助手</a:t>
            </a:r>
            <a:endParaRPr/>
          </a:p>
        </p:txBody>
      </p:sp>
      <p:sp>
        <p:nvSpPr>
          <p:cNvPr id="174" name="" descr="{&quot;isTemplate&quot;:true,&quot;type&quot;:&quot;text&quot;}"/>
          <p:cNvSpPr txBox="1"/>
          <p:nvPr/>
        </p:nvSpPr>
        <p:spPr>
          <a:xfrm rot="0" flipH="0" flipV="0">
            <a:off x="2867025" y="5953125"/>
            <a:ext cx="2114550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63" spc="75">
                <a:solidFill>
                  <a:srgbClr val="A8CDF5"/>
                </a:solidFill>
                <a:latin typeface="Microsoft YaHei"/>
                <a:ea typeface="Microsoft YaHei"/>
              </a:rPr>
              <a:t>汇报单位</a:t>
            </a:r>
            <a:endParaRPr/>
          </a:p>
        </p:txBody>
      </p:sp>
      <p:sp>
        <p:nvSpPr>
          <p:cNvPr id="175" name="" descr="{&quot;isTemplate&quot;:true,&quot;type&quot;:&quot;text&quot;}"/>
          <p:cNvSpPr txBox="1"/>
          <p:nvPr/>
        </p:nvSpPr>
        <p:spPr>
          <a:xfrm rot="0" flipH="0" flipV="0">
            <a:off x="2867025" y="6143625"/>
            <a:ext cx="2114550" cy="2000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1275" b="1">
                <a:solidFill>
                  <a:srgbClr val="FFFFFF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1275" b="1">
                <a:solidFill>
                  <a:srgbClr val="FFFFFF"/>
                </a:solidFill>
                <a:latin typeface="Microsoft YaHei"/>
                <a:ea typeface="Microsoft YaHei"/>
              </a:rPr>
              <a:t>门诊管理中心</a:t>
            </a:r>
            <a:endParaRPr/>
          </a:p>
        </p:txBody>
      </p:sp>
      <p:sp>
        <p:nvSpPr>
          <p:cNvPr id="176" name=""/>
          <p:cNvSpPr/>
          <p:nvPr/>
        </p:nvSpPr>
        <p:spPr>
          <a:xfrm rot="0" flipH="0" flipV="0">
            <a:off x="10963275" y="5895975"/>
            <a:ext cx="647700" cy="447675"/>
          </a:xfrm>
          <a:custGeom>
            <a:pathLst>
              <a:path w="68" h="47">
                <a:moveTo>
                  <a:pt x="0" y="0"/>
                </a:moveTo>
                <a:lnTo>
                  <a:pt x="3" y="0"/>
                </a:lnTo>
                <a:lnTo>
                  <a:pt x="3" y="47"/>
                </a:lnTo>
                <a:lnTo>
                  <a:pt x="0" y="47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177" name="" descr="{&quot;isTemplate&quot;:true,&quot;type&quot;:&quot;text&quot;}"/>
          <p:cNvSpPr txBox="1"/>
          <p:nvPr/>
        </p:nvSpPr>
        <p:spPr>
          <a:xfrm rot="0" flipH="0" flipV="0">
            <a:off x="11182350" y="5895975"/>
            <a:ext cx="400050" cy="16192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050">
                <a:solidFill>
                  <a:srgbClr val="ADE8FF"/>
                </a:solidFill>
                <a:latin typeface="Microsoft YaHei"/>
                <a:ea typeface="Microsoft YaHei"/>
              </a:rPr>
              <a:t>答辩人</a:t>
            </a:r>
            <a:endParaRPr/>
          </a:p>
        </p:txBody>
      </p:sp>
      <p:sp>
        <p:nvSpPr>
          <p:cNvPr id="178" name="" descr="{&quot;isTemplate&quot;:true,&quot;type&quot;:&quot;text&quot;}"/>
          <p:cNvSpPr txBox="1"/>
          <p:nvPr/>
        </p:nvSpPr>
        <p:spPr>
          <a:xfrm rot="0" flipH="0" flipV="0">
            <a:off x="11182350" y="6096000"/>
            <a:ext cx="400050" cy="2476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575" b="1">
                <a:solidFill>
                  <a:srgbClr val="FFFFFF"/>
                </a:solidFill>
                <a:latin typeface="Microsoft YaHei"/>
                <a:ea typeface="Microsoft YaHei"/>
              </a:rPr>
              <a:t>王皓</a:t>
            </a:r>
            <a:endParaRPr/>
          </a:p>
        </p:txBody>
      </p:sp>
    </p:spTree>
  </p:cSld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7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181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182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3429000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答辩预案：四类问题怎么答</a:t>
            </a:r>
            <a:endParaRPr/>
          </a:p>
        </p:txBody>
      </p:sp>
      <p:sp>
        <p:nvSpPr>
          <p:cNvPr id="183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34290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技术壁垒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落地成本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数据安全</a:t>
            </a:r>
            <a:r>
              <a:rPr lang="en-US" sz="938" spc="75">
                <a:solidFill>
                  <a:srgbClr val="5A6B8C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可复制性</a:t>
            </a:r>
            <a:endParaRPr/>
          </a:p>
        </p:txBody>
      </p:sp>
      <p:sp>
        <p:nvSpPr>
          <p:cNvPr id="184" name=""/>
          <p:cNvSpPr/>
          <p:nvPr/>
        </p:nvSpPr>
        <p:spPr>
          <a:xfrm rot="0" flipH="0" flipV="0">
            <a:off x="10734675" y="266700"/>
            <a:ext cx="847725" cy="228600"/>
          </a:xfrm>
          <a:prstGeom prst="roundRect">
            <a:avLst>
              <a:gd name="adj" fmla="val 20833"/>
            </a:avLst>
          </a:prstGeom>
          <a:solidFill>
            <a:srgbClr val="FF8A3D">
              <a:alpha val="12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85" name="" descr="{&quot;isTemplate&quot;:true,&quot;type&quot;:&quot;text&quot;}"/>
          <p:cNvSpPr txBox="1"/>
          <p:nvPr/>
        </p:nvSpPr>
        <p:spPr>
          <a:xfrm rot="0" flipH="0" flipV="0">
            <a:off x="10839450" y="314325"/>
            <a:ext cx="638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D96B15"/>
                </a:solidFill>
                <a:latin typeface="Microsoft YaHei"/>
                <a:ea typeface="Microsoft YaHei"/>
              </a:rPr>
              <a:t>附录</a:t>
            </a:r>
            <a:r>
              <a:rPr lang="en-US" sz="825" b="1">
                <a:solidFill>
                  <a:srgbClr val="D96B15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 b="1">
                <a:solidFill>
                  <a:srgbClr val="D96B15"/>
                </a:solidFill>
                <a:latin typeface="Microsoft YaHei"/>
                <a:ea typeface="Microsoft YaHei"/>
              </a:rPr>
              <a:t>不演讲</a:t>
            </a:r>
            <a:endParaRPr/>
          </a:p>
        </p:txBody>
      </p:sp>
      <p:sp>
        <p:nvSpPr>
          <p:cNvPr id="186" name=""/>
          <p:cNvSpPr/>
          <p:nvPr/>
        </p:nvSpPr>
        <p:spPr>
          <a:xfrm rot="0" flipH="0" flipV="0">
            <a:off x="609600" y="1009650"/>
            <a:ext cx="2647950" cy="5143500"/>
          </a:xfrm>
          <a:prstGeom prst="roundRect">
            <a:avLst>
              <a:gd name="adj" fmla="val 395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87" name=""/>
          <p:cNvSpPr/>
          <p:nvPr/>
        </p:nvSpPr>
        <p:spPr>
          <a:xfrm rot="0" flipH="0" flipV="0">
            <a:off x="609600" y="1009650"/>
            <a:ext cx="2647950" cy="5143500"/>
          </a:xfrm>
          <a:custGeom>
            <a:pathLst>
              <a:path w="278" h="540">
                <a:moveTo>
                  <a:pt x="268" y="0"/>
                </a:moveTo>
                <a:cubicBezTo>
                  <a:pt x="273" y="0"/>
                  <a:pt x="277" y="4"/>
                  <a:pt x="278" y="9"/>
                </a:cubicBezTo>
                <a:cubicBezTo>
                  <a:pt x="277" y="6"/>
                  <a:pt x="274" y="4"/>
                  <a:pt x="271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7" y="0"/>
                </a:lnTo>
                <a:close/>
              </a:path>
            </a:pathLst>
          </a:cu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188" name="" descr="{&quot;isTemplate&quot;:true,&quot;type&quot;:&quot;text&quot;}"/>
          <p:cNvSpPr txBox="1"/>
          <p:nvPr/>
        </p:nvSpPr>
        <p:spPr>
          <a:xfrm rot="0" flipH="0" flipV="0">
            <a:off x="762000" y="1162050"/>
            <a:ext cx="234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技术壁垒</a:t>
            </a:r>
            <a:endParaRPr/>
          </a:p>
        </p:txBody>
      </p:sp>
      <p:sp>
        <p:nvSpPr>
          <p:cNvPr id="189" name=""/>
          <p:cNvSpPr/>
          <p:nvPr/>
        </p:nvSpPr>
        <p:spPr>
          <a:xfrm rot="0" flipH="0" flipV="0">
            <a:off x="762000" y="1466850"/>
            <a:ext cx="2343150" cy="1304925"/>
          </a:xfrm>
          <a:prstGeom prst="roundRect">
            <a:avLst>
              <a:gd name="adj" fmla="val 5109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0" name="" descr="{&quot;isTemplate&quot;:true,&quot;type&quot;:&quot;text&quot;}"/>
          <p:cNvSpPr txBox="1"/>
          <p:nvPr/>
        </p:nvSpPr>
        <p:spPr>
          <a:xfrm rot="0" flipH="0" flipV="0">
            <a:off x="866775" y="15716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为什么用截图而不是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API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对接？</a:t>
            </a:r>
            <a:endParaRPr/>
          </a:p>
        </p:txBody>
      </p:sp>
      <p:sp>
        <p:nvSpPr>
          <p:cNvPr id="191" name="" descr="{&quot;isTemplate&quot;:true,&quot;type&quot;:&quot;text&quot;}"/>
          <p:cNvSpPr txBox="1"/>
          <p:nvPr/>
        </p:nvSpPr>
        <p:spPr>
          <a:xfrm rot="0" flipH="0" flipV="0">
            <a:off x="866775" y="1809750"/>
            <a:ext cx="21336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经营参谋本身不开放接口，等下去没有时间表。截图方案让门店零学习成本，今天就能用上。</a:t>
            </a:r>
            <a:endParaRPr/>
          </a:p>
        </p:txBody>
      </p:sp>
      <p:sp>
        <p:nvSpPr>
          <p:cNvPr id="192" name=""/>
          <p:cNvSpPr/>
          <p:nvPr/>
        </p:nvSpPr>
        <p:spPr>
          <a:xfrm rot="0" flipH="0" flipV="0">
            <a:off x="762000" y="2867025"/>
            <a:ext cx="2343150" cy="1504950"/>
          </a:xfrm>
          <a:prstGeom prst="roundRect">
            <a:avLst>
              <a:gd name="adj" fmla="val 4430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3" name="" descr="{&quot;isTemplate&quot;:true,&quot;type&quot;:&quot;text&quot;}"/>
          <p:cNvSpPr txBox="1"/>
          <p:nvPr/>
        </p:nvSpPr>
        <p:spPr>
          <a:xfrm rot="0" flipH="0" flipV="0">
            <a:off x="866775" y="29718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：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OCR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准确率怎么保证？</a:t>
            </a:r>
            <a:endParaRPr/>
          </a:p>
        </p:txBody>
      </p:sp>
      <p:sp>
        <p:nvSpPr>
          <p:cNvPr id="194" name="" descr="{&quot;isTemplate&quot;:true,&quot;type&quot;:&quot;text&quot;}"/>
          <p:cNvSpPr txBox="1"/>
          <p:nvPr/>
        </p:nvSpPr>
        <p:spPr>
          <a:xfrm rot="0" flipH="0" flipV="0">
            <a:off x="866775" y="3209925"/>
            <a:ext cx="21336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七个界面各自对应固定字段，识别范围收窄后准确率可控；同时保留手动录入，识别结果可直接对照修改。</a:t>
            </a:r>
            <a:endParaRPr/>
          </a:p>
        </p:txBody>
      </p:sp>
      <p:sp>
        <p:nvSpPr>
          <p:cNvPr id="195" name=""/>
          <p:cNvSpPr/>
          <p:nvPr/>
        </p:nvSpPr>
        <p:spPr>
          <a:xfrm rot="0" flipH="0" flipV="0">
            <a:off x="762000" y="4467225"/>
            <a:ext cx="2343150" cy="1495425"/>
          </a:xfrm>
          <a:prstGeom prst="roundRect">
            <a:avLst>
              <a:gd name="adj" fmla="val 4459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196" name="" descr="{&quot;isTemplate&quot;:true,&quot;type&quot;:&quot;text&quot;}"/>
          <p:cNvSpPr txBox="1"/>
          <p:nvPr/>
        </p:nvSpPr>
        <p:spPr>
          <a:xfrm rot="0" flipH="0" flipV="0">
            <a:off x="866775" y="4572000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和通用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SaaS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比差别在哪？</a:t>
            </a:r>
            <a:endParaRPr/>
          </a:p>
        </p:txBody>
      </p:sp>
      <p:sp>
        <p:nvSpPr>
          <p:cNvPr id="197" name="" descr="{&quot;isTemplate&quot;:true,&quot;type&quot;:&quot;text&quot;}"/>
          <p:cNvSpPr txBox="1"/>
          <p:nvPr/>
        </p:nvSpPr>
        <p:spPr>
          <a:xfrm rot="0" flipH="0" flipV="0">
            <a:off x="866775" y="4810125"/>
            <a:ext cx="21336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通用工具不懂眼科项目结构，也不知道爱尔的评分口径。我们要的是能直接用的口径和话术，不是又一套后台。</a:t>
            </a:r>
            <a:endParaRPr/>
          </a:p>
        </p:txBody>
      </p:sp>
      <p:sp>
        <p:nvSpPr>
          <p:cNvPr id="198" name=""/>
          <p:cNvSpPr/>
          <p:nvPr/>
        </p:nvSpPr>
        <p:spPr>
          <a:xfrm rot="0" flipH="0" flipV="0">
            <a:off x="3390900" y="1009650"/>
            <a:ext cx="2638425" cy="514350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199" name=""/>
          <p:cNvSpPr/>
          <p:nvPr/>
        </p:nvSpPr>
        <p:spPr>
          <a:xfrm rot="0" flipH="0" flipV="0">
            <a:off x="3390900" y="1009650"/>
            <a:ext cx="2638425" cy="5143500"/>
          </a:xfrm>
          <a:custGeom>
            <a:pathLst>
              <a:path w="277" h="540">
                <a:moveTo>
                  <a:pt x="267" y="0"/>
                </a:moveTo>
                <a:cubicBezTo>
                  <a:pt x="272" y="0"/>
                  <a:pt x="276" y="4"/>
                  <a:pt x="277" y="9"/>
                </a:cubicBezTo>
                <a:cubicBezTo>
                  <a:pt x="276" y="6"/>
                  <a:pt x="273" y="4"/>
                  <a:pt x="270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2E86E8"/>
          </a:solidFill>
          <a:ln/>
        </p:spPr>
        <p:txBody>
          <a:bodyPr/>
          <a:p>
            <a:pPr/>
            <a:endParaRPr/>
          </a:p>
        </p:txBody>
      </p:sp>
      <p:sp>
        <p:nvSpPr>
          <p:cNvPr id="200" name="" descr="{&quot;isTemplate&quot;:true,&quot;type&quot;:&quot;text&quot;}"/>
          <p:cNvSpPr txBox="1"/>
          <p:nvPr/>
        </p:nvSpPr>
        <p:spPr>
          <a:xfrm rot="0" flipH="0" flipV="0">
            <a:off x="3543300" y="116205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落地成本</a:t>
            </a:r>
            <a:endParaRPr/>
          </a:p>
        </p:txBody>
      </p:sp>
      <p:sp>
        <p:nvSpPr>
          <p:cNvPr id="201" name=""/>
          <p:cNvSpPr/>
          <p:nvPr/>
        </p:nvSpPr>
        <p:spPr>
          <a:xfrm rot="0" flipH="0" flipV="0">
            <a:off x="3543300" y="1466850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2" name="" descr="{&quot;isTemplate&quot;:true,&quot;type&quot;:&quot;text&quot;}"/>
          <p:cNvSpPr txBox="1"/>
          <p:nvPr/>
        </p:nvSpPr>
        <p:spPr>
          <a:xfrm rot="0" flipH="0" flipV="0">
            <a:off x="3648075" y="15716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门店会不会嫌麻烦？</a:t>
            </a:r>
            <a:endParaRPr/>
          </a:p>
        </p:txBody>
      </p:sp>
      <p:sp>
        <p:nvSpPr>
          <p:cNvPr id="203" name="" descr="{&quot;isTemplate&quot;:true,&quot;type&quot;:&quot;text&quot;}"/>
          <p:cNvSpPr txBox="1"/>
          <p:nvPr/>
        </p:nvSpPr>
        <p:spPr>
          <a:xfrm rot="0" flipH="0" flipV="0">
            <a:off x="3648075" y="1809750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比原来更省事：原来要抄字段进表，现在拍七张图。手机端做完全程，不用开电脑。</a:t>
            </a:r>
            <a:endParaRPr/>
          </a:p>
        </p:txBody>
      </p:sp>
      <p:sp>
        <p:nvSpPr>
          <p:cNvPr id="204" name=""/>
          <p:cNvSpPr/>
          <p:nvPr/>
        </p:nvSpPr>
        <p:spPr>
          <a:xfrm rot="0" flipH="0" flipV="0">
            <a:off x="3543300" y="3000375"/>
            <a:ext cx="2333625" cy="1428750"/>
          </a:xfrm>
          <a:prstGeom prst="roundRect">
            <a:avLst>
              <a:gd name="adj" fmla="val 4667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5" name="" descr="{&quot;isTemplate&quot;:true,&quot;type&quot;:&quot;text&quot;}"/>
          <p:cNvSpPr txBox="1"/>
          <p:nvPr/>
        </p:nvSpPr>
        <p:spPr>
          <a:xfrm rot="0" flipH="0" flipV="0">
            <a:off x="3648075" y="31051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：</a:t>
            </a: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 xml:space="preserve">28 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家推广要多久？</a:t>
            </a:r>
            <a:endParaRPr/>
          </a:p>
        </p:txBody>
      </p:sp>
      <p:sp>
        <p:nvSpPr>
          <p:cNvPr id="206" name="" descr="{&quot;isTemplate&quot;:true,&quot;type&quot;:&quot;text&quot;}"/>
          <p:cNvSpPr txBox="1"/>
          <p:nvPr/>
        </p:nvSpPr>
        <p:spPr>
          <a:xfrm rot="0" flipH="0" flipV="0">
            <a:off x="3648075" y="3343275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辽宁直营门诊按一个月跑通并固定口径，其他门诊主要成本是一轮培训，不需要新增硬件投入。</a:t>
            </a:r>
            <a:endParaRPr/>
          </a:p>
        </p:txBody>
      </p:sp>
      <p:sp>
        <p:nvSpPr>
          <p:cNvPr id="207" name=""/>
          <p:cNvSpPr/>
          <p:nvPr/>
        </p:nvSpPr>
        <p:spPr>
          <a:xfrm rot="0" flipH="0" flipV="0">
            <a:off x="3543300" y="4524375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08" name="" descr="{&quot;isTemplate&quot;:true,&quot;type&quot;:&quot;text&quot;}"/>
          <p:cNvSpPr txBox="1"/>
          <p:nvPr/>
        </p:nvSpPr>
        <p:spPr>
          <a:xfrm rot="0" flipH="0" flipV="0">
            <a:off x="3648075" y="46291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2E86E8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2E86E8"/>
                </a:solidFill>
                <a:latin typeface="Microsoft YaHei"/>
                <a:ea typeface="Microsoft YaHei"/>
              </a:rPr>
              <a:t>要不要额外买设备或额度？</a:t>
            </a:r>
            <a:endParaRPr/>
          </a:p>
        </p:txBody>
      </p:sp>
      <p:sp>
        <p:nvSpPr>
          <p:cNvPr id="209" name="" descr="{&quot;isTemplate&quot;:true,&quot;type&quot;:&quot;text&quot;}"/>
          <p:cNvSpPr txBox="1"/>
          <p:nvPr/>
        </p:nvSpPr>
        <p:spPr>
          <a:xfrm rot="0" flipH="0" flipV="0">
            <a:off x="3648075" y="4867275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不需要。门店沿用现有手机，集团侧用现有模型服务额度，没有额外采购。</a:t>
            </a:r>
            <a:endParaRPr/>
          </a:p>
        </p:txBody>
      </p:sp>
      <p:sp>
        <p:nvSpPr>
          <p:cNvPr id="210" name=""/>
          <p:cNvSpPr/>
          <p:nvPr/>
        </p:nvSpPr>
        <p:spPr>
          <a:xfrm rot="0" flipH="0" flipV="0">
            <a:off x="6162675" y="1009650"/>
            <a:ext cx="2647950" cy="5143500"/>
          </a:xfrm>
          <a:prstGeom prst="roundRect">
            <a:avLst>
              <a:gd name="adj" fmla="val 3957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11" name=""/>
          <p:cNvSpPr/>
          <p:nvPr/>
        </p:nvSpPr>
        <p:spPr>
          <a:xfrm rot="0" flipH="0" flipV="0">
            <a:off x="6162675" y="1009650"/>
            <a:ext cx="2647950" cy="5143500"/>
          </a:xfrm>
          <a:custGeom>
            <a:pathLst>
              <a:path w="278" h="540">
                <a:moveTo>
                  <a:pt x="268" y="0"/>
                </a:moveTo>
                <a:cubicBezTo>
                  <a:pt x="273" y="0"/>
                  <a:pt x="277" y="4"/>
                  <a:pt x="278" y="9"/>
                </a:cubicBezTo>
                <a:cubicBezTo>
                  <a:pt x="277" y="6"/>
                  <a:pt x="274" y="4"/>
                  <a:pt x="271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7" y="0"/>
                </a:lnTo>
                <a:close/>
              </a:path>
            </a:pathLst>
          </a:custGeom>
          <a:solidFill>
            <a:srgbClr val="35C8F0"/>
          </a:solidFill>
          <a:ln/>
        </p:spPr>
        <p:txBody>
          <a:bodyPr/>
          <a:p>
            <a:pPr/>
            <a:endParaRPr/>
          </a:p>
        </p:txBody>
      </p:sp>
      <p:sp>
        <p:nvSpPr>
          <p:cNvPr id="212" name="" descr="{&quot;isTemplate&quot;:true,&quot;type&quot;:&quot;text&quot;}"/>
          <p:cNvSpPr txBox="1"/>
          <p:nvPr/>
        </p:nvSpPr>
        <p:spPr>
          <a:xfrm rot="0" flipH="0" flipV="0">
            <a:off x="6315075" y="1162050"/>
            <a:ext cx="2343150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数据安全</a:t>
            </a:r>
            <a:endParaRPr/>
          </a:p>
        </p:txBody>
      </p:sp>
      <p:sp>
        <p:nvSpPr>
          <p:cNvPr id="213" name=""/>
          <p:cNvSpPr/>
          <p:nvPr/>
        </p:nvSpPr>
        <p:spPr>
          <a:xfrm rot="0" flipH="0" flipV="0">
            <a:off x="6315075" y="1466850"/>
            <a:ext cx="2343150" cy="1562100"/>
          </a:xfrm>
          <a:prstGeom prst="roundRect">
            <a:avLst>
              <a:gd name="adj" fmla="val 4268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4" name="" descr="{&quot;isTemplate&quot;:true,&quot;type&quot;:&quot;text&quot;}"/>
          <p:cNvSpPr txBox="1"/>
          <p:nvPr/>
        </p:nvSpPr>
        <p:spPr>
          <a:xfrm rot="0" flipH="0" flipV="0">
            <a:off x="6419850" y="15716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35C8F0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经营数据会不会外泄？</a:t>
            </a:r>
            <a:endParaRPr/>
          </a:p>
        </p:txBody>
      </p:sp>
      <p:sp>
        <p:nvSpPr>
          <p:cNvPr id="215" name="" descr="{&quot;isTemplate&quot;:true,&quot;type&quot;:&quot;text&quot;}"/>
          <p:cNvSpPr txBox="1"/>
          <p:nvPr/>
        </p:nvSpPr>
        <p:spPr>
          <a:xfrm rot="0" flipH="0" flipV="0">
            <a:off x="6419850" y="1809750"/>
            <a:ext cx="2133600" cy="5810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数据只在集团自有环境和已签约的大模型服务间流转，不落到第三方公共平台，前端也不做持久化存储。</a:t>
            </a:r>
            <a:endParaRPr/>
          </a:p>
        </p:txBody>
      </p:sp>
      <p:sp>
        <p:nvSpPr>
          <p:cNvPr id="216" name=""/>
          <p:cNvSpPr/>
          <p:nvPr/>
        </p:nvSpPr>
        <p:spPr>
          <a:xfrm rot="0" flipH="0" flipV="0">
            <a:off x="6315075" y="3124200"/>
            <a:ext cx="2343150" cy="1371600"/>
          </a:xfrm>
          <a:prstGeom prst="roundRect">
            <a:avLst>
              <a:gd name="adj" fmla="val 4861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17" name="" descr="{&quot;isTemplate&quot;:true,&quot;type&quot;:&quot;text&quot;}"/>
          <p:cNvSpPr txBox="1"/>
          <p:nvPr/>
        </p:nvSpPr>
        <p:spPr>
          <a:xfrm rot="0" flipH="0" flipV="0">
            <a:off x="6419850" y="322897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35C8F0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截图含患者隐私吗？</a:t>
            </a:r>
            <a:endParaRPr/>
          </a:p>
        </p:txBody>
      </p:sp>
      <p:sp>
        <p:nvSpPr>
          <p:cNvPr id="218" name="" descr="{&quot;isTemplate&quot;:true,&quot;type&quot;:&quot;text&quot;}"/>
          <p:cNvSpPr txBox="1"/>
          <p:nvPr/>
        </p:nvSpPr>
        <p:spPr>
          <a:xfrm rot="0" flipH="0" flipV="0">
            <a:off x="6419850" y="3467100"/>
            <a:ext cx="21336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采集范围限定在经营参谋的经营数据界面，不涉及患者姓名、病历等诊疗信息。</a:t>
            </a:r>
            <a:endParaRPr/>
          </a:p>
        </p:txBody>
      </p:sp>
      <p:sp>
        <p:nvSpPr>
          <p:cNvPr id="219" name=""/>
          <p:cNvSpPr/>
          <p:nvPr/>
        </p:nvSpPr>
        <p:spPr>
          <a:xfrm rot="0" flipH="0" flipV="0">
            <a:off x="6315075" y="4591050"/>
            <a:ext cx="2343150" cy="1371600"/>
          </a:xfrm>
          <a:prstGeom prst="roundRect">
            <a:avLst>
              <a:gd name="adj" fmla="val 4861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0" name="" descr="{&quot;isTemplate&quot;:true,&quot;type&quot;:&quot;text&quot;}"/>
          <p:cNvSpPr txBox="1"/>
          <p:nvPr/>
        </p:nvSpPr>
        <p:spPr>
          <a:xfrm rot="0" flipH="0" flipV="0">
            <a:off x="6419850" y="4695825"/>
            <a:ext cx="2133600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35C8F0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35C8F0"/>
                </a:solidFill>
                <a:latin typeface="Microsoft YaHei"/>
                <a:ea typeface="Microsoft YaHei"/>
              </a:rPr>
              <a:t>谁能看到别家门店的数据？</a:t>
            </a:r>
            <a:endParaRPr/>
          </a:p>
        </p:txBody>
      </p:sp>
      <p:sp>
        <p:nvSpPr>
          <p:cNvPr id="221" name="" descr="{&quot;isTemplate&quot;:true,&quot;type&quot;:&quot;text&quot;}"/>
          <p:cNvSpPr txBox="1"/>
          <p:nvPr/>
        </p:nvSpPr>
        <p:spPr>
          <a:xfrm rot="0" flipH="0" flipV="0">
            <a:off x="6419850" y="4933950"/>
            <a:ext cx="2133600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按门店账号隔离，跨店汇总只在总部管理视角可见，门店之间互相看不到。</a:t>
            </a:r>
            <a:endParaRPr/>
          </a:p>
        </p:txBody>
      </p:sp>
      <p:sp>
        <p:nvSpPr>
          <p:cNvPr id="222" name=""/>
          <p:cNvSpPr/>
          <p:nvPr/>
        </p:nvSpPr>
        <p:spPr>
          <a:xfrm rot="0" flipH="0" flipV="0">
            <a:off x="8943975" y="1009650"/>
            <a:ext cx="2638425" cy="5143500"/>
          </a:xfrm>
          <a:prstGeom prst="roundRect">
            <a:avLst>
              <a:gd name="adj" fmla="val 3971"/>
            </a:avLst>
          </a:prstGeom>
          <a:solidFill>
            <a:srgbClr val="FFFFFF"/>
          </a:solidFill>
          <a:ln/>
          <a:effectLst>
            <a:outerShdw blurRad="152400" dist="38100" dir="5400000">
              <a:srgbClr val="0B2A6B">
                <a:alpha val="7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23" name=""/>
          <p:cNvSpPr/>
          <p:nvPr/>
        </p:nvSpPr>
        <p:spPr>
          <a:xfrm rot="0" flipH="0" flipV="0">
            <a:off x="8943975" y="1009650"/>
            <a:ext cx="2638425" cy="5143500"/>
          </a:xfrm>
          <a:custGeom>
            <a:pathLst>
              <a:path w="277" h="540">
                <a:moveTo>
                  <a:pt x="267" y="0"/>
                </a:moveTo>
                <a:cubicBezTo>
                  <a:pt x="272" y="0"/>
                  <a:pt x="276" y="4"/>
                  <a:pt x="277" y="9"/>
                </a:cubicBezTo>
                <a:cubicBezTo>
                  <a:pt x="276" y="6"/>
                  <a:pt x="273" y="4"/>
                  <a:pt x="270" y="4"/>
                </a:cubicBezTo>
                <a:lnTo>
                  <a:pt x="7" y="4"/>
                </a:lnTo>
                <a:cubicBezTo>
                  <a:pt x="4" y="4"/>
                  <a:pt x="1" y="6"/>
                  <a:pt x="0" y="9"/>
                </a:cubicBezTo>
                <a:cubicBezTo>
                  <a:pt x="1" y="4"/>
                  <a:pt x="6" y="0"/>
                  <a:pt x="11" y="0"/>
                </a:cubicBezTo>
                <a:lnTo>
                  <a:pt x="266" y="0"/>
                </a:lnTo>
                <a:close/>
              </a:path>
            </a:pathLst>
          </a:custGeom>
          <a:solidFill>
            <a:srgbClr val="FF8A3D"/>
          </a:solidFill>
          <a:ln/>
        </p:spPr>
        <p:txBody>
          <a:bodyPr/>
          <a:p>
            <a:pPr/>
            <a:endParaRPr/>
          </a:p>
        </p:txBody>
      </p:sp>
      <p:sp>
        <p:nvSpPr>
          <p:cNvPr id="224" name="" descr="{&quot;isTemplate&quot;:true,&quot;type&quot;:&quot;text&quot;}"/>
          <p:cNvSpPr txBox="1"/>
          <p:nvPr/>
        </p:nvSpPr>
        <p:spPr>
          <a:xfrm rot="0" flipH="0" flipV="0">
            <a:off x="9096375" y="1162050"/>
            <a:ext cx="2333625" cy="1905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1200" b="1">
                <a:solidFill>
                  <a:srgbClr val="0B2A6B"/>
                </a:solidFill>
                <a:latin typeface="Microsoft YaHei"/>
                <a:ea typeface="Microsoft YaHei"/>
              </a:rPr>
              <a:t>可复制性</a:t>
            </a:r>
            <a:endParaRPr/>
          </a:p>
        </p:txBody>
      </p:sp>
      <p:sp>
        <p:nvSpPr>
          <p:cNvPr id="225" name=""/>
          <p:cNvSpPr/>
          <p:nvPr/>
        </p:nvSpPr>
        <p:spPr>
          <a:xfrm rot="0" flipH="0" flipV="0">
            <a:off x="9096375" y="1466850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6" name="" descr="{&quot;isTemplate&quot;:true,&quot;type&quot;:&quot;text&quot;}"/>
          <p:cNvSpPr txBox="1"/>
          <p:nvPr/>
        </p:nvSpPr>
        <p:spPr>
          <a:xfrm rot="0" flipH="0" flipV="0">
            <a:off x="9201150" y="1571625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FF8A3D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能给别的业务线用吗？</a:t>
            </a:r>
            <a:endParaRPr/>
          </a:p>
        </p:txBody>
      </p:sp>
      <p:sp>
        <p:nvSpPr>
          <p:cNvPr id="227" name="" descr="{&quot;isTemplate&quot;:true,&quot;type&quot;:&quot;text&quot;}"/>
          <p:cNvSpPr txBox="1"/>
          <p:nvPr/>
        </p:nvSpPr>
        <p:spPr>
          <a:xfrm rot="0" flipH="0" flipV="0">
            <a:off x="9201150" y="1809750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评分口径、话术库、模板都是配置项，换业务线只换配置，不动代码结构。</a:t>
            </a:r>
            <a:endParaRPr/>
          </a:p>
        </p:txBody>
      </p:sp>
      <p:sp>
        <p:nvSpPr>
          <p:cNvPr id="228" name=""/>
          <p:cNvSpPr/>
          <p:nvPr/>
        </p:nvSpPr>
        <p:spPr>
          <a:xfrm rot="0" flipH="0" flipV="0">
            <a:off x="9096375" y="3000375"/>
            <a:ext cx="2333625" cy="1428750"/>
          </a:xfrm>
          <a:prstGeom prst="roundRect">
            <a:avLst>
              <a:gd name="adj" fmla="val 4667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29" name="" descr="{&quot;isTemplate&quot;:true,&quot;type&quot;:&quot;text&quot;}"/>
          <p:cNvSpPr txBox="1"/>
          <p:nvPr/>
        </p:nvSpPr>
        <p:spPr>
          <a:xfrm rot="0" flipH="0" flipV="0">
            <a:off x="9201150" y="31051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FF8A3D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视觉模型权限没开通怎么办？</a:t>
            </a:r>
            <a:endParaRPr/>
          </a:p>
        </p:txBody>
      </p:sp>
      <p:sp>
        <p:nvSpPr>
          <p:cNvPr id="230" name="" descr="{&quot;isTemplate&quot;:true,&quot;type&quot;:&quot;text&quot;}"/>
          <p:cNvSpPr txBox="1"/>
          <p:nvPr/>
        </p:nvSpPr>
        <p:spPr>
          <a:xfrm rot="0" flipH="0" flipV="0">
            <a:off x="9201150" y="3343275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五个端点自动探测降级，手动录入保底，业务不中断；权限开通即刻启用，不需要改代码。</a:t>
            </a:r>
            <a:endParaRPr/>
          </a:p>
        </p:txBody>
      </p:sp>
      <p:sp>
        <p:nvSpPr>
          <p:cNvPr id="231" name=""/>
          <p:cNvSpPr/>
          <p:nvPr/>
        </p:nvSpPr>
        <p:spPr>
          <a:xfrm rot="0" flipH="0" flipV="0">
            <a:off x="9096375" y="4524375"/>
            <a:ext cx="2333625" cy="1438275"/>
          </a:xfrm>
          <a:prstGeom prst="roundRect">
            <a:avLst>
              <a:gd name="adj" fmla="val 4636"/>
            </a:avLst>
          </a:prstGeom>
          <a:solidFill>
            <a:srgbClr val="1B5FD9">
              <a:alpha val="4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32" name="" descr="{&quot;isTemplate&quot;:true,&quot;type&quot;:&quot;text&quot;}"/>
          <p:cNvSpPr txBox="1"/>
          <p:nvPr/>
        </p:nvSpPr>
        <p:spPr>
          <a:xfrm rot="0" flipH="0" flipV="0">
            <a:off x="9201150" y="4629150"/>
            <a:ext cx="2124075" cy="190500"/>
          </a:xfrm>
          <a:prstGeom prst="rect"/>
        </p:spPr>
        <p:txBody>
          <a:bodyPr wrap="none" lIns="0" tIns="0" rIns="0" bIns="0"/>
          <a:p>
            <a:pPr>
              <a:lnSpc>
                <a:spcPct val="145000"/>
              </a:lnSpc>
            </a:pPr>
            <a:r>
              <a:rPr lang="en-US" sz="825" b="1">
                <a:solidFill>
                  <a:srgbClr val="FF8A3D"/>
                </a:solidFill>
                <a:latin typeface="Microsoft YaHei"/>
                <a:ea typeface="Microsoft YaHei"/>
              </a:rPr>
              <a:t>Q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：</a:t>
            </a:r>
            <a:r>
              <a:rPr lang="zh-CN" sz="825" b="1">
                <a:solidFill>
                  <a:srgbClr val="FF8A3D"/>
                </a:solidFill>
                <a:latin typeface="Microsoft YaHei"/>
                <a:ea typeface="Microsoft YaHei"/>
              </a:rPr>
              <a:t>后续维护谁来做？</a:t>
            </a:r>
            <a:endParaRPr/>
          </a:p>
        </p:txBody>
      </p:sp>
      <p:sp>
        <p:nvSpPr>
          <p:cNvPr id="233" name="" descr="{&quot;isTemplate&quot;:true,&quot;type&quot;:&quot;text&quot;}"/>
          <p:cNvSpPr txBox="1"/>
          <p:nvPr/>
        </p:nvSpPr>
        <p:spPr>
          <a:xfrm rot="0" flipH="0" flipV="0">
            <a:off x="9201150" y="4867275"/>
            <a:ext cx="2124075" cy="390525"/>
          </a:xfrm>
          <a:prstGeom prst="rect"/>
        </p:spPr>
        <p:txBody>
          <a:bodyPr wrap="square" lIns="0" tIns="0" rIns="0" bIns="0">
            <a:normAutofit/>
          </a:bodyPr>
          <a:p>
            <a:pPr>
              <a:lnSpc>
                <a:spcPct val="160000"/>
              </a:lnSpc>
            </a:pPr>
            <a:r>
              <a:rPr lang="zh-CN" sz="788">
                <a:solidFill>
                  <a:srgbClr val="4A5A7A"/>
                </a:solidFill>
                <a:latin typeface="Microsoft YaHei"/>
                <a:ea typeface="Microsoft YaHei"/>
              </a:rPr>
              <a:t>模板和话术库由总部统一维护更新，门店只负责输入和确认，不用自己养技术。</a:t>
            </a:r>
            <a:endParaRPr/>
          </a:p>
        </p:txBody>
      </p:sp>
      <p:sp>
        <p:nvSpPr>
          <p:cNvPr id="234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235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14 / 15</a:t>
            </a:r>
            <a:endParaRPr/>
          </a:p>
        </p:txBody>
      </p:sp>
    </p:spTree>
  </p:cSld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23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"/>
          <p:cNvSpPr/>
          <p:nvPr/>
        </p:nvSpPr>
        <p:spPr>
          <a:xfrm rot="0" flipH="0" flipV="0">
            <a:off x="0" y="0"/>
            <a:ext cx="12192000" cy="6858000"/>
          </a:xfrm>
          <a:prstGeom prst="rect">
            <a:avLst/>
          </a:prstGeom>
          <a:solidFill>
            <a:srgbClr val="F2F6FD"/>
          </a:solidFill>
          <a:ln/>
        </p:spPr>
        <p:txBody>
          <a:bodyPr/>
          <a:p>
            <a:pPr/>
            <a:endParaRPr/>
          </a:p>
        </p:txBody>
      </p:sp>
      <p:sp>
        <p:nvSpPr>
          <p:cNvPr id="238" name=""/>
          <p:cNvSpPr/>
          <p:nvPr/>
        </p:nvSpPr>
        <p:spPr>
          <a:xfrm rot="0" flipH="0" flipV="0">
            <a:off x="609600" y="371475"/>
            <a:ext cx="57150" cy="342900"/>
          </a:xfrm>
          <a:prstGeom prst="roundRect">
            <a:avLst>
              <a:gd name="adj" fmla="val 50000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39" name="" descr="{&quot;isTemplate&quot;:true,&quot;type&quot;:&quot;text&quot;}"/>
          <p:cNvSpPr txBox="1"/>
          <p:nvPr/>
        </p:nvSpPr>
        <p:spPr>
          <a:xfrm rot="0" flipH="0" flipV="0">
            <a:off x="819150" y="247650"/>
            <a:ext cx="3362325" cy="419100"/>
          </a:xfrm>
          <a:prstGeom prst="rect"/>
        </p:spPr>
        <p:txBody>
          <a:bodyPr wrap="none" lIns="0" tIns="0" rIns="0" bIns="0"/>
          <a:p>
            <a:pPr>
              <a:lnSpc>
                <a:spcPct val="120000"/>
              </a:lnSpc>
            </a:pP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10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个模块与</a:t>
            </a:r>
            <a:r>
              <a:rPr lang="en-US" sz="2250" b="1">
                <a:solidFill>
                  <a:srgbClr val="0B2A6B"/>
                </a:solidFill>
                <a:latin typeface="Microsoft YaHei"/>
                <a:ea typeface="Microsoft YaHei"/>
              </a:rPr>
              <a:t xml:space="preserve"> 5 </a:t>
            </a:r>
            <a:r>
              <a:rPr lang="zh-CN" sz="2250" b="1">
                <a:solidFill>
                  <a:srgbClr val="0B2A6B"/>
                </a:solidFill>
                <a:latin typeface="Microsoft YaHei"/>
                <a:ea typeface="Microsoft YaHei"/>
              </a:rPr>
              <a:t>大需求对照</a:t>
            </a:r>
            <a:endParaRPr/>
          </a:p>
        </p:txBody>
      </p:sp>
      <p:sp>
        <p:nvSpPr>
          <p:cNvPr id="240" name="" descr="{&quot;isTemplate&quot;:true,&quot;type&quot;:&quot;text&quot;}"/>
          <p:cNvSpPr txBox="1"/>
          <p:nvPr/>
        </p:nvSpPr>
        <p:spPr>
          <a:xfrm rot="0" flipH="0" flipV="0">
            <a:off x="819150" y="695325"/>
            <a:ext cx="336232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 spc="75">
                <a:solidFill>
                  <a:srgbClr val="5A6B8C"/>
                </a:solidFill>
                <a:latin typeface="Microsoft YaHei"/>
                <a:ea typeface="Microsoft YaHei"/>
              </a:rPr>
              <a:t>每个需求都有对应落地模块，没有悬空的规划</a:t>
            </a:r>
            <a:endParaRPr/>
          </a:p>
        </p:txBody>
      </p:sp>
      <p:sp>
        <p:nvSpPr>
          <p:cNvPr id="241" name=""/>
          <p:cNvSpPr/>
          <p:nvPr/>
        </p:nvSpPr>
        <p:spPr>
          <a:xfrm rot="0" flipH="0" flipV="0">
            <a:off x="10734675" y="266700"/>
            <a:ext cx="847725" cy="228600"/>
          </a:xfrm>
          <a:prstGeom prst="roundRect">
            <a:avLst>
              <a:gd name="adj" fmla="val 20833"/>
            </a:avLst>
          </a:prstGeom>
          <a:solidFill>
            <a:srgbClr val="1B5FD9">
              <a:alpha val="10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42" name="" descr="{&quot;isTemplate&quot;:true,&quot;type&quot;:&quot;text&quot;}"/>
          <p:cNvSpPr txBox="1"/>
          <p:nvPr/>
        </p:nvSpPr>
        <p:spPr>
          <a:xfrm rot="0" flipH="0" flipV="0">
            <a:off x="10839450" y="314325"/>
            <a:ext cx="638175" cy="13335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附录</a:t>
            </a:r>
            <a:r>
              <a:rPr lang="en-US" sz="825" b="1">
                <a:solidFill>
                  <a:srgbClr val="1B5FD9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825" b="1">
                <a:solidFill>
                  <a:srgbClr val="1B5FD9"/>
                </a:solidFill>
                <a:latin typeface="Microsoft YaHei"/>
                <a:ea typeface="Microsoft YaHei"/>
              </a:rPr>
              <a:t>不演讲</a:t>
            </a:r>
            <a:endParaRPr/>
          </a:p>
        </p:txBody>
      </p:sp>
      <p:sp>
        <p:nvSpPr>
          <p:cNvPr id="243" name=""/>
          <p:cNvSpPr/>
          <p:nvPr/>
        </p:nvSpPr>
        <p:spPr>
          <a:xfrm rot="0" flipH="0" flipV="0">
            <a:off x="609600" y="952500"/>
            <a:ext cx="10972800" cy="5219700"/>
          </a:xfrm>
          <a:prstGeom prst="roundRect">
            <a:avLst>
              <a:gd name="adj" fmla="val 2007"/>
            </a:avLst>
          </a:prstGeom>
          <a:solidFill>
            <a:srgbClr val="FFFFFF"/>
          </a:solidFill>
          <a:ln/>
          <a:effectLst>
            <a:outerShdw blurRad="171450" dist="38100" dir="5400000">
              <a:srgbClr val="0B2A6B">
                <a:alpha val="8000"/>
              </a:srgbClr>
            </a:outerShdw>
          </a:effectLst>
        </p:spPr>
        <p:txBody>
          <a:bodyPr/>
          <a:p>
            <a:pPr/>
            <a:endParaRPr/>
          </a:p>
        </p:txBody>
      </p:sp>
      <p:sp>
        <p:nvSpPr>
          <p:cNvPr id="244" name=""/>
          <p:cNvSpPr/>
          <p:nvPr/>
        </p:nvSpPr>
        <p:spPr>
          <a:xfrm rot="0" flipH="0" flipV="0">
            <a:off x="781050" y="1123950"/>
            <a:ext cx="10629900" cy="352425"/>
          </a:xfrm>
          <a:prstGeom prst="roundRect">
            <a:avLst>
              <a:gd name="adj" fmla="val 18919"/>
            </a:avLst>
          </a:prstGeom>
          <a:solidFill>
            <a:srgbClr val="0B2A6B"/>
          </a:solidFill>
          <a:ln/>
        </p:spPr>
        <p:txBody>
          <a:bodyPr/>
          <a:p>
            <a:pPr/>
            <a:endParaRPr/>
          </a:p>
        </p:txBody>
      </p:sp>
      <p:sp>
        <p:nvSpPr>
          <p:cNvPr id="245" name="" descr="{&quot;isTemplate&quot;:true,&quot;type&quot;:&quot;text&quot;}"/>
          <p:cNvSpPr txBox="1"/>
          <p:nvPr/>
        </p:nvSpPr>
        <p:spPr>
          <a:xfrm rot="0" flipH="0" flipV="0">
            <a:off x="914400" y="1228725"/>
            <a:ext cx="12573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功能模块</a:t>
            </a:r>
            <a:endParaRPr/>
          </a:p>
        </p:txBody>
      </p:sp>
      <p:sp>
        <p:nvSpPr>
          <p:cNvPr id="246" name="" descr="{&quot;isTemplate&quot;:true,&quot;type&quot;:&quot;text&quot;}"/>
          <p:cNvSpPr txBox="1"/>
          <p:nvPr/>
        </p:nvSpPr>
        <p:spPr>
          <a:xfrm rot="0" flipH="0" flipV="0">
            <a:off x="2171700" y="1228725"/>
            <a:ext cx="741045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核心作用</a:t>
            </a:r>
            <a:endParaRPr/>
          </a:p>
        </p:txBody>
      </p:sp>
      <p:sp>
        <p:nvSpPr>
          <p:cNvPr id="247" name="" descr="{&quot;isTemplate&quot;:true,&quot;type&quot;:&quot;text&quot;}"/>
          <p:cNvSpPr txBox="1"/>
          <p:nvPr/>
        </p:nvSpPr>
        <p:spPr>
          <a:xfrm rot="0" flipH="0" flipV="0">
            <a:off x="9582150" y="1228725"/>
            <a:ext cx="78105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需求编号</a:t>
            </a:r>
            <a:endParaRPr/>
          </a:p>
        </p:txBody>
      </p:sp>
      <p:sp>
        <p:nvSpPr>
          <p:cNvPr id="248" name="" descr="{&quot;isTemplate&quot;:true,&quot;type&quot;:&quot;text&quot;}"/>
          <p:cNvSpPr txBox="1"/>
          <p:nvPr/>
        </p:nvSpPr>
        <p:spPr>
          <a:xfrm rot="0" flipH="0" flipV="0">
            <a:off x="10363200" y="1228725"/>
            <a:ext cx="914400" cy="14287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zh-CN" sz="900" b="1">
                <a:solidFill>
                  <a:srgbClr val="FFFFFF"/>
                </a:solidFill>
                <a:latin typeface="Microsoft YaHei"/>
                <a:ea typeface="Microsoft YaHei"/>
              </a:rPr>
              <a:t>状态</a:t>
            </a:r>
            <a:endParaRPr/>
          </a:p>
        </p:txBody>
      </p:sp>
      <p:sp>
        <p:nvSpPr>
          <p:cNvPr id="249" name=""/>
          <p:cNvSpPr/>
          <p:nvPr/>
        </p:nvSpPr>
        <p:spPr>
          <a:xfrm rot="0" flipH="0" flipV="0">
            <a:off x="781050" y="1552575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0" name=""/>
          <p:cNvSpPr/>
          <p:nvPr/>
        </p:nvSpPr>
        <p:spPr>
          <a:xfrm rot="0" flipH="0" flipV="0">
            <a:off x="914400" y="17049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51" name="" descr="{&quot;isTemplate&quot;:true,&quot;type&quot;:&quot;text&quot;}"/>
          <p:cNvSpPr txBox="1"/>
          <p:nvPr/>
        </p:nvSpPr>
        <p:spPr>
          <a:xfrm rot="0" flipH="0" flipV="0">
            <a:off x="1019175" y="1714500"/>
            <a:ext cx="5715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经营驾驶舱</a:t>
            </a:r>
            <a:endParaRPr/>
          </a:p>
        </p:txBody>
      </p:sp>
      <p:sp>
        <p:nvSpPr>
          <p:cNvPr id="252" name="" descr="{&quot;isTemplate&quot;:true,&quot;type&quot;:&quot;text&quot;}"/>
          <p:cNvSpPr txBox="1"/>
          <p:nvPr/>
        </p:nvSpPr>
        <p:spPr>
          <a:xfrm rot="0" flipH="0" flipV="0">
            <a:off x="2171700" y="16859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四维经营视图汇总，跨门店横向对比</a:t>
            </a:r>
            <a:endParaRPr/>
          </a:p>
        </p:txBody>
      </p:sp>
      <p:sp>
        <p:nvSpPr>
          <p:cNvPr id="253" name="" descr="{&quot;isTemplate&quot;:true,&quot;type&quot;:&quot;text&quot;}"/>
          <p:cNvSpPr txBox="1"/>
          <p:nvPr/>
        </p:nvSpPr>
        <p:spPr>
          <a:xfrm rot="0" flipH="0" flipV="0">
            <a:off x="9582150" y="17145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REQ-01</a:t>
            </a:r>
            <a:endParaRPr/>
          </a:p>
        </p:txBody>
      </p:sp>
      <p:sp>
        <p:nvSpPr>
          <p:cNvPr id="254" name=""/>
          <p:cNvSpPr/>
          <p:nvPr/>
        </p:nvSpPr>
        <p:spPr>
          <a:xfrm rot="0" flipH="0" flipV="0">
            <a:off x="10591800" y="16954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55" name="" descr="{&quot;isTemplate&quot;:true,&quot;type&quot;:&quot;text&quot;}"/>
          <p:cNvSpPr txBox="1"/>
          <p:nvPr/>
        </p:nvSpPr>
        <p:spPr>
          <a:xfrm rot="0" flipH="0" flipV="0">
            <a:off x="10677525" y="17240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56" name=""/>
          <p:cNvSpPr/>
          <p:nvPr/>
        </p:nvSpPr>
        <p:spPr>
          <a:xfrm rot="0" flipH="0" flipV="0">
            <a:off x="781050" y="2000250"/>
            <a:ext cx="10629900" cy="438150"/>
          </a:xfrm>
          <a:prstGeom prst="roundRect">
            <a:avLst>
              <a:gd name="adj" fmla="val 10870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257" name=""/>
          <p:cNvSpPr/>
          <p:nvPr/>
        </p:nvSpPr>
        <p:spPr>
          <a:xfrm rot="0" flipH="0" flipV="0">
            <a:off x="914400" y="214312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58" name="" descr="{&quot;isTemplate&quot;:true,&quot;type&quot;:&quot;text&quot;}"/>
          <p:cNvSpPr txBox="1"/>
          <p:nvPr/>
        </p:nvSpPr>
        <p:spPr>
          <a:xfrm rot="0" flipH="0" flipV="0">
            <a:off x="1019175" y="215265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门诊采集</a:t>
            </a:r>
            <a:endParaRPr/>
          </a:p>
        </p:txBody>
      </p:sp>
      <p:sp>
        <p:nvSpPr>
          <p:cNvPr id="259" name="" descr="{&quot;isTemplate&quot;:true,&quot;type&quot;:&quot;text&quot;}"/>
          <p:cNvSpPr txBox="1"/>
          <p:nvPr/>
        </p:nvSpPr>
        <p:spPr>
          <a:xfrm rot="0" flipH="0" flipV="0">
            <a:off x="2171700" y="213360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七界面截图上传、识别与手动录入</a:t>
            </a:r>
            <a:endParaRPr/>
          </a:p>
        </p:txBody>
      </p:sp>
      <p:sp>
        <p:nvSpPr>
          <p:cNvPr id="260" name="" descr="{&quot;isTemplate&quot;:true,&quot;type&quot;:&quot;text&quot;}"/>
          <p:cNvSpPr txBox="1"/>
          <p:nvPr/>
        </p:nvSpPr>
        <p:spPr>
          <a:xfrm rot="0" flipH="0" flipV="0">
            <a:off x="9582150" y="216217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REQ-01</a:t>
            </a:r>
            <a:endParaRPr/>
          </a:p>
        </p:txBody>
      </p:sp>
      <p:sp>
        <p:nvSpPr>
          <p:cNvPr id="261" name=""/>
          <p:cNvSpPr/>
          <p:nvPr/>
        </p:nvSpPr>
        <p:spPr>
          <a:xfrm rot="0" flipH="0" flipV="0">
            <a:off x="10591800" y="213360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2" name="" descr="{&quot;isTemplate&quot;:true,&quot;type&quot;:&quot;text&quot;}"/>
          <p:cNvSpPr txBox="1"/>
          <p:nvPr/>
        </p:nvSpPr>
        <p:spPr>
          <a:xfrm rot="0" flipH="0" flipV="0">
            <a:off x="10677525" y="216217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63" name=""/>
          <p:cNvSpPr/>
          <p:nvPr/>
        </p:nvSpPr>
        <p:spPr>
          <a:xfrm rot="0" flipH="0" flipV="0">
            <a:off x="781050" y="2438400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4" name=""/>
          <p:cNvSpPr/>
          <p:nvPr/>
        </p:nvSpPr>
        <p:spPr>
          <a:xfrm rot="0" flipH="0" flipV="0">
            <a:off x="914400" y="25908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65" name="" descr="{&quot;isTemplate&quot;:true,&quot;type&quot;:&quot;text&quot;}"/>
          <p:cNvSpPr txBox="1"/>
          <p:nvPr/>
        </p:nvSpPr>
        <p:spPr>
          <a:xfrm rot="0" flipH="0" flipV="0">
            <a:off x="1019175" y="26003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竞品分析</a:t>
            </a:r>
            <a:endParaRPr/>
          </a:p>
        </p:txBody>
      </p:sp>
      <p:sp>
        <p:nvSpPr>
          <p:cNvPr id="266" name="" descr="{&quot;isTemplate&quot;:true,&quot;type&quot;:&quot;text&quot;}"/>
          <p:cNvSpPr txBox="1"/>
          <p:nvPr/>
        </p:nvSpPr>
        <p:spPr>
          <a:xfrm rot="0" flipH="0" flipV="0">
            <a:off x="2171700" y="257175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竞品评分销量价格带对比与缺口识别</a:t>
            </a:r>
            <a:endParaRPr/>
          </a:p>
        </p:txBody>
      </p:sp>
      <p:sp>
        <p:nvSpPr>
          <p:cNvPr id="267" name="" descr="{&quot;isTemplate&quot;:true,&quot;type&quot;:&quot;text&quot;}"/>
          <p:cNvSpPr txBox="1"/>
          <p:nvPr/>
        </p:nvSpPr>
        <p:spPr>
          <a:xfrm rot="0" flipH="0" flipV="0">
            <a:off x="9582150" y="260032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REQ-02</a:t>
            </a:r>
            <a:endParaRPr/>
          </a:p>
        </p:txBody>
      </p:sp>
      <p:sp>
        <p:nvSpPr>
          <p:cNvPr id="268" name=""/>
          <p:cNvSpPr/>
          <p:nvPr/>
        </p:nvSpPr>
        <p:spPr>
          <a:xfrm rot="0" flipH="0" flipV="0">
            <a:off x="10591800" y="25812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69" name="" descr="{&quot;isTemplate&quot;:true,&quot;type&quot;:&quot;text&quot;}"/>
          <p:cNvSpPr txBox="1"/>
          <p:nvPr/>
        </p:nvSpPr>
        <p:spPr>
          <a:xfrm rot="0" flipH="0" flipV="0">
            <a:off x="10677525" y="260985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70" name=""/>
          <p:cNvSpPr/>
          <p:nvPr/>
        </p:nvSpPr>
        <p:spPr>
          <a:xfrm rot="0" flipH="0" flipV="0">
            <a:off x="781050" y="2886075"/>
            <a:ext cx="10629900" cy="447675"/>
          </a:xfrm>
          <a:prstGeom prst="roundRect">
            <a:avLst>
              <a:gd name="adj" fmla="val 10638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271" name=""/>
          <p:cNvSpPr/>
          <p:nvPr/>
        </p:nvSpPr>
        <p:spPr>
          <a:xfrm rot="0" flipH="0" flipV="0">
            <a:off x="914400" y="30384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72" name="" descr="{&quot;isTemplate&quot;:true,&quot;type&quot;:&quot;text&quot;}"/>
          <p:cNvSpPr txBox="1"/>
          <p:nvPr/>
        </p:nvSpPr>
        <p:spPr>
          <a:xfrm rot="0" flipH="0" flipV="0">
            <a:off x="1019175" y="3048000"/>
            <a:ext cx="6858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美团运营诊断</a:t>
            </a:r>
            <a:endParaRPr/>
          </a:p>
        </p:txBody>
      </p:sp>
      <p:sp>
        <p:nvSpPr>
          <p:cNvPr id="273" name="" descr="{&quot;isTemplate&quot;:true,&quot;type&quot;:&quot;text&quot;}"/>
          <p:cNvSpPr txBox="1"/>
          <p:nvPr/>
        </p:nvSpPr>
        <p:spPr>
          <a:xfrm rot="0" flipH="0" flipV="0">
            <a:off x="2171700" y="30194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五维体检、状态打分与行动项输出</a:t>
            </a:r>
            <a:endParaRPr/>
          </a:p>
        </p:txBody>
      </p:sp>
      <p:sp>
        <p:nvSpPr>
          <p:cNvPr id="274" name="" descr="{&quot;isTemplate&quot;:true,&quot;type&quot;:&quot;text&quot;}"/>
          <p:cNvSpPr txBox="1"/>
          <p:nvPr/>
        </p:nvSpPr>
        <p:spPr>
          <a:xfrm rot="0" flipH="0" flipV="0">
            <a:off x="9582150" y="30480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REQ-02 / 05</a:t>
            </a:r>
            <a:endParaRPr/>
          </a:p>
        </p:txBody>
      </p:sp>
      <p:sp>
        <p:nvSpPr>
          <p:cNvPr id="275" name=""/>
          <p:cNvSpPr/>
          <p:nvPr/>
        </p:nvSpPr>
        <p:spPr>
          <a:xfrm rot="0" flipH="0" flipV="0">
            <a:off x="10591800" y="30289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6" name="" descr="{&quot;isTemplate&quot;:true,&quot;type&quot;:&quot;text&quot;}"/>
          <p:cNvSpPr txBox="1"/>
          <p:nvPr/>
        </p:nvSpPr>
        <p:spPr>
          <a:xfrm rot="0" flipH="0" flipV="0">
            <a:off x="10677525" y="30575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77" name=""/>
          <p:cNvSpPr/>
          <p:nvPr/>
        </p:nvSpPr>
        <p:spPr>
          <a:xfrm rot="0" flipH="0" flipV="0">
            <a:off x="781050" y="3333750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78" name=""/>
          <p:cNvSpPr/>
          <p:nvPr/>
        </p:nvSpPr>
        <p:spPr>
          <a:xfrm rot="0" flipH="0" flipV="0">
            <a:off x="914400" y="348615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79" name="" descr="{&quot;isTemplate&quot;:true,&quot;type&quot;:&quot;text&quot;}"/>
          <p:cNvSpPr txBox="1"/>
          <p:nvPr/>
        </p:nvSpPr>
        <p:spPr>
          <a:xfrm rot="0" flipH="0" flipV="0">
            <a:off x="1019175" y="34956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文案生成</a:t>
            </a:r>
            <a:endParaRPr/>
          </a:p>
        </p:txBody>
      </p:sp>
      <p:sp>
        <p:nvSpPr>
          <p:cNvPr id="280" name="" descr="{&quot;isTemplate&quot;:true,&quot;type&quot;:&quot;text&quot;}"/>
          <p:cNvSpPr txBox="1"/>
          <p:nvPr/>
        </p:nvSpPr>
        <p:spPr>
          <a:xfrm rot="0" flipH="0" flipV="0">
            <a:off x="2171700" y="346710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按项目人群语气批量产出可用文案</a:t>
            </a:r>
            <a:endParaRPr/>
          </a:p>
        </p:txBody>
      </p:sp>
      <p:sp>
        <p:nvSpPr>
          <p:cNvPr id="281" name="" descr="{&quot;isTemplate&quot;:true,&quot;type&quot;:&quot;text&quot;}"/>
          <p:cNvSpPr txBox="1"/>
          <p:nvPr/>
        </p:nvSpPr>
        <p:spPr>
          <a:xfrm rot="0" flipH="0" flipV="0">
            <a:off x="9582150" y="349567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282" name=""/>
          <p:cNvSpPr/>
          <p:nvPr/>
        </p:nvSpPr>
        <p:spPr>
          <a:xfrm rot="0" flipH="0" flipV="0">
            <a:off x="10591800" y="347662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83" name="" descr="{&quot;isTemplate&quot;:true,&quot;type&quot;:&quot;text&quot;}"/>
          <p:cNvSpPr txBox="1"/>
          <p:nvPr/>
        </p:nvSpPr>
        <p:spPr>
          <a:xfrm rot="0" flipH="0" flipV="0">
            <a:off x="10677525" y="350520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84" name=""/>
          <p:cNvSpPr/>
          <p:nvPr/>
        </p:nvSpPr>
        <p:spPr>
          <a:xfrm rot="0" flipH="0" flipV="0">
            <a:off x="781050" y="3781425"/>
            <a:ext cx="10629900" cy="438150"/>
          </a:xfrm>
          <a:prstGeom prst="roundRect">
            <a:avLst>
              <a:gd name="adj" fmla="val 10870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285" name=""/>
          <p:cNvSpPr/>
          <p:nvPr/>
        </p:nvSpPr>
        <p:spPr>
          <a:xfrm rot="0" flipH="0" flipV="0">
            <a:off x="914400" y="39243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86" name="" descr="{&quot;isTemplate&quot;:true,&quot;type&quot;:&quot;text&quot;}"/>
          <p:cNvSpPr txBox="1"/>
          <p:nvPr/>
        </p:nvSpPr>
        <p:spPr>
          <a:xfrm rot="0" flipH="0" flipV="0">
            <a:off x="1019175" y="39338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套图生成</a:t>
            </a:r>
            <a:endParaRPr/>
          </a:p>
        </p:txBody>
      </p:sp>
      <p:sp>
        <p:nvSpPr>
          <p:cNvPr id="287" name="" descr="{&quot;isTemplate&quot;:true,&quot;type&quot;:&quot;text&quot;}"/>
          <p:cNvSpPr txBox="1"/>
          <p:nvPr/>
        </p:nvSpPr>
        <p:spPr>
          <a:xfrm rot="0" flipH="0" flipV="0">
            <a:off x="2171700" y="391477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en-US" sz="825">
                <a:solidFill>
                  <a:srgbClr val="5A6B8C"/>
                </a:solidFill>
                <a:latin typeface="Microsoft YaHei"/>
                <a:ea typeface="Microsoft YaHei"/>
              </a:rPr>
              <a:t xml:space="preserve">Seedream </a:t>
            </a: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批量出图，统一品牌视觉</a:t>
            </a:r>
            <a:endParaRPr/>
          </a:p>
        </p:txBody>
      </p:sp>
      <p:sp>
        <p:nvSpPr>
          <p:cNvPr id="288" name="" descr="{&quot;isTemplate&quot;:true,&quot;type&quot;:&quot;text&quot;}"/>
          <p:cNvSpPr txBox="1"/>
          <p:nvPr/>
        </p:nvSpPr>
        <p:spPr>
          <a:xfrm rot="0" flipH="0" flipV="0">
            <a:off x="9582150" y="394335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289" name=""/>
          <p:cNvSpPr/>
          <p:nvPr/>
        </p:nvSpPr>
        <p:spPr>
          <a:xfrm rot="0" flipH="0" flipV="0">
            <a:off x="10591800" y="39147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0" name="" descr="{&quot;isTemplate&quot;:true,&quot;type&quot;:&quot;text&quot;}"/>
          <p:cNvSpPr txBox="1"/>
          <p:nvPr/>
        </p:nvSpPr>
        <p:spPr>
          <a:xfrm rot="0" flipH="0" flipV="0">
            <a:off x="10677525" y="394335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91" name=""/>
          <p:cNvSpPr/>
          <p:nvPr/>
        </p:nvSpPr>
        <p:spPr>
          <a:xfrm rot="0" flipH="0" flipV="0">
            <a:off x="781050" y="4219575"/>
            <a:ext cx="10629900" cy="447675"/>
          </a:xfrm>
          <a:prstGeom prst="roundRect">
            <a:avLst>
              <a:gd name="adj" fmla="val 10638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2" name=""/>
          <p:cNvSpPr/>
          <p:nvPr/>
        </p:nvSpPr>
        <p:spPr>
          <a:xfrm rot="0" flipH="0" flipV="0">
            <a:off x="914400" y="43719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293" name="" descr="{&quot;isTemplate&quot;:true,&quot;type&quot;:&quot;text&quot;}"/>
          <p:cNvSpPr txBox="1"/>
          <p:nvPr/>
        </p:nvSpPr>
        <p:spPr>
          <a:xfrm rot="0" flipH="0" flipV="0">
            <a:off x="1019175" y="43815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主图诊断</a:t>
            </a:r>
            <a:endParaRPr/>
          </a:p>
        </p:txBody>
      </p:sp>
      <p:sp>
        <p:nvSpPr>
          <p:cNvPr id="294" name="" descr="{&quot;isTemplate&quot;:true,&quot;type&quot;:&quot;text&quot;}"/>
          <p:cNvSpPr txBox="1"/>
          <p:nvPr/>
        </p:nvSpPr>
        <p:spPr>
          <a:xfrm rot="0" flipH="0" flipV="0">
            <a:off x="2171700" y="43529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构图、卖点、合规三维打分与改法</a:t>
            </a:r>
            <a:endParaRPr/>
          </a:p>
        </p:txBody>
      </p:sp>
      <p:sp>
        <p:nvSpPr>
          <p:cNvPr id="295" name="" descr="{&quot;isTemplate&quot;:true,&quot;type&quot;:&quot;text&quot;}"/>
          <p:cNvSpPr txBox="1"/>
          <p:nvPr/>
        </p:nvSpPr>
        <p:spPr>
          <a:xfrm rot="0" flipH="0" flipV="0">
            <a:off x="9582150" y="43815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REQ-03</a:t>
            </a:r>
            <a:endParaRPr/>
          </a:p>
        </p:txBody>
      </p:sp>
      <p:sp>
        <p:nvSpPr>
          <p:cNvPr id="296" name=""/>
          <p:cNvSpPr/>
          <p:nvPr/>
        </p:nvSpPr>
        <p:spPr>
          <a:xfrm rot="0" flipH="0" flipV="0">
            <a:off x="10591800" y="43624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297" name="" descr="{&quot;isTemplate&quot;:true,&quot;type&quot;:&quot;text&quot;}"/>
          <p:cNvSpPr txBox="1"/>
          <p:nvPr/>
        </p:nvSpPr>
        <p:spPr>
          <a:xfrm rot="0" flipH="0" flipV="0">
            <a:off x="10677525" y="43910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298" name=""/>
          <p:cNvSpPr/>
          <p:nvPr/>
        </p:nvSpPr>
        <p:spPr>
          <a:xfrm rot="0" flipH="0" flipV="0">
            <a:off x="781050" y="4667250"/>
            <a:ext cx="10629900" cy="447675"/>
          </a:xfrm>
          <a:prstGeom prst="roundRect">
            <a:avLst>
              <a:gd name="adj" fmla="val 10638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299" name=""/>
          <p:cNvSpPr/>
          <p:nvPr/>
        </p:nvSpPr>
        <p:spPr>
          <a:xfrm rot="0" flipH="0" flipV="0">
            <a:off x="914400" y="481965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0" name="" descr="{&quot;isTemplate&quot;:true,&quot;type&quot;:&quot;text&quot;}"/>
          <p:cNvSpPr txBox="1"/>
          <p:nvPr/>
        </p:nvSpPr>
        <p:spPr>
          <a:xfrm rot="0" flipH="0" flipV="0">
            <a:off x="1019175" y="482917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文案优化</a:t>
            </a:r>
            <a:endParaRPr/>
          </a:p>
        </p:txBody>
      </p:sp>
      <p:sp>
        <p:nvSpPr>
          <p:cNvPr id="301" name="" descr="{&quot;isTemplate&quot;:true,&quot;type&quot;:&quot;text&quot;}"/>
          <p:cNvSpPr txBox="1"/>
          <p:nvPr/>
        </p:nvSpPr>
        <p:spPr>
          <a:xfrm rot="0" flipH="0" flipV="0">
            <a:off x="2171700" y="4800600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润色改写与医疗广告合规检查</a:t>
            </a:r>
            <a:endParaRPr/>
          </a:p>
        </p:txBody>
      </p:sp>
      <p:sp>
        <p:nvSpPr>
          <p:cNvPr id="302" name="" descr="{&quot;isTemplate&quot;:true,&quot;type&quot;:&quot;text&quot;}"/>
          <p:cNvSpPr txBox="1"/>
          <p:nvPr/>
        </p:nvSpPr>
        <p:spPr>
          <a:xfrm rot="0" flipH="0" flipV="0">
            <a:off x="9582150" y="4829175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303" name=""/>
          <p:cNvSpPr/>
          <p:nvPr/>
        </p:nvSpPr>
        <p:spPr>
          <a:xfrm rot="0" flipH="0" flipV="0">
            <a:off x="10591800" y="481012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4" name="" descr="{&quot;isTemplate&quot;:true,&quot;type&quot;:&quot;text&quot;}"/>
          <p:cNvSpPr txBox="1"/>
          <p:nvPr/>
        </p:nvSpPr>
        <p:spPr>
          <a:xfrm rot="0" flipH="0" flipV="0">
            <a:off x="10677525" y="483870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305" name=""/>
          <p:cNvSpPr/>
          <p:nvPr/>
        </p:nvSpPr>
        <p:spPr>
          <a:xfrm rot="0" flipH="0" flipV="0">
            <a:off x="781050" y="5114925"/>
            <a:ext cx="10629900" cy="438150"/>
          </a:xfrm>
          <a:prstGeom prst="roundRect">
            <a:avLst>
              <a:gd name="adj" fmla="val 10870"/>
            </a:avLst>
          </a:prstGeom>
          <a:solidFill>
            <a:srgbClr val="1B5FD9">
              <a:alpha val="35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06" name=""/>
          <p:cNvSpPr/>
          <p:nvPr/>
        </p:nvSpPr>
        <p:spPr>
          <a:xfrm rot="0" flipH="0" flipV="0">
            <a:off x="914400" y="5257800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07" name="" descr="{&quot;isTemplate&quot;:true,&quot;type&quot;:&quot;text&quot;}"/>
          <p:cNvSpPr txBox="1"/>
          <p:nvPr/>
        </p:nvSpPr>
        <p:spPr>
          <a:xfrm rot="0" flipH="0" flipV="0">
            <a:off x="1019175" y="5267325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评价管理</a:t>
            </a:r>
            <a:endParaRPr/>
          </a:p>
        </p:txBody>
      </p:sp>
      <p:sp>
        <p:nvSpPr>
          <p:cNvPr id="308" name="" descr="{&quot;isTemplate&quot;:true,&quot;type&quot;:&quot;text&quot;}"/>
          <p:cNvSpPr txBox="1"/>
          <p:nvPr/>
        </p:nvSpPr>
        <p:spPr>
          <a:xfrm rot="0" flipH="0" flipV="0">
            <a:off x="2171700" y="524827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差评分类归因与分层回复建议</a:t>
            </a:r>
            <a:endParaRPr/>
          </a:p>
        </p:txBody>
      </p:sp>
      <p:sp>
        <p:nvSpPr>
          <p:cNvPr id="309" name="" descr="{&quot;isTemplate&quot;:true,&quot;type&quot;:&quot;text&quot;}"/>
          <p:cNvSpPr txBox="1"/>
          <p:nvPr/>
        </p:nvSpPr>
        <p:spPr>
          <a:xfrm rot="0" flipH="0" flipV="0">
            <a:off x="9582150" y="527685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REQ-04</a:t>
            </a:r>
            <a:endParaRPr/>
          </a:p>
        </p:txBody>
      </p:sp>
      <p:sp>
        <p:nvSpPr>
          <p:cNvPr id="310" name=""/>
          <p:cNvSpPr/>
          <p:nvPr/>
        </p:nvSpPr>
        <p:spPr>
          <a:xfrm rot="0" flipH="0" flipV="0">
            <a:off x="10591800" y="5248275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1" name="" descr="{&quot;isTemplate&quot;:true,&quot;type&quot;:&quot;text&quot;}"/>
          <p:cNvSpPr txBox="1"/>
          <p:nvPr/>
        </p:nvSpPr>
        <p:spPr>
          <a:xfrm rot="0" flipH="0" flipV="0">
            <a:off x="10677525" y="5276850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312" name=""/>
          <p:cNvSpPr/>
          <p:nvPr/>
        </p:nvSpPr>
        <p:spPr>
          <a:xfrm rot="0" flipH="0" flipV="0">
            <a:off x="781050" y="5553075"/>
            <a:ext cx="10629900" cy="447675"/>
          </a:xfrm>
          <a:prstGeom prst="roundRect">
            <a:avLst>
              <a:gd name="adj" fmla="val 10638"/>
            </a:avLst>
          </a:prstGeom>
          <a:ln/>
        </p:spPr>
        <p:txBody>
          <a:bodyPr/>
          <a:p>
            <a:pPr/>
            <a:endParaRPr/>
          </a:p>
        </p:txBody>
      </p:sp>
      <p:sp>
        <p:nvSpPr>
          <p:cNvPr id="313" name=""/>
          <p:cNvSpPr/>
          <p:nvPr/>
        </p:nvSpPr>
        <p:spPr>
          <a:xfrm rot="0" flipH="0" flipV="0">
            <a:off x="914400" y="5705475"/>
            <a:ext cx="28575" cy="152400"/>
          </a:xfrm>
          <a:prstGeom prst="roundRect">
            <a:avLst>
              <a:gd name="adj" fmla="val 66667"/>
            </a:avLst>
          </a:prstGeom>
          <a:solidFill>
            <a:srgbClr val="1B5FD9"/>
          </a:solidFill>
          <a:ln/>
        </p:spPr>
        <p:txBody>
          <a:bodyPr/>
          <a:p>
            <a:pPr/>
            <a:endParaRPr/>
          </a:p>
        </p:txBody>
      </p:sp>
      <p:sp>
        <p:nvSpPr>
          <p:cNvPr id="314" name="" descr="{&quot;isTemplate&quot;:true,&quot;type&quot;:&quot;text&quot;}"/>
          <p:cNvSpPr txBox="1"/>
          <p:nvPr/>
        </p:nvSpPr>
        <p:spPr>
          <a:xfrm rot="0" flipH="0" flipV="0">
            <a:off x="1019175" y="5715000"/>
            <a:ext cx="457200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00" b="1">
                <a:solidFill>
                  <a:srgbClr val="0B2A6B"/>
                </a:solidFill>
                <a:latin typeface="Microsoft YaHei"/>
                <a:ea typeface="Microsoft YaHei"/>
              </a:rPr>
              <a:t>话术建议</a:t>
            </a:r>
            <a:endParaRPr/>
          </a:p>
        </p:txBody>
      </p:sp>
      <p:sp>
        <p:nvSpPr>
          <p:cNvPr id="315" name="" descr="{&quot;isTemplate&quot;:true,&quot;type&quot;:&quot;text&quot;}"/>
          <p:cNvSpPr txBox="1"/>
          <p:nvPr/>
        </p:nvSpPr>
        <p:spPr>
          <a:xfrm rot="0" flipH="0" flipV="0">
            <a:off x="2171700" y="5686425"/>
            <a:ext cx="7410450" cy="180975"/>
          </a:xfrm>
          <a:prstGeom prst="rect"/>
        </p:spPr>
        <p:txBody>
          <a:bodyPr wrap="none" lIns="0" tIns="0" rIns="0" bIns="0"/>
          <a:p>
            <a:pPr>
              <a:lnSpc>
                <a:spcPct val="140000"/>
              </a:lnSpc>
            </a:pPr>
            <a:r>
              <a:rPr lang="zh-CN" sz="825">
                <a:solidFill>
                  <a:srgbClr val="5A6B8C"/>
                </a:solidFill>
                <a:latin typeface="Microsoft YaHei"/>
                <a:ea typeface="Microsoft YaHei"/>
              </a:rPr>
              <a:t>咨询、到店、随访分场景转化话术</a:t>
            </a:r>
            <a:endParaRPr/>
          </a:p>
        </p:txBody>
      </p:sp>
      <p:sp>
        <p:nvSpPr>
          <p:cNvPr id="316" name="" descr="{&quot;isTemplate&quot;:true,&quot;type&quot;:&quot;text&quot;}"/>
          <p:cNvSpPr txBox="1"/>
          <p:nvPr/>
        </p:nvSpPr>
        <p:spPr>
          <a:xfrm rot="0" flipH="0" flipV="0">
            <a:off x="9582150" y="5715000"/>
            <a:ext cx="781050" cy="123825"/>
          </a:xfrm>
          <a:prstGeom prst="rect"/>
        </p:spPr>
        <p:txBody>
          <a:bodyPr wrap="none" lIns="0" tIns="0" rIns="0" bIns="0"/>
          <a:p>
            <a:pPr algn="ctr">
              <a:lnSpc>
                <a:spcPct val="100000"/>
              </a:lnSpc>
            </a:pPr>
            <a:r>
              <a:rPr lang="en-US" sz="788" b="1">
                <a:solidFill>
                  <a:srgbClr val="1B5FD9"/>
                </a:solidFill>
                <a:latin typeface="Arial"/>
                <a:ea typeface="Arial"/>
              </a:rPr>
              <a:t>REQ-05</a:t>
            </a:r>
            <a:endParaRPr/>
          </a:p>
        </p:txBody>
      </p:sp>
      <p:sp>
        <p:nvSpPr>
          <p:cNvPr id="317" name=""/>
          <p:cNvSpPr/>
          <p:nvPr/>
        </p:nvSpPr>
        <p:spPr>
          <a:xfrm rot="0" flipH="0" flipV="0">
            <a:off x="10591800" y="5695950"/>
            <a:ext cx="457200" cy="171450"/>
          </a:xfrm>
          <a:prstGeom prst="roundRect">
            <a:avLst>
              <a:gd name="adj" fmla="val 22222"/>
            </a:avLst>
          </a:prstGeom>
          <a:solidFill>
            <a:srgbClr val="35C8F0">
              <a:alpha val="16000"/>
            </a:srgbClr>
          </a:solidFill>
          <a:ln/>
        </p:spPr>
        <p:txBody>
          <a:bodyPr/>
          <a:p>
            <a:pPr/>
            <a:endParaRPr/>
          </a:p>
        </p:txBody>
      </p:sp>
      <p:sp>
        <p:nvSpPr>
          <p:cNvPr id="318" name="" descr="{&quot;isTemplate&quot;:true,&quot;type&quot;:&quot;text&quot;}"/>
          <p:cNvSpPr txBox="1"/>
          <p:nvPr/>
        </p:nvSpPr>
        <p:spPr>
          <a:xfrm rot="0" flipH="0" flipV="0">
            <a:off x="10677525" y="5724525"/>
            <a:ext cx="285750" cy="114300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750" b="1">
                <a:solidFill>
                  <a:srgbClr val="0E93C4"/>
                </a:solidFill>
                <a:latin typeface="Microsoft YaHei"/>
                <a:ea typeface="Microsoft YaHei"/>
              </a:rPr>
              <a:t>已上线</a:t>
            </a:r>
            <a:endParaRPr/>
          </a:p>
        </p:txBody>
      </p:sp>
      <p:sp>
        <p:nvSpPr>
          <p:cNvPr id="319" name="" descr="{&quot;isTemplate&quot;:true,&quot;type&quot;:&quot;text&quot;}"/>
          <p:cNvSpPr txBox="1"/>
          <p:nvPr/>
        </p:nvSpPr>
        <p:spPr>
          <a:xfrm rot="0" flipH="0" flipV="0">
            <a:off x="609600" y="6562725"/>
            <a:ext cx="29622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美团电商眼科运营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助手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 xml:space="preserve"> · 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爱尔眼科集团</a:t>
            </a:r>
            <a:r>
              <a:rPr lang="en-US" sz="938">
                <a:solidFill>
                  <a:srgbClr val="8494B4"/>
                </a:solidFill>
                <a:latin typeface="Microsoft YaHei"/>
                <a:ea typeface="Microsoft YaHei"/>
              </a:rPr>
              <a:t>AI</a:t>
            </a:r>
            <a:r>
              <a:rPr lang="zh-CN" sz="938">
                <a:solidFill>
                  <a:srgbClr val="8494B4"/>
                </a:solidFill>
                <a:latin typeface="Microsoft YaHei"/>
                <a:ea typeface="Microsoft YaHei"/>
              </a:rPr>
              <a:t>创新应用大赛</a:t>
            </a:r>
            <a:endParaRPr/>
          </a:p>
        </p:txBody>
      </p:sp>
      <p:sp>
        <p:nvSpPr>
          <p:cNvPr id="320" name="" descr="{&quot;isTemplate&quot;:true,&quot;type&quot;:&quot;text&quot;}"/>
          <p:cNvSpPr txBox="1"/>
          <p:nvPr/>
        </p:nvSpPr>
        <p:spPr>
          <a:xfrm rot="0" flipH="0" flipV="0">
            <a:off x="11210925" y="6562725"/>
            <a:ext cx="371475" cy="142875"/>
          </a:xfrm>
          <a:prstGeom prst="rect"/>
        </p:spPr>
        <p:txBody>
          <a:bodyPr wrap="none" lIns="0" tIns="0" rIns="0" bIns="0"/>
          <a:p>
            <a:pPr>
              <a:lnSpc>
                <a:spcPct val="100000"/>
              </a:lnSpc>
            </a:pPr>
            <a:r>
              <a:rPr lang="en-US" sz="938">
                <a:solidFill>
                  <a:srgbClr val="8494B4"/>
                </a:solidFill>
                <a:latin typeface="Arial"/>
                <a:ea typeface="Arial"/>
              </a:rPr>
              <a:t>15 / 15</a:t>
            </a:r>
            <a:endParaRPr/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Tencent office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2026-10-23T15:42:15Z</dcterms:created>
  <dcterms:modified xsi:type="dcterms:W3CDTF">2026-10-23T15:42:15Z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{"AIGC":{"Label":"1","ContentProducer":"00119111010856365494821B355","ProduceID":"01a166b347847c1489eb69cb1df52c72","ReservedCode1":"","ContentPropagator":"00119111010856365494821B355","PropagateID":"01a166b347847c1489eb69cb1df52c72","ReservedCode2":""}}</vt:lpwstr>
  </property>
</Properties>
</file>